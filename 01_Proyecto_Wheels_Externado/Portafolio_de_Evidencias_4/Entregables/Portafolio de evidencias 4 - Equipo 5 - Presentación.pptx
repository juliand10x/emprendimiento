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87722"/>
                </a:solidFill>
                <a:latin typeface="Calibri"/>
              </a:defRPr>
            </a:pPr>
            <a:r>
              <a:t>PORTAFOLIO DE EVIDENCIAS NO. 4</a:t>
            </a:r>
          </a:p>
          <a:p>
            <a:pPr>
              <a:spcAft>
                <a:spcPts val="1000"/>
              </a:spcAft>
              <a:defRPr sz="3600" b="1">
                <a:solidFill>
                  <a:srgbClr val="003366"/>
                </a:solidFill>
                <a:latin typeface="Calibri"/>
              </a:defRPr>
            </a:pPr>
            <a:r>
              <a:t>Wheels Externado: Modelo de Negocio Consolidado</a:t>
            </a:r>
          </a:p>
          <a:p>
            <a:pPr>
              <a:spcAft>
                <a:spcPts val="25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Business Model Canvas (BMC), Unit Economics (LTV / CAC) y Metas de Sostenibilidad ODS</a:t>
            </a:r>
          </a:p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Curso de Emprendimiento · Pregrado en Ciencia de Datos · Universidad Externado de Colombia · Octubre de 2026</a:t>
            </a:r>
            <a:br/>
            <a:r>
              <a:t>Grupo 5: Santiago Sandoval · Sebastián Ramos · Julián Duarte · Tomás Rincón · Julián Jiménez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Calibri"/>
              </a:defRPr>
            </a:pPr>
            <a:r>
              <a:t>1. Paso 0: La Idea y Ventaja Competitiva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87722"/>
                </a:solidFill>
                <a:latin typeface="Calibri"/>
              </a:defRPr>
            </a:pPr>
            <a:r>
              <a:t>PORTAFOLIO DE EVIDENCIAS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3366"/>
                </a:solidFill>
                <a:latin typeface="Calibri"/>
              </a:defRPr>
            </a:pPr>
            <a:r>
              <a:t>Impulso de Mercado &amp; Tecnología (Aulet 2017)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Iniciativa híbrida con dominancia de impulso del mercado (Market Pull).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Fricción cotidiana: más de 12.000 estudiantes con traslados de 90-150 min hacia los cerros.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Tecnología viable hoy: 100% smartphones con GPS, billeteras Nequi/Daviplata y hábito de carpooling.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Core: Algoritmo de ruteo espacial sincronizado a horarios académicos + verificación institucional.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E87722"/>
                </a:solidFill>
                <a:latin typeface="Calibri"/>
              </a:defRPr>
            </a:pPr>
            <a:r>
              <a:t>Por Qué Nosotros (Activos del Equipo 5)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Inmersión directa: Estudiantes activos del Externado que vivimos el problema y conocemos los chats.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Perfil en Ciencia de Datos: Capacidad de programar el motor de optimización, matching y analítica.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Acceso a mercado a costo cero: Comunidad cautiva en aulas y grupos de WhatsApp preexistentes.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Validación ágil: Capacidad de iterar directamente in situ con pasajeros y conductores reales.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Wheels Externado · Portafolio de Evidencias 4 · Equipo 5 | Página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Calibri"/>
              </a:defRPr>
            </a:pPr>
            <a:r>
              <a:t>2. Diagnóstico: Industria de Movilidad y Árbol de Causas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87722"/>
                </a:solidFill>
                <a:latin typeface="Calibri"/>
              </a:defRPr>
            </a:pPr>
            <a:r>
              <a:t>PORTAFOLIO DE EVIDENCIAS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3366"/>
                </a:solidFill>
                <a:latin typeface="Calibri"/>
              </a:defRPr>
            </a:pPr>
            <a:r>
              <a:t>Análisis de Industria y Competencia Universitaria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Competidores pares: Vai (UniAndes), UniWheels (multicampus) y Try My Ride (Javeriana/Rosario).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Sustituto masivo informal: Grupos de WhatsApp (gratuitos pero saturados, sin reserva ni seguridad).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Proveedores (Conductores): Buscan amortizar parqueadero ($22k) y gasolina; no lucro profesional.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Demanda (Pasajeros): Cautiva y dispuesta a pagar prima ($8.000 COP) por certeza y seguridad de género.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E87722"/>
                </a:solidFill>
                <a:latin typeface="Calibri"/>
              </a:defRPr>
            </a:pPr>
            <a:r>
              <a:t>Árbol de Causas de Ishikawa (Validadas en Campo)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Causas Duras: Ubicación en cerros, vías estrechas, déficit de parqueo, saturación y sepultamiento de chats.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Causas Blandas: Asimetría de riesgos (conductor pierde $12k por silla vacía), cultura del ghosting.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Dolor de Género: 100% de pasajeras toman protocolos personales (mandar placas a familia antes de subir).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12 de 12 entrevistados confirman que WhatsApp colapsó como herramienta de coordinación de viajes.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Wheels Externado · Portafolio de Evidencias 4 · Equipo 5 | Página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Calibri"/>
              </a:defRPr>
            </a:pPr>
            <a:r>
              <a:t>3. Problema, Tipo de Mercado y Ajustes al Prototipo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87722"/>
                </a:solidFill>
                <a:latin typeface="Calibri"/>
              </a:defRPr>
            </a:pPr>
            <a:r>
              <a:t>PORTAFOLIO DE EVIDENCIAS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3366"/>
                </a:solidFill>
                <a:latin typeface="Calibri"/>
              </a:defRPr>
            </a:pPr>
            <a:r>
              <a:t>Mercado Resegmentado por Nicho (Blank)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Mercado de movilidad urbana existente, pero resegmentado para comunidad universitaria cerrada.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Atributos diferenciadores: Verificación obligatoria @uexternado, ruta puerta a campus y tarifa accesible.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Costo de Adquisición (CAC): Prácticamente nulo en inicio por migración directa de chats existentes.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Validación económica: Tarifa base $6.000; WTP validado en $8.000 COP (12/12 en Campo 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  <a:latin typeface="Calibri"/>
              </a:defRPr>
            </a:pPr>
            <a:r>
              <a:t>Prototipo y 4 Ajustes Clave tras Campo 2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Ajuste 1: Historial acumulado visible del conductor ('62 viajes este mes') en lugar de estrellas simples.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Ajuste 2: Penalización por cancelación tardía (anti-ghosting) que indemniza directamente al conductor.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Ajuste 3: Filtro de seguridad de género 'Conductoras Mujeres / Solo Chicas' (demanda de E9).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Ajuste 4: Microzonas para corredores cortos (Chapinero/Calle 72), donde el dolor es el filtro de chats.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Wheels Externado · Portafolio de Evidencias 4 · Equipo 5 | Página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Calibri"/>
              </a:defRPr>
            </a:pPr>
            <a:r>
              <a:t>4. Business Model Canvas (BMC) en 1 Diapositiva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87722"/>
                </a:solidFill>
                <a:latin typeface="Calibri"/>
              </a:defRPr>
            </a:pPr>
            <a:r>
              <a:t>PASO 4: MODELO DE NEGOCIO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011680" cy="2926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3366"/>
                </a:solidFill>
                <a:latin typeface="Calibri"/>
              </a:defRPr>
            </a:pPr>
            <a:r>
              <a:t>8. Socios Clave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Univ. Externado (Bienestar).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Admins chats WhatsApp.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Pasarelas Nequi/Wompi.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Pólizas de asistencia.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280160"/>
            <a:ext cx="2011680" cy="2926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3366"/>
                </a:solidFill>
                <a:latin typeface="Calibri"/>
              </a:defRPr>
            </a:pPr>
            <a:r>
              <a:t>7. Actividades Clave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Matching geoespacial.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Verificación @uexternado.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Dispersión diaria pagos.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Soporte híbrido incidencias.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280160"/>
            <a:ext cx="2011680" cy="2926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E87722"/>
                </a:solidFill>
                <a:latin typeface="Calibri"/>
              </a:defRPr>
            </a:pPr>
            <a:r>
              <a:t>2. Propuesta de Valor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Cupo garantizado fijo.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100% comunidad verificada.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Liquidación instantánea.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Viaje seguro solo chicas.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280160"/>
            <a:ext cx="2011680" cy="2926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3366"/>
                </a:solidFill>
                <a:latin typeface="Calibri"/>
              </a:defRPr>
            </a:pPr>
            <a:r>
              <a:t>4. Relación Clientes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Confianza institucional.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Cero tarifas abusivas.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Indemnización por ghosting.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Soporte de emergencias.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280160"/>
            <a:ext cx="2011680" cy="2926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3366"/>
                </a:solidFill>
                <a:latin typeface="Calibri"/>
              </a:defRPr>
            </a:pPr>
            <a:r>
              <a:t>1. Segmento Clientes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Pasajeros en corredores periféricos (&gt;60 min).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Conductores externadistas amortizadores parqueo.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5212080" cy="16459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3366"/>
                </a:solidFill>
                <a:latin typeface="Calibri"/>
              </a:defRPr>
            </a:pPr>
            <a:r>
              <a:t>9. Estructura de Costos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Servidores cloud ($280k/mes) · APIs mapas ($120k/mes) · Pasarela pagos ($200/tx) · CAC guerrilla ($6k).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89120"/>
            <a:ext cx="5212080" cy="16459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  <a:latin typeface="Calibri"/>
              </a:defRPr>
            </a:pPr>
            <a:r>
              <a:t>5. Fuentes de Ingreso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Take-rate transaccional: $1.200 COP/cupo (15%) · Pasajero paga $8.000 · Conductor recibe $6.800 netos.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Wheels Externado · Portafolio de Evidencias 4 · Equipo 5 | Página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Calibri"/>
              </a:defRPr>
            </a:pPr>
            <a:r>
              <a:t>5. Core del Negocio y Portafolio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87722"/>
                </a:solidFill>
                <a:latin typeface="Calibri"/>
              </a:defRPr>
            </a:pPr>
            <a:r>
              <a:t>PORTAFOLIO DE EVIDENCIAS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3366"/>
                </a:solidFill>
                <a:latin typeface="Calibri"/>
              </a:defRPr>
            </a:pPr>
            <a:r>
              <a:t>Core Difícil de Copiar (Aulet, Paso 10)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Foso de confianza cerrado: Verificación federada @uexternado.edu.co. Apps abiertas no pueden replicarlo.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Efecto de red hiperlocal: Rutas concentradas hacia un único destino con horarios de clase compartidos.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Transparencia radical: Desglose público del destino de cada peso pagado (cero comisiones ocultas).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Protección al conductor: 80% de la penalización por cancelación tardía compensa su tiempo.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E87722"/>
                </a:solidFill>
                <a:latin typeface="Calibri"/>
              </a:defRPr>
            </a:pPr>
            <a:r>
              <a:t>Portafolio de Valor Multidimensional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Valor al Usuario: Ahorro de 10 horas semanales y $22.000 por viaje frente a taxi; cupo asegurado.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Valor al Conductor: Amortiza $18.000-$24.000/día cubriendo parqueadero ($22.000) sin fricción de efectivo.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Valor Social: Entorno protegido para mujeres y eliminación del riesgo de hurto en paraderos solitarios.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Valor Ambiental: 3,5 ocupantes por vehículo; ahorro de &gt;45 toneladas de CO2/año.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Wheels Externado · Portafolio de Evidencias 4 · Equipo 5 | Página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Calibri"/>
              </a:defRPr>
            </a:pPr>
            <a:r>
              <a:t>6. Segmentación de Mercado y Dimensionamiento 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87722"/>
                </a:solidFill>
                <a:latin typeface="Calibri"/>
              </a:defRPr>
            </a:pPr>
            <a:r>
              <a:t>PORTAFOLIO DE EVIDENCIAS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3366"/>
                </a:solidFill>
                <a:latin typeface="Calibri"/>
              </a:defRPr>
            </a:pPr>
            <a:r>
              <a:t>Beachhead Market &amp; Personas (Pasos 2, 3 y 5)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Mercado Cabeza de Playa: Estudiantes del Externado en corredores lejanos (Calle 80, Suba, Kennedy, Bosa).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Daniel (Conductor): 7.° semestre, Fontibón, gasta $22k en parqueadero, busca amortizar sin ghosting.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Camila (Pasajera): 3.er semestre, Timiza, sale a las 5:20 am, busca cupo garantizado y seguridad de género.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Primeros 10 Clientes: Informantes reales del Campo 2 (E1 a E10) con 85%-100% de probabilidad de adopción.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E87722"/>
                </a:solidFill>
                <a:latin typeface="Calibri"/>
              </a:defRPr>
            </a:pPr>
            <a:r>
              <a:t>Dimensionamiento del TAM (Aulet, Paso 4)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Cálculo Top-Down (Universidades Cerros Orientales Bogotá):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  • 65.000 alumnos x 15% viajes x $2.000 COP/día = $3.120 millones COP/año (~$780k USD).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Cálculo Bottom-Up (Beachhead Externado Cautivo):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  • 2.400 estudiantes activos en corredores críticos.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  • Frecuencia: 128 viajes anuales por usuario x $1.000 COP comisión neta.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  • TAM Beachhead = $614.400.000 COP/año (~$153.600 USD/año).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Wheels Externado · Portafolio de Evidencias 4 · Equipo 5 | Página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Calibri"/>
              </a:defRPr>
            </a:pPr>
            <a:r>
              <a:t>7. Fuentes de Ingreso y Valor de Vida del Cliente (LTV)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87722"/>
                </a:solidFill>
                <a:latin typeface="Calibri"/>
              </a:defRPr>
            </a:pPr>
            <a:r>
              <a:t>PORTAFOLIO DE EVIDENCIAS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3366"/>
                </a:solidFill>
                <a:latin typeface="Calibri"/>
              </a:defRPr>
            </a:pPr>
            <a:r>
              <a:t>Modelo Financiero y Parámetros (Aulet Cap. 17)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Cobro por uso: Take-rate de $1.200 COP por viaje completado (15% sobre tarifa de $8.000 COP).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Margen bruto de servicio: 83,3% ($1.000 COP netos tras costos de pasarela y cloud).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Retención interanual: 80% (fidelidad de cohortes universitarias durante 4-5 años de carrera).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Tasa de descuento exigente: r = 50% anual (estándar docente para capital propio / bootstrapping).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  <a:latin typeface="Calibri"/>
              </a:defRPr>
            </a:pPr>
            <a:r>
              <a:t>Resultados de la Plantilla de Excel de Aulet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Escenario Pesimista (84 viajes/año, 70% retención, r=50%):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  • LTV a 5 años = $92.408 COP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Escenario Esperado (128 viajes/año, 80% retención, r=50%):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  • LTV a 5 años = $174.897 COP (Resultado Base)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Escenario Optimista (204 viajes/año, 85% retención, r=50%):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  • LTV a 5 años = $301.418 COP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Comparativo de deuda (r = 12%): LTV Esperado sube a $325.496 COP.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Wheels Externado · Portafolio de Evidencias 4 · Equipo 5 | Página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Calibri"/>
              </a:defRPr>
            </a:pPr>
            <a:r>
              <a:t>8. Costo de Adquisición (CAC) y Regla de las 3X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87722"/>
                </a:solidFill>
                <a:latin typeface="Calibri"/>
              </a:defRPr>
            </a:pPr>
            <a:r>
              <a:t>PORTAFOLIO DE EVIDENCIAS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3366"/>
                </a:solidFill>
                <a:latin typeface="Calibri"/>
              </a:defRPr>
            </a:pPr>
            <a:r>
              <a:t>Cálculo del CAC por Horizontes (Paso 19)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Corto Plazo (Año 1): CAC Medio = $6.000 COP (Rango $4.000 - $8.000).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  • Venta personal en campus, stands y migración guiada de WhatsApp.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Mediano Plazo (Años 2-3): CAC Medio = $3.125 COP (Rango $2.500 - $4.500).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  • Inducciones de Bienestar Universitario y embajadores por facultad.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Largo Plazo (Años 4-5): CAC Medio = $1.666 COP (Rango $1.200 - $2.200).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  • Crecimiento viral orgánico y programa de referidos.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  <a:latin typeface="Calibri"/>
              </a:defRPr>
            </a:pPr>
            <a:r>
              <a:t>Demostración de la Regla de las 3X (LTV &gt; 3 x CAC)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Corto Plazo: LTV ($174.897) / CAC ($6.000) = 29,15 x  (CUMPLE)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Mediano Plazo: LTV ($174.897) / CAC ($3.125) = 55,97 x  (CUMPLE)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Largo Plazo: LTV ($174.897) / CAC ($1.666) = 104,98 x  (CUMPLE)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Incluso en el peor caso pesimista ($92.408 / $8.000) = 11,55 x.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Conclusión: Modelo de negocio hiper-eficiente al operar sobre una comunidad cerrada de alta densidad.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Wheels Externado · Portafolio de Evidencias 4 · Equipo 5 | Página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Calibri"/>
              </a:defRPr>
            </a:pPr>
            <a:r>
              <a:t>9. Metas de Sostenibilidad e Impacto (ODS)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87722"/>
                </a:solidFill>
                <a:latin typeface="Calibri"/>
              </a:defRPr>
            </a:pPr>
            <a:r>
              <a:t>PORTAFOLIO DE EVIDENCIAS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E87722"/>
                </a:solidFill>
                <a:latin typeface="Calibri"/>
              </a:defRPr>
            </a:pPr>
            <a:r>
              <a:t>Impacto Social (Personas &amp; Comunidad)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ODS 5 (Igualdad de Género): 100% de viajes monitoreados y rutas exclusivas 'Solo Chicas'.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ODS 8 (Bienestar): Recuperación de 25 a 35 horas mensuales de tiempo útil de estudio por estudiante.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ODS 11 (Comunidades Seguras): Reducción de cancelaciones intempestivas del 35% al 3% mediante penalización.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Mitigación: Geocerca de tolerancia de 7 minutos para prevenir conflictos de tráfico.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2E7D32"/>
                </a:solidFill>
                <a:latin typeface="Calibri"/>
              </a:defRPr>
            </a:pPr>
            <a:r>
              <a:t>Impacto Medioambiental (Planeta)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ODS 13 (Acción por el Clima): Incremento del factor de ocupación de 1,3 a 3,5 personas por vehículo.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Ahorro de Emisiones: Reducción estimada de más de 45 toneladas de CO2 al año en la comunidad.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ODS 11 (Movilidad Urbana): Retiro de más de 150 vehículos diarios de circulación hacia los cerros.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Mitigación de Rebote: Foco estricto en viajes &gt;5 km para no desincentivar caminata o bicicleta.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Wheels Externado · Portafolio de Evidencias 4 · Equipo 5 | Página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  <a:latin typeface="Calibri"/>
              </a:defRPr>
            </a:pPr>
            <a:r>
              <a:t>10. Conclusiones y Ruta hacia el Campo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87722"/>
                </a:solidFill>
                <a:latin typeface="Calibri"/>
              </a:defRPr>
            </a:pPr>
            <a:r>
              <a:t>PORTAFOLIO DE EVIDENCIAS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3366"/>
                </a:solidFill>
                <a:latin typeface="Calibri"/>
              </a:defRPr>
            </a:pPr>
            <a:r>
              <a:t>Conclusiones del Modelo de Negocio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Viabilidad confirmada: El problema es crítico, recurrente y con alta disposición a pagar ($8.000).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Unit Economics excepcionales: LTV/CAC superior a 29x en todos los escenarios temporales.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Ajustes validados: Prototipo enriquecido con historial de viajes, anti-ghosting y filtro de género.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Alineación institucional: Modelo complementario y de apoyo a la movilidad de la Universidad Externado.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3891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E87722"/>
                </a:solidFill>
                <a:latin typeface="Calibri"/>
              </a:defRPr>
            </a:pPr>
            <a:r>
              <a:t>Siguiente Paso: Trabajo de Campo 3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Prueba de Usabilidad: Validación del MVP con los 8 usuarios que formalizaron compromiso en Campo 2.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Entrevistas a Expertos: Realización de 1-2 entrevistas a especialistas en movilidad para cerrar la limitación.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Pruebas de Estrés del Algoritmo: Simulación de ruteo y asignación en horas pico (6:30 am - 7:00 am).</a:t>
            </a:r>
          </a:p>
          <a:p>
            <a:pPr>
              <a:spcAft>
                <a:spcPts val="300"/>
              </a:spcAft>
              <a:defRPr sz="1050">
                <a:solidFill>
                  <a:srgbClr val="333333"/>
                </a:solidFill>
                <a:latin typeface="Calibri"/>
              </a:defRPr>
            </a:pPr>
            <a:r>
              <a:t>• Preparación del Piloto: Activación en el corredor piloto Calle 80 / La Floresta.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Calibri"/>
              </a:defRPr>
            </a:pPr>
            <a:r>
              <a:t>Wheels Externado · Portafolio de Evidencias 4 · Equipo 5 | Página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
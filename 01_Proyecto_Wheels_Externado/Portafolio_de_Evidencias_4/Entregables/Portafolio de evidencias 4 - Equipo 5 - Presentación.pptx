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37160" cy="4663440"/>
          </a:xfrm>
          <a:prstGeom prst="rect">
            <a:avLst/>
          </a:prstGeom>
          <a:solidFill>
            <a:srgbClr val="E87722"/>
          </a:solidFill>
          <a:ln>
            <a:solidFill>
              <a:srgbClr val="E877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87722"/>
                </a:solidFill>
                <a:latin typeface="Calibri"/>
              </a:defRPr>
            </a:pPr>
            <a:r>
              <a:t>PORTAFOLIO DE EVIDENCIAS NO. 4  |  PASO 4</a:t>
            </a:r>
          </a:p>
          <a:p>
            <a:pPr>
              <a:defRPr sz="3800" b="1">
                <a:solidFill>
                  <a:srgbClr val="FFFFFF"/>
                </a:solidFill>
                <a:latin typeface="Calibri"/>
              </a:defRPr>
            </a:pPr>
            <a:r>
              <a:t>WHEELS EXTERNADO</a:t>
            </a:r>
          </a:p>
          <a:p>
            <a:pPr>
              <a:spcAft>
                <a:spcPts val="2800"/>
              </a:spcAft>
              <a:defRPr sz="1800">
                <a:solidFill>
                  <a:srgbClr val="CDD7E1"/>
                </a:solidFill>
                <a:latin typeface="Calibri"/>
              </a:defRPr>
            </a:pPr>
            <a:r>
              <a:t>Modelo de Negocio Consolidado, Business Model Canvas &amp; Unit Economics (LTV vs CAC)</a:t>
            </a:r>
          </a:p>
          <a:p>
            <a:pPr>
              <a:defRPr sz="1200" b="1">
                <a:solidFill>
                  <a:srgbClr val="E87722"/>
                </a:solidFill>
                <a:latin typeface="Calibri"/>
              </a:defRPr>
            </a:pPr>
            <a:r>
              <a:t>EQUIPO 5 — PREGRADO EN CIENCIA DE DATOS</a:t>
            </a:r>
          </a:p>
          <a:p>
            <a:pPr>
              <a:spcAft>
                <a:spcPts val="200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t>Julián Duarte  •  Julián Jiménez  •  Santiago Sandoval  •  Sebastián Ramos  •  Tomás Rincón</a:t>
            </a:r>
          </a:p>
          <a:p>
            <a:pPr>
              <a:defRPr sz="1100" i="1">
                <a:solidFill>
                  <a:srgbClr val="C8D2E1"/>
                </a:solidFill>
                <a:latin typeface="Calibri"/>
              </a:defRPr>
            </a:pPr>
            <a:r>
              <a:t>Universidad Externado de Colombia  |  Curso de Emprendimiento  |  Octubre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E87722"/>
                </a:solidFill>
                <a:latin typeface="Calibri"/>
              </a:defRPr>
            </a:pPr>
            <a:r>
              <a:t>PASO 0: FUNDAMENTOS Y EVIDENCIA DE CAMPO</a:t>
            </a:r>
          </a:p>
          <a:p>
            <a:pPr>
              <a:defRPr sz="2000" b="1">
                <a:solidFill>
                  <a:srgbClr val="003366"/>
                </a:solidFill>
                <a:latin typeface="Calibri"/>
              </a:defRPr>
            </a:pPr>
            <a:r>
              <a:t>Diagnóstico del Problema y Validación Empírica en Campus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Wheels Externado • Portafolio de Evidencias No. 4 • Universidad Externado de Colombia | Diapositiva 2/14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328416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36192"/>
            <a:ext cx="2962656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Calibri"/>
              </a:defRPr>
            </a:pPr>
            <a:r>
              <a:t>1. Embudo Geográfico Cerros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296265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000">
                <a:solidFill>
                  <a:srgbClr val="003366"/>
                </a:solidFill>
              </a:rPr>
              <a:t>Ubicación crítica: </a:t>
            </a:r>
            <a:r>
              <a:rPr sz="1000">
                <a:solidFill>
                  <a:srgbClr val="0F172A"/>
                </a:solidFill>
              </a:rPr>
              <a:t>El campus en La Candelaria genera un cuello de botella vial único con acceso limitado por la Circunvalar.</a:t>
            </a:r>
          </a:p>
          <a:p>
            <a:pPr>
              <a:spcAft>
                <a:spcPts val="1000"/>
              </a:spcAft>
            </a:pPr>
            <a:r>
              <a:rPr b="1" sz="1000">
                <a:solidFill>
                  <a:srgbClr val="003366"/>
                </a:solidFill>
              </a:rPr>
              <a:t>Tiempos excesivos: </a:t>
            </a:r>
            <a:r>
              <a:rPr sz="1000">
                <a:solidFill>
                  <a:srgbClr val="0F172A"/>
                </a:solidFill>
              </a:rPr>
              <a:t>Estudiantes en corredores lejanos (Suba, Calle 80, Kennedy, Facatativá) gastan entre 100 y 120 minutos por trayecto.</a:t>
            </a:r>
          </a:p>
          <a:p>
            <a:pPr>
              <a:spcAft>
                <a:spcPts val="1000"/>
              </a:spcAft>
            </a:pPr>
            <a:r>
              <a:rPr b="1" sz="1000">
                <a:solidFill>
                  <a:srgbClr val="003366"/>
                </a:solidFill>
              </a:rPr>
              <a:t>Agotamiento académico: </a:t>
            </a:r>
            <a:r>
              <a:rPr sz="1000">
                <a:solidFill>
                  <a:srgbClr val="0F172A"/>
                </a:solidFill>
              </a:rPr>
              <a:t>Más de 3 horas diarias perdidas en transporte masivo impactan negativamente el rendimiento y la calidad de vida.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1371600"/>
            <a:ext cx="3328416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08576" y="1536192"/>
            <a:ext cx="2962656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Calibri"/>
              </a:defRPr>
            </a:pPr>
            <a:r>
              <a:t>2. Fricciones Económicas Reales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08576" y="1920240"/>
            <a:ext cx="296265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000">
                <a:solidFill>
                  <a:srgbClr val="003366"/>
                </a:solidFill>
              </a:rPr>
              <a:t>Sobrecosto de parqueadero: </a:t>
            </a:r>
            <a:r>
              <a:rPr sz="1000">
                <a:solidFill>
                  <a:srgbClr val="0F172A"/>
                </a:solidFill>
              </a:rPr>
              <a:t>Los conductores del Externado gastan $22.000 COP diarios en parqueo institucional ($352.000 COP/mes).</a:t>
            </a:r>
          </a:p>
          <a:p>
            <a:pPr>
              <a:spcAft>
                <a:spcPts val="1000"/>
              </a:spcAft>
            </a:pPr>
            <a:r>
              <a:rPr b="1" sz="1000">
                <a:solidFill>
                  <a:srgbClr val="003366"/>
                </a:solidFill>
              </a:rPr>
              <a:t>Taxis inalcanzables: </a:t>
            </a:r>
            <a:r>
              <a:rPr sz="1000">
                <a:solidFill>
                  <a:srgbClr val="0F172A"/>
                </a:solidFill>
              </a:rPr>
              <a:t>Un servicio diario de Uber o taxi cuesta entre $25.000 y $45.000 COP por trayecto, insostenible para un estudiante.</a:t>
            </a:r>
          </a:p>
          <a:p>
            <a:pPr>
              <a:spcAft>
                <a:spcPts val="1000"/>
              </a:spcAft>
            </a:pPr>
            <a:r>
              <a:rPr b="1" sz="1000">
                <a:solidFill>
                  <a:srgbClr val="003366"/>
                </a:solidFill>
              </a:rPr>
              <a:t>Motivación de amortización: </a:t>
            </a:r>
            <a:r>
              <a:rPr sz="1000">
                <a:solidFill>
                  <a:srgbClr val="0F172A"/>
                </a:solidFill>
              </a:rPr>
              <a:t>Conductores (E5, E7, E12) validaron que NO buscan lucrarse, sino llenar 3-4 puestos para cubrir su parqueadero y gasolina.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9872" y="1371600"/>
            <a:ext cx="3328416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2752" y="1536192"/>
            <a:ext cx="2962656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Calibri"/>
              </a:defRPr>
            </a:pPr>
            <a:r>
              <a:t>3. Falla de Solución Actual (WhatsApp)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02752" y="1920240"/>
            <a:ext cx="296265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000">
                <a:solidFill>
                  <a:srgbClr val="003366"/>
                </a:solidFill>
              </a:rPr>
              <a:t>Ghosting intempestivo: </a:t>
            </a:r>
            <a:r>
              <a:rPr sz="1000">
                <a:solidFill>
                  <a:srgbClr val="0F172A"/>
                </a:solidFill>
              </a:rPr>
              <a:t>35% de cancelación a última hora en grupos de WhatsApp sin penalización ni garantía de reemplazo.</a:t>
            </a:r>
          </a:p>
          <a:p>
            <a:pPr>
              <a:spcAft>
                <a:spcPts val="1000"/>
              </a:spcAft>
            </a:pPr>
            <a:r>
              <a:rPr b="1" sz="1000">
                <a:solidFill>
                  <a:srgbClr val="003366"/>
                </a:solidFill>
              </a:rPr>
              <a:t>Inseguridad de género: </a:t>
            </a:r>
            <a:r>
              <a:rPr sz="1000">
                <a:solidFill>
                  <a:srgbClr val="0F172A"/>
                </a:solidFill>
              </a:rPr>
              <a:t>100% de las pasajeras mujeres entrevistadas (E4, E9) exigen viajar exclusivamente con conductores o pasajeras verificadas.</a:t>
            </a:r>
          </a:p>
          <a:p>
            <a:pPr>
              <a:spcAft>
                <a:spcPts val="1000"/>
              </a:spcAft>
            </a:pPr>
            <a:r>
              <a:rPr b="1" sz="1000">
                <a:solidFill>
                  <a:srgbClr val="003366"/>
                </a:solidFill>
              </a:rPr>
              <a:t>Caos transaccional: </a:t>
            </a:r>
            <a:r>
              <a:rPr sz="1000">
                <a:solidFill>
                  <a:srgbClr val="0F172A"/>
                </a:solidFill>
              </a:rPr>
              <a:t>Fricción con cobro en efectivo, desorden en transferencias Nequi y falta de trazabilidad en horas pico de parciales.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E87722"/>
                </a:solidFill>
                <a:latin typeface="Calibri"/>
              </a:defRPr>
            </a:pPr>
            <a:r>
              <a:t>LA SOLUCIÓN INTEGRAL</a:t>
            </a:r>
          </a:p>
          <a:p>
            <a:pPr>
              <a:defRPr sz="2000" b="1">
                <a:solidFill>
                  <a:srgbClr val="003366"/>
                </a:solidFill>
                <a:latin typeface="Calibri"/>
              </a:defRPr>
            </a:pPr>
            <a:r>
              <a:t>Wheels Externado: Carpooling Inteligente de Confianza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Wheels Externado • Portafolio de Evidencias No. 4 • Universidad Externado de Colombia | Diapositiva 3/14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36192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Calibri"/>
              </a:defRPr>
            </a:pPr>
            <a:r>
              <a:t>Verificación Institucional Obligatoria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874520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b="1" sz="950">
                <a:solidFill>
                  <a:srgbClr val="003366"/>
                </a:solidFill>
              </a:rPr>
              <a:t>Credencial @uexternado.edu.co: </a:t>
            </a:r>
            <a:r>
              <a:rPr sz="950">
                <a:solidFill>
                  <a:srgbClr val="0F172A"/>
                </a:solidFill>
              </a:rPr>
              <a:t>Acceso 100% cerrado y federado para estudiantes, profesores y personal activo.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03366"/>
                </a:solidFill>
              </a:rPr>
              <a:t>Filtro de seguridad total: </a:t>
            </a:r>
            <a:r>
              <a:rPr sz="950">
                <a:solidFill>
                  <a:srgbClr val="0F172A"/>
                </a:solidFill>
              </a:rPr>
              <a:t>Cero conductores o pasajeros desconocidos. Erradica la incertidumbre de plataformas masivas abiertas.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03366"/>
                </a:solidFill>
              </a:rPr>
              <a:t>Perfil de reputación: </a:t>
            </a:r>
            <a:r>
              <a:rPr sz="950">
                <a:solidFill>
                  <a:srgbClr val="0F172A"/>
                </a:solidFill>
              </a:rPr>
              <a:t>Calificación cruzada bidireccional y registro de viajes universitarios históricos.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36192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Calibri"/>
              </a:defRPr>
            </a:pPr>
            <a:r>
              <a:t>Algoritmo de Matching Sincronizado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74520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b="1" sz="950">
                <a:solidFill>
                  <a:srgbClr val="003366"/>
                </a:solidFill>
              </a:rPr>
              <a:t>Sincronización académica: </a:t>
            </a:r>
            <a:r>
              <a:rPr sz="950">
                <a:solidFill>
                  <a:srgbClr val="0F172A"/>
                </a:solidFill>
              </a:rPr>
              <a:t>Coincidencia espacial agrupada por bloques horarios institucionales (7:00 am, 9:00 am, 11:00 am).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03366"/>
                </a:solidFill>
              </a:rPr>
              <a:t>Cupo asegurado noche previa: </a:t>
            </a:r>
            <a:r>
              <a:rPr sz="950">
                <a:solidFill>
                  <a:srgbClr val="0F172A"/>
                </a:solidFill>
              </a:rPr>
              <a:t>Reserva y confirmación automática a las 8:00 pm, eliminando el estrés matutino.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03366"/>
                </a:solidFill>
              </a:rPr>
              <a:t>Optimización de ruta: </a:t>
            </a:r>
            <a:r>
              <a:rPr sz="950">
                <a:solidFill>
                  <a:srgbClr val="0F172A"/>
                </a:solidFill>
              </a:rPr>
              <a:t>Puntos de recogida estratégicos sobre corredores clave sin desvíos mayores a 5 minutos.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4048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05072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Calibri"/>
              </a:defRPr>
            </a:pPr>
            <a:r>
              <a:t>Seguridad Especial 'Ruta Solo Chicas'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343400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b="1" sz="950">
                <a:solidFill>
                  <a:srgbClr val="003366"/>
                </a:solidFill>
              </a:rPr>
              <a:t>Filtro exclusivo de género: </a:t>
            </a:r>
            <a:r>
              <a:rPr sz="950">
                <a:solidFill>
                  <a:srgbClr val="0F172A"/>
                </a:solidFill>
              </a:rPr>
              <a:t>Opción para que estudiantes mujeres viajen únicamente con conductoras y pasajeras verificadas.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03366"/>
                </a:solidFill>
              </a:rPr>
              <a:t>Monitoreo en tiempo real: </a:t>
            </a:r>
            <a:r>
              <a:rPr sz="950">
                <a:solidFill>
                  <a:srgbClr val="0F172A"/>
                </a:solidFill>
              </a:rPr>
              <a:t>Geocerca GPS activa durante todo el recorrido hacia La Candelaria con botón de asistencia.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03366"/>
                </a:solidFill>
              </a:rPr>
              <a:t>Atención a la necesidad E9: </a:t>
            </a:r>
            <a:r>
              <a:rPr sz="950">
                <a:solidFill>
                  <a:srgbClr val="0F172A"/>
                </a:solidFill>
              </a:rPr>
              <a:t>Respuesta directa a la principal demanda validada en las entrevistas de Campo 2.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84048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4005072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Calibri"/>
              </a:defRPr>
            </a:pPr>
            <a:r>
              <a:t>Micropagos Digitales y Política Anti-Ghosting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343400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b="1" sz="950">
                <a:solidFill>
                  <a:srgbClr val="003366"/>
                </a:solidFill>
              </a:rPr>
              <a:t>Tarifa fija de $8.000 COP: </a:t>
            </a:r>
            <a:r>
              <a:rPr sz="950">
                <a:solidFill>
                  <a:srgbClr val="0F172A"/>
                </a:solidFill>
              </a:rPr>
              <a:t>El pasajero paga de forma 100% digital vía API Nequi / Daviplata / Wompi sin efectivo.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03366"/>
                </a:solidFill>
              </a:rPr>
              <a:t>Compensación inmediata al conductor: </a:t>
            </a:r>
            <a:r>
              <a:rPr sz="950">
                <a:solidFill>
                  <a:srgbClr val="0F172A"/>
                </a:solidFill>
              </a:rPr>
              <a:t>Desembolso automático de $6.800 COP por cupo, cubriendo parqueadero sin esfuerzo.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03366"/>
                </a:solidFill>
              </a:rPr>
              <a:t>Penalización por cancelación tardía: </a:t>
            </a:r>
            <a:r>
              <a:rPr sz="950">
                <a:solidFill>
                  <a:srgbClr val="0F172A"/>
                </a:solidFill>
              </a:rPr>
              <a:t>Si el pasajero cancela a menos de 30 min, el 80% de la penalización compensa al conductor.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E87722"/>
                </a:solidFill>
                <a:latin typeface="Calibri"/>
              </a:defRPr>
            </a:pPr>
            <a:r>
              <a:t>PASO 1: QUIÉN ES TU CLIENTE (AULET)</a:t>
            </a:r>
          </a:p>
          <a:p>
            <a:pPr>
              <a:defRPr sz="2000" b="1">
                <a:solidFill>
                  <a:srgbClr val="003366"/>
                </a:solidFill>
                <a:latin typeface="Calibri"/>
              </a:defRPr>
            </a:pPr>
            <a:r>
              <a:t>Segmentos de Clientes y Arquetipos Validados en Campo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Wheels Externado • Portafolio de Evidencias No. 4 • Universidad Externado de Colombia | Diapositiva 4/14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21208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36192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Calibri"/>
              </a:defRPr>
            </a:pPr>
            <a:r>
              <a:t>Daniel — Conductor Amortizador (Basado en E5, E7, E12)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48463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950">
                <a:solidFill>
                  <a:srgbClr val="003366"/>
                </a:solidFill>
              </a:rPr>
              <a:t>Perfil: </a:t>
            </a:r>
            <a:r>
              <a:rPr sz="950">
                <a:solidFill>
                  <a:srgbClr val="0F172A"/>
                </a:solidFill>
              </a:rPr>
              <a:t>21 años, 7.° semestre de Ingeniería Industrial, reside en Fontibón / Calle 26.</a:t>
            </a:r>
          </a:p>
          <a:p>
            <a:pPr>
              <a:spcAft>
                <a:spcPts val="500"/>
              </a:spcAft>
            </a:pPr>
            <a:r>
              <a:rPr b="1" sz="950">
                <a:solidFill>
                  <a:srgbClr val="003366"/>
                </a:solidFill>
              </a:rPr>
              <a:t>Dolor principal: </a:t>
            </a:r>
            <a:r>
              <a:rPr sz="950">
                <a:solidFill>
                  <a:srgbClr val="0F172A"/>
                </a:solidFill>
              </a:rPr>
              <a:t>Gasta $22.000 COP diarios en el parqueadero institucional de la universidad.</a:t>
            </a:r>
          </a:p>
          <a:p>
            <a:pPr>
              <a:spcAft>
                <a:spcPts val="500"/>
              </a:spcAft>
            </a:pPr>
            <a:r>
              <a:rPr b="1" sz="950">
                <a:solidFill>
                  <a:srgbClr val="003366"/>
                </a:solidFill>
              </a:rPr>
              <a:t>Objetivo: </a:t>
            </a:r>
            <a:r>
              <a:rPr sz="950">
                <a:solidFill>
                  <a:srgbClr val="0F172A"/>
                </a:solidFill>
              </a:rPr>
              <a:t>Llenar 3 o 4 puestos diarios para no pagar el parqueadero de su bolsillo y amortizar gasolina.</a:t>
            </a:r>
          </a:p>
          <a:p>
            <a:pPr>
              <a:spcAft>
                <a:spcPts val="500"/>
              </a:spcAft>
            </a:pPr>
            <a:r>
              <a:rPr b="1" sz="950">
                <a:solidFill>
                  <a:srgbClr val="003366"/>
                </a:solidFill>
              </a:rPr>
              <a:t>Requisitos indispensables: </a:t>
            </a:r>
            <a:r>
              <a:rPr sz="950">
                <a:solidFill>
                  <a:srgbClr val="0F172A"/>
                </a:solidFill>
              </a:rPr>
              <a:t>Cero ghosting matutino, transferencias automáticas sin lidiar con efectivo y pasajeros puntuales.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36192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Calibri"/>
              </a:defRPr>
            </a:pPr>
            <a:r>
              <a:t>Camila — Pasajera de Larga Distancia (Basada en E2, E9, E4)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74519"/>
            <a:ext cx="48463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950">
                <a:solidFill>
                  <a:srgbClr val="003366"/>
                </a:solidFill>
              </a:rPr>
              <a:t>Perfil: </a:t>
            </a:r>
            <a:r>
              <a:rPr sz="950">
                <a:solidFill>
                  <a:srgbClr val="0F172A"/>
                </a:solidFill>
              </a:rPr>
              <a:t>19 años, 3.er semestre de Derecho, reside en Timiza / Kennedy.</a:t>
            </a:r>
          </a:p>
          <a:p>
            <a:pPr>
              <a:spcAft>
                <a:spcPts val="500"/>
              </a:spcAft>
            </a:pPr>
            <a:r>
              <a:rPr b="1" sz="950">
                <a:solidFill>
                  <a:srgbClr val="003366"/>
                </a:solidFill>
              </a:rPr>
              <a:t>Dolor principal: </a:t>
            </a:r>
            <a:r>
              <a:rPr sz="950">
                <a:solidFill>
                  <a:srgbClr val="0F172A"/>
                </a:solidFill>
              </a:rPr>
              <a:t>Sale a las 5:20 am para llegar a las 7:00 am en TransMilenio (100 min) expuesta a hurtos.</a:t>
            </a:r>
          </a:p>
          <a:p>
            <a:pPr>
              <a:spcAft>
                <a:spcPts val="500"/>
              </a:spcAft>
            </a:pPr>
            <a:r>
              <a:rPr b="1" sz="950">
                <a:solidFill>
                  <a:srgbClr val="003366"/>
                </a:solidFill>
              </a:rPr>
              <a:t>Objetivo: </a:t>
            </a:r>
            <a:r>
              <a:rPr sz="950">
                <a:solidFill>
                  <a:srgbClr val="0F172A"/>
                </a:solidFill>
              </a:rPr>
              <a:t>Asegurar su cupo la noche anterior, reducir su viaje a 40 min y viajar con personas de confianza.</a:t>
            </a:r>
          </a:p>
          <a:p>
            <a:pPr>
              <a:spcAft>
                <a:spcPts val="500"/>
              </a:spcAft>
            </a:pPr>
            <a:r>
              <a:rPr b="1" sz="950">
                <a:solidFill>
                  <a:srgbClr val="003366"/>
                </a:solidFill>
              </a:rPr>
              <a:t>Requisitos indispensables: </a:t>
            </a:r>
            <a:r>
              <a:rPr sz="950">
                <a:solidFill>
                  <a:srgbClr val="0F172A"/>
                </a:solidFill>
              </a:rPr>
              <a:t>Filtro de viaje 'Solo Chicas', horario garantizado y tarifa fija accesible de $8.000 COP.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800600"/>
            <a:ext cx="1069848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965192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Calibri"/>
              </a:defRPr>
            </a:pPr>
            <a:r>
              <a:t>Primeros 10 Clientes Reales Validados en Campo (Aulet, Paso 9)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21208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F172A"/>
                </a:solidFill>
                <a:latin typeface="Calibri"/>
              </a:defRPr>
            </a:pPr>
            <a:r>
              <a:t>Identificados con código de protección de datos: E1 (Derecho, Cll 80, 95% prob.), E2 (Datos, Facatativá, 99%), E3 (Adm., Suba, 90%), E4 (Enfermería, Bosa, 85%), E5 (Conductor, Cedritos, 95%), E6 (Derecho, San Cristóbal, 90%), E7 (Conductor, Salitre, 99%), E8 (Com. Social, Colina, 85%), E9 (Derecho, Timiza, 100%), E10 (Ing. Ind., Chapinero, 90%). 8 formalizaron compromiso para el MVP.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E87722"/>
                </a:solidFill>
                <a:latin typeface="Calibri"/>
              </a:defRPr>
            </a:pPr>
            <a:r>
              <a:t>PASO 4: TAMAÑO DE MERCADO (AULET)</a:t>
            </a:r>
          </a:p>
          <a:p>
            <a:pPr>
              <a:defRPr sz="2000" b="1">
                <a:solidFill>
                  <a:srgbClr val="003366"/>
                </a:solidFill>
                <a:latin typeface="Calibri"/>
              </a:defRPr>
            </a:pPr>
            <a:r>
              <a:t>Dimensionamiento del Mercado Total (TAM) — Top-Down y Bottom-Up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Wheels Externado • Portafolio de Evidencias No. 4 • Universidad Externado de Colombia | Diapositiva 5/14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36192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Calibri"/>
              </a:defRPr>
            </a:pPr>
            <a:r>
              <a:t>Enfoque Top-Down: Universidades Cerros Orientales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000">
                <a:solidFill>
                  <a:srgbClr val="003366"/>
                </a:solidFill>
              </a:rPr>
              <a:t>Universo Estudiantil Regional: </a:t>
            </a:r>
            <a:r>
              <a:rPr sz="1000">
                <a:solidFill>
                  <a:srgbClr val="0F172A"/>
                </a:solidFill>
              </a:rPr>
              <a:t>65.000 estudiantes matriculados en universidades de la zona centro-oriental (Externado, Andes, Rosario, América, Central).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03366"/>
                </a:solidFill>
              </a:rPr>
              <a:t>Tasa de Adopción Potencial en Carpooling: </a:t>
            </a:r>
            <a:r>
              <a:rPr sz="1000">
                <a:solidFill>
                  <a:srgbClr val="0F172A"/>
                </a:solidFill>
              </a:rPr>
              <a:t>15% de la población estudiantil movilizándose en viajes compartidos = 9.750 viajes diarios.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03366"/>
                </a:solidFill>
              </a:rPr>
              <a:t>Días de Operación Académica: </a:t>
            </a:r>
            <a:r>
              <a:rPr sz="1000">
                <a:solidFill>
                  <a:srgbClr val="0F172A"/>
                </a:solidFill>
              </a:rPr>
              <a:t>160 días efectivos de clase al año (32 semanas de calendario presencial).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03366"/>
                </a:solidFill>
              </a:rPr>
              <a:t>Comisión Bruta Diaria: </a:t>
            </a:r>
            <a:r>
              <a:rPr sz="1000">
                <a:solidFill>
                  <a:srgbClr val="0F172A"/>
                </a:solidFill>
              </a:rPr>
              <a:t>$2.000 COP promedio por viaje de intermediación.</a:t>
            </a:r>
          </a:p>
          <a:p>
            <a:pPr>
              <a:spcBef>
                <a:spcPts val="1200"/>
              </a:spcBef>
            </a:pPr>
            <a:r>
              <a:rPr b="1" sz="1100">
                <a:solidFill>
                  <a:srgbClr val="E87722"/>
                </a:solidFill>
              </a:rPr>
              <a:t>TAM Regional Top-Down:
</a:t>
            </a:r>
            <a:r>
              <a:rPr b="1" sz="1200">
                <a:solidFill>
                  <a:srgbClr val="003366"/>
                </a:solidFill>
              </a:rPr>
              <a:t>9.750 viajes/día × $2.000 COP × 160 días =
$3.120 MILLONES COP/AÑO  (~ $780.000 USD/AÑO)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36192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Calibri"/>
              </a:defRPr>
            </a:pPr>
            <a:r>
              <a:t>Enfoque Bottom-Up: Beachhead Cautivo Externado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000">
                <a:solidFill>
                  <a:srgbClr val="003366"/>
                </a:solidFill>
              </a:rPr>
              <a:t>Población Cautiva Externadista: </a:t>
            </a:r>
            <a:r>
              <a:rPr sz="1000">
                <a:solidFill>
                  <a:srgbClr val="0F172A"/>
                </a:solidFill>
              </a:rPr>
              <a:t>12.000 estudiantes activos de pregrado y posgrado en la sede La Candelaria.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03366"/>
                </a:solidFill>
              </a:rPr>
              <a:t>Población en Corredores Críticos: </a:t>
            </a:r>
            <a:r>
              <a:rPr sz="1000">
                <a:solidFill>
                  <a:srgbClr val="0F172A"/>
                </a:solidFill>
              </a:rPr>
              <a:t>20% reside en zonas de alta congestión (Calle 80, Suba, Kennedy, Bosa, Fontibón) = 2.400 estudiantes activos.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03366"/>
                </a:solidFill>
              </a:rPr>
              <a:t>Frecuencia Anual de Uso: </a:t>
            </a:r>
            <a:r>
              <a:rPr sz="1000">
                <a:solidFill>
                  <a:srgbClr val="0F172A"/>
                </a:solidFill>
              </a:rPr>
              <a:t>4 días por semana (8 viajes/semana × 32 semanas de clase) = 256 viajes anuales por usuario activo.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03366"/>
                </a:solidFill>
              </a:rPr>
              <a:t>Comisión Neta por Viaje: </a:t>
            </a:r>
            <a:r>
              <a:rPr sz="1000">
                <a:solidFill>
                  <a:srgbClr val="0F172A"/>
                </a:solidFill>
              </a:rPr>
              <a:t>$1.000 COP de margen neto de servicio de la plataforma.</a:t>
            </a:r>
          </a:p>
          <a:p>
            <a:pPr>
              <a:spcBef>
                <a:spcPts val="1200"/>
              </a:spcBef>
            </a:pPr>
            <a:r>
              <a:rPr b="1" sz="1100">
                <a:solidFill>
                  <a:srgbClr val="E87722"/>
                </a:solidFill>
              </a:rPr>
              <a:t>TAM Beachhead Bottom-Up:
</a:t>
            </a:r>
            <a:r>
              <a:rPr b="1" sz="1200">
                <a:solidFill>
                  <a:srgbClr val="003366"/>
                </a:solidFill>
              </a:rPr>
              <a:t>2.400 usuarios × 256 viajes/año × $1.000 COP =
$614.400.000 COP/AÑO  (~ $153.600 USD/AÑO)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E87722"/>
                </a:solidFill>
                <a:latin typeface="Calibri"/>
              </a:defRPr>
            </a:pPr>
            <a:r>
              <a:t>PASO 10 DE AULET: VENTAJA DEFENSIVA</a:t>
            </a:r>
          </a:p>
          <a:p>
            <a:pPr>
              <a:defRPr sz="2000" b="1">
                <a:solidFill>
                  <a:srgbClr val="003366"/>
                </a:solidFill>
                <a:latin typeface="Calibri"/>
              </a:defRPr>
            </a:pPr>
            <a:r>
              <a:t>Propuesta de Valor Multidimensional y Core Inimitable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Wheels Externado • Portafolio de Evidencias No. 4 • Universidad Externado de Colombia | Diapositiva 6/14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69848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36192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Calibri"/>
              </a:defRPr>
            </a:pPr>
            <a:r>
              <a:t>1. Core Inimitable / Foso Defensivo (Aulet, Paso 10)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  <a:latin typeface="Calibri"/>
              </a:defRPr>
            </a:pPr>
            <a:r>
              <a:t>• Red hiperlocal de confianza cerrada con verificación federada institucional (@uexternado.edu.co).</a:t>
            </a:r>
            <a:br/>
            <a:r>
              <a:t>• Algoritmo de coincidencia espacial sincronizado exclusivamente a bloques académicos (7 am, 9 am).</a:t>
            </a:r>
            <a:br/>
            <a:r>
              <a:t>• Inmunidad competitiva: Apps masivas abiertas (Uber, InDrive) no pueden restringir su oferta a un campus sin quebrar su economía de escala.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17520"/>
            <a:ext cx="1069848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182112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Calibri"/>
              </a:defRPr>
            </a:pPr>
            <a:r>
              <a:t>2. Valor Entregado Directamente a los Usuarios (Pasajeros y Conductores)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4290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  <a:latin typeface="Calibri"/>
              </a:defRPr>
            </a:pPr>
            <a:r>
              <a:t>• Al Pasajero: Ahorro de 10 horas semanales de viaje; ahorro de $17.000-$37.000 COP por trayecto frente al taxi; cupo asegurado la noche previa.</a:t>
            </a:r>
            <a:br/>
            <a:r>
              <a:t>• Al Conductor: Amortización de $20.400 a $27.200 COP diarios, cubriendo el parqueadero del Externado ($22.000 COP) y combustible sin fricción de efectivo.</a:t>
            </a:r>
            <a:br/>
            <a:r>
              <a:t>• Seguridad Psicológica: Erradicación del acoso y viaje seguro garantizado con la opción 'Solo Chicas'.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663440"/>
            <a:ext cx="1069848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828032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Calibri"/>
              </a:defRPr>
            </a:pPr>
            <a:r>
              <a:t>3. Valor Compartido con la Sociedad y la Universidad Externado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749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  <a:latin typeface="Calibri"/>
              </a:defRPr>
            </a:pPr>
            <a:r>
              <a:t>• Descongestión Urbana: Retiro de más de 150 vehículos individuales diarios que ascienden por la Circunvalar hacia La Candelaria.</a:t>
            </a:r>
            <a:br/>
            <a:r>
              <a:t>• Huella de Carbono: Incremento del factor de ocupación de 1,3 a 3,5 ocupantes por auto, evitando &gt;45 toneladas de CO2 al año.</a:t>
            </a:r>
            <a:br/>
            <a:r>
              <a:t>• Capital Social Institucional: Fortalecimiento de la cohesión comunitaria y redes de networking interdisciplinario entre facultades.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E87722"/>
                </a:solidFill>
                <a:latin typeface="Calibri"/>
              </a:defRPr>
            </a:pPr>
            <a:r>
              <a:t>LIENZO DE MODELO DE NEGOCIO CONSOLIDADO</a:t>
            </a:r>
          </a:p>
          <a:p>
            <a:pPr>
              <a:defRPr sz="2000" b="1">
                <a:solidFill>
                  <a:srgbClr val="003366"/>
                </a:solidFill>
                <a:latin typeface="Calibri"/>
              </a:defRPr>
            </a:pPr>
            <a:r>
              <a:t>Business Model Canvas (BMC) de Wheels Externado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Wheels Externado • Portafolio de Evidencias No. 4 • Universidad Externado de Colombia | Diapositiva 7/14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011680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36192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Calibri"/>
              </a:defRPr>
            </a:pPr>
            <a:r>
              <a:t>8. Socios Clave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1755648"/>
            <a:ext cx="1792224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0F172A"/>
                </a:solidFill>
                <a:latin typeface="Calibri"/>
              </a:defRPr>
            </a:pPr>
            <a:r>
              <a:t>• Univ. Externado (Bienestar).</a:t>
            </a:r>
            <a:br/>
            <a:r>
              <a:t>• Admins chats WhatsApp.</a:t>
            </a:r>
            <a:br/>
            <a:r>
              <a:t>• Pasarelas Nequi/Wompi.</a:t>
            </a:r>
            <a:br/>
            <a:r>
              <a:t>• Pólizas de asistencia vial.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1371600"/>
            <a:ext cx="201168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7520" y="1536192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Calibri"/>
              </a:defRPr>
            </a:pPr>
            <a:r>
              <a:t>7. Actividades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44368" y="1755648"/>
            <a:ext cx="179222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0F172A"/>
                </a:solidFill>
                <a:latin typeface="Calibri"/>
              </a:defRPr>
            </a:pPr>
            <a:r>
              <a:t>• Matching predictivo.</a:t>
            </a:r>
            <a:br/>
            <a:r>
              <a:t>• Verificación @uexternado.</a:t>
            </a:r>
            <a:br/>
            <a:r>
              <a:t>• Dispersión pagos diaria.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40" y="2971800"/>
            <a:ext cx="201168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17520" y="3136392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Calibri"/>
              </a:defRPr>
            </a:pPr>
            <a:r>
              <a:t>6. Recursos Clave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44368" y="3355848"/>
            <a:ext cx="179222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0F172A"/>
                </a:solidFill>
                <a:latin typeface="Calibri"/>
              </a:defRPr>
            </a:pPr>
            <a:r>
              <a:t>• Algoritmo de ruteo.</a:t>
            </a:r>
            <a:br/>
            <a:r>
              <a:t>• Capa elástica cloud.</a:t>
            </a:r>
            <a:br/>
            <a:r>
              <a:t>• Base de usuarios cautiva.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7760" y="1371600"/>
            <a:ext cx="2286000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0" y="1536192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Calibri"/>
              </a:defRPr>
            </a:pPr>
            <a:r>
              <a:t>2. Propuesta de Valor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488" y="1755648"/>
            <a:ext cx="2066544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0F172A"/>
                </a:solidFill>
                <a:latin typeface="Calibri"/>
              </a:defRPr>
            </a:pPr>
            <a:r>
              <a:t>• Cupo garantizado noche previa.</a:t>
            </a:r>
            <a:br/>
            <a:r>
              <a:t>• 100% comunidad verificada.</a:t>
            </a:r>
            <a:br/>
            <a:r>
              <a:t>• Liquidación instantánea al conductor ($6.800).</a:t>
            </a:r>
            <a:br/>
            <a:r>
              <a:t>• Viaje seguro 'Solo Chicas'.</a:t>
            </a:r>
            <a:br/>
            <a:r>
              <a:t>• Amortiza parqueo ($22k).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1371600"/>
            <a:ext cx="201168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0" y="1536192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Calibri"/>
              </a:defRPr>
            </a:pPr>
            <a:r>
              <a:t>4. Relación Clientes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8" y="1755648"/>
            <a:ext cx="179222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0F172A"/>
                </a:solidFill>
                <a:latin typeface="Calibri"/>
              </a:defRPr>
            </a:pPr>
            <a:r>
              <a:t>• Confianza institucional.</a:t>
            </a:r>
            <a:br/>
            <a:r>
              <a:t>• Garantía anti-ghosting.</a:t>
            </a:r>
            <a:br/>
            <a:r>
              <a:t>• Soporte WhatsApp híbrido.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0" y="2971800"/>
            <a:ext cx="201168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0" y="3136392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Calibri"/>
              </a:defRPr>
            </a:pPr>
            <a:r>
              <a:t>3. Canales de Venta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24928" y="3355848"/>
            <a:ext cx="179222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0F172A"/>
                </a:solidFill>
                <a:latin typeface="Calibri"/>
              </a:defRPr>
            </a:pPr>
            <a:r>
              <a:t>• Activación guerrilla campus.</a:t>
            </a:r>
            <a:br/>
            <a:r>
              <a:t>• Inducciones universitarias.</a:t>
            </a:r>
            <a:br/>
            <a:r>
              <a:t>• Referidos comunitarios.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418320" y="1371600"/>
            <a:ext cx="2011680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0" y="1536192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Calibri"/>
              </a:defRPr>
            </a:pPr>
            <a:r>
              <a:t>1. Segmentos Clientes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28048" y="1755648"/>
            <a:ext cx="1792224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0F172A"/>
                </a:solidFill>
                <a:latin typeface="Calibri"/>
              </a:defRPr>
            </a:pPr>
            <a:r>
              <a:t>• Pasajeros en corredores críticos (&gt;60 min).</a:t>
            </a:r>
            <a:br/>
            <a:r>
              <a:t>• Conductores externadistas amortizadores.</a:t>
            </a:r>
            <a:br/>
            <a:r>
              <a:t>• Primeros 10 validados en Campo 2 (E1-E10).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4572000"/>
            <a:ext cx="530352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4736592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Calibri"/>
              </a:defRPr>
            </a:pPr>
            <a:r>
              <a:t>9. Estructura de Costos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" y="4956048"/>
            <a:ext cx="508406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0F172A"/>
                </a:solidFill>
                <a:latin typeface="Calibri"/>
              </a:defRPr>
            </a:pPr>
            <a:r>
              <a:t>• Costos Fijos: Infraestructura cloud ($280k/mes) + APIs mapas ($120k/mes) + licencias dev ($65k/mes) = $465.000 COP/mes.</a:t>
            </a:r>
            <a:br/>
            <a:r>
              <a:t>• Costos Variables: Pasarela de pagos ($200 COP/transacción) + CAC guerrilla ($6.000 COP/cliente).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4572000"/>
            <a:ext cx="521208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4736592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Calibri"/>
              </a:defRPr>
            </a:pPr>
            <a:r>
              <a:t>5. Fuentes de Ingresos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7648" y="4956048"/>
            <a:ext cx="499262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0F172A"/>
                </a:solidFill>
                <a:latin typeface="Calibri"/>
              </a:defRPr>
            </a:pPr>
            <a:r>
              <a:t>• Take-Rate Transaccional: $1.200 COP por cupo (15% sobre tarifa de $8.000 COP).</a:t>
            </a:r>
            <a:br/>
            <a:r>
              <a:t>• El pasajero paga $8.000 digital; el conductor recibe $6.800 netos; margen bruto plataforma = $1.000 COP (83,3%).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E87722"/>
                </a:solidFill>
                <a:latin typeface="Calibri"/>
              </a:defRPr>
            </a:pPr>
            <a:r>
              <a:t>PASOS 15 Y 16: MODELO DE NEGOCIO Y FIJACIÓN DE PRECIOS</a:t>
            </a:r>
          </a:p>
          <a:p>
            <a:pPr>
              <a:defRPr sz="2000" b="1">
                <a:solidFill>
                  <a:srgbClr val="003366"/>
                </a:solidFill>
                <a:latin typeface="Calibri"/>
              </a:defRPr>
            </a:pPr>
            <a:r>
              <a:t>Modelo de Monetización y Unit Economics por Viaje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Wheels Externado • Portafolio de Evidencias No. 4 • Universidad Externado de Colombia | Diapositiva 8/14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4864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36192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Calibri"/>
              </a:defRPr>
            </a:pPr>
            <a:r>
              <a:t>Desglose Financiero de Cada Viaje de $8.000 COP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5120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050">
                <a:solidFill>
                  <a:srgbClr val="003366"/>
                </a:solidFill>
              </a:rPr>
              <a:t>TARIFA TOTAL AL PASAJERO: $8.000 COP (100%)
</a:t>
            </a:r>
            <a:r>
              <a:rPr sz="950">
                <a:solidFill>
                  <a:srgbClr val="0F172A"/>
                </a:solidFill>
              </a:rPr>
              <a:t>WTP validado en 12 entrevistas de Campo 2. Ahorra $22k frente a taxi.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003366"/>
                </a:solidFill>
              </a:rPr>
              <a:t>(-) Transferencia al Conductor: $6.800 COP (85%)
</a:t>
            </a:r>
            <a:r>
              <a:rPr sz="950">
                <a:solidFill>
                  <a:srgbClr val="0F172A"/>
                </a:solidFill>
              </a:rPr>
              <a:t>Amortiza parqueadero institucional ($22k) con 3 o 4 pasajeros diarios.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003366"/>
                </a:solidFill>
              </a:rPr>
              <a:t>(=) Ingreso Bruto Plataforma (Take Rate): $1.200 COP (15%)
</a:t>
            </a:r>
            <a:r>
              <a:rPr sz="950">
                <a:solidFill>
                  <a:srgbClr val="0F172A"/>
                </a:solidFill>
              </a:rPr>
              <a:t>Comisión competitiva de intermediación frente al 25%-30% de Uber/InDrive.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003366"/>
                </a:solidFill>
              </a:rPr>
              <a:t>(-) Costo Pasarela API + Cloud: $200 COP (2,5%)
</a:t>
            </a:r>
            <a:r>
              <a:rPr sz="950">
                <a:solidFill>
                  <a:srgbClr val="0F172A"/>
                </a:solidFill>
              </a:rPr>
              <a:t>Tarifa de agregador Nequi/Wompi ($150) + cloud elástico por tx ($50).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E87722"/>
                </a:solidFill>
              </a:rPr>
              <a:t>(=) MARGEN BRUTO DE SERVICIO: $1.000 COP (83,33%)
</a:t>
            </a:r>
            <a:r>
              <a:rPr sz="950">
                <a:solidFill>
                  <a:srgbClr val="0F172A"/>
                </a:solidFill>
              </a:rPr>
              <a:t>Ganancia neta por viaje completado disponible para costos fijos y marketing.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371600"/>
            <a:ext cx="50292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536192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Calibri"/>
              </a:defRPr>
            </a:pPr>
            <a:r>
              <a:t>Sustentación con Datos y Frecuencia Anual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20240"/>
            <a:ext cx="46634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000">
                <a:solidFill>
                  <a:srgbClr val="003366"/>
                </a:solidFill>
              </a:rPr>
              <a:t>Disposición a Pagar Empírica: </a:t>
            </a:r>
            <a:r>
              <a:rPr sz="950">
                <a:solidFill>
                  <a:srgbClr val="0F172A"/>
                </a:solidFill>
              </a:rPr>
              <a:t>Los estudiantes pagan hoy $6.000 en WhatsApp y declararon pagar hasta $8.000-$10.000 por seguridad y cupo asegurado.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03366"/>
                </a:solidFill>
              </a:rPr>
              <a:t>Volumen Anual por Estudiante Activo: </a:t>
            </a:r>
            <a:r>
              <a:rPr sz="950">
                <a:solidFill>
                  <a:srgbClr val="0F172A"/>
                </a:solidFill>
              </a:rPr>
              <a:t>4 viajes/semana × 32 semanas académicas = 128 viajes anuales por usuario.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03366"/>
                </a:solidFill>
              </a:rPr>
              <a:t>Ingreso Anual Bruto por Cliente: </a:t>
            </a:r>
            <a:r>
              <a:rPr sz="950">
                <a:solidFill>
                  <a:srgbClr val="0F172A"/>
                </a:solidFill>
              </a:rPr>
              <a:t>128 viajes × $1.200 COP = $153.600 COP / año.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03366"/>
                </a:solidFill>
              </a:rPr>
              <a:t>Margen Bruto Anual por Cliente: </a:t>
            </a:r>
            <a:r>
              <a:rPr sz="950">
                <a:solidFill>
                  <a:srgbClr val="0F172A"/>
                </a:solidFill>
              </a:rPr>
              <a:t>128 viajes × $1.000 COP = $128.000 COP / año.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03366"/>
                </a:solidFill>
              </a:rPr>
              <a:t>Cero Barrera de Entrada: </a:t>
            </a:r>
            <a:r>
              <a:rPr sz="950">
                <a:solidFill>
                  <a:srgbClr val="0F172A"/>
                </a:solidFill>
              </a:rPr>
              <a:t>Sin membresías fijas ni mensualidades. Solo se cobra cuando el viaje se realiza y se completa con éxito.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E87722"/>
                </a:solidFill>
                <a:latin typeface="Calibri"/>
              </a:defRPr>
            </a:pPr>
            <a:r>
              <a:t>PASO 17 DE AULET: LIFETIME VALUE</a:t>
            </a:r>
          </a:p>
          <a:p>
            <a:pPr>
              <a:defRPr sz="2000" b="1">
                <a:solidFill>
                  <a:srgbClr val="003366"/>
                </a:solidFill>
                <a:latin typeface="Calibri"/>
              </a:defRPr>
            </a:pPr>
            <a:r>
              <a:t>Valor de Vida del Cliente (LTV) — Modelación a 5 Años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Wheels Externado • Portafolio de Evidencias No. 4 • Universidad Externado de Colombia | Diapositiva 9/14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328416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36192"/>
            <a:ext cx="2962656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Calibri"/>
              </a:defRPr>
            </a:pPr>
            <a:r>
              <a:t>Escenario Pesimista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296265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  <a:latin typeface="Calibri"/>
              </a:defRPr>
            </a:pPr>
            <a:r>
              <a:t>SUPUESTOS:</a:t>
            </a:r>
            <a:br/>
            <a:r>
              <a:t>• 3 viajes/semana (84 al año)</a:t>
            </a:r>
            <a:br/>
            <a:r>
              <a:t>• Margen Bruto: 75,0%</a:t>
            </a:r>
            <a:br/>
            <a:r>
              <a:t>• Retención Anual: 70,0%</a:t>
            </a:r>
            <a:br/>
            <a:r>
              <a:t>• Costo de Capital: r = 50%</a:t>
            </a:r>
            <a:br/>
            <a:br/>
            <a:r>
              <a:t>LTV CALCULADO (5 AÑOS):</a:t>
            </a:r>
            <a:br/>
          </a:p>
          <a:p>
            <a:pPr>
              <a:defRPr sz="2200" b="1">
                <a:solidFill>
                  <a:srgbClr val="003366"/>
                </a:solidFill>
                <a:latin typeface="Calibri"/>
              </a:defRPr>
            </a:pPr>
            <a:r>
              <a:t>$92.408 COP</a:t>
            </a:r>
          </a:p>
          <a:p>
            <a:br/>
            <a:pPr>
              <a:defRPr sz="1000" b="1">
                <a:solidFill>
                  <a:srgbClr val="64748B"/>
                </a:solidFill>
                <a:latin typeface="Calibri"/>
              </a:defRPr>
            </a:pPr>
            <a:r>
              <a:t>CAC Máximo Viable (LTV/3):</a:t>
            </a:r>
            <a:br/>
            <a:r>
              <a:t>$30.803 COP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1371600"/>
            <a:ext cx="3328416" cy="475488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E877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08576" y="1536192"/>
            <a:ext cx="2962656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Calibri"/>
              </a:defRPr>
            </a:pPr>
            <a:r>
              <a:t>Escenario Esperado (Base)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08576" y="1920240"/>
            <a:ext cx="296265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  <a:latin typeface="Calibri"/>
              </a:defRPr>
            </a:pPr>
            <a:r>
              <a:t>SUPUESTOS BASE:</a:t>
            </a:r>
            <a:br/>
            <a:r>
              <a:t>• 4 viajes/semana (128 al año)</a:t>
            </a:r>
            <a:br/>
            <a:r>
              <a:t>• Margen Bruto: 83,3%</a:t>
            </a:r>
            <a:br/>
            <a:r>
              <a:t>• Retención Anual: 80,0%</a:t>
            </a:r>
            <a:br/>
            <a:r>
              <a:t>• Costo de Capital: r = 50%</a:t>
            </a:r>
            <a:br/>
            <a:br/>
            <a:r>
              <a:t>LTV CALCULADO (5 AÑOS):</a:t>
            </a:r>
            <a:br/>
          </a:p>
          <a:p>
            <a:pPr>
              <a:defRPr sz="2400" b="1">
                <a:solidFill>
                  <a:srgbClr val="E87722"/>
                </a:solidFill>
                <a:latin typeface="Calibri"/>
              </a:defRPr>
            </a:pPr>
            <a:r>
              <a:t>$174.897 COP</a:t>
            </a:r>
          </a:p>
          <a:p>
            <a:br/>
            <a:pPr>
              <a:defRPr sz="1000" b="1">
                <a:solidFill>
                  <a:srgbClr val="003366"/>
                </a:solidFill>
                <a:latin typeface="Calibri"/>
              </a:defRPr>
            </a:pPr>
            <a:r>
              <a:t>CAC Máximo Viable (LTV/3):</a:t>
            </a:r>
            <a:br/>
            <a:r>
              <a:t>$58.299 COP</a:t>
            </a:r>
            <a:br/>
            <a:br/>
            <a:r>
              <a:t>*Con Deuda (r=12%): LTV = $325.496 COP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9872" y="1371600"/>
            <a:ext cx="3328416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2752" y="1536192"/>
            <a:ext cx="2962656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Calibri"/>
              </a:defRPr>
            </a:pPr>
            <a:r>
              <a:t>Escenario Optimista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02752" y="1920240"/>
            <a:ext cx="296265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  <a:latin typeface="Calibri"/>
              </a:defRPr>
            </a:pPr>
            <a:r>
              <a:t>SUPUESTOS:</a:t>
            </a:r>
            <a:br/>
            <a:r>
              <a:t>• 6 viajes/semana (204 al año)</a:t>
            </a:r>
            <a:br/>
            <a:r>
              <a:t>• Margen Bruto: 85,0%</a:t>
            </a:r>
            <a:br/>
            <a:r>
              <a:t>• Retención Anual: 85,0%</a:t>
            </a:r>
            <a:br/>
            <a:r>
              <a:t>• Costo de Capital: r = 50%</a:t>
            </a:r>
            <a:br/>
            <a:br/>
            <a:r>
              <a:t>LTV CALCULADO (5 AÑOS):</a:t>
            </a:r>
            <a:br/>
          </a:p>
          <a:p>
            <a:pPr>
              <a:defRPr sz="2200" b="1">
                <a:solidFill>
                  <a:srgbClr val="003366"/>
                </a:solidFill>
                <a:latin typeface="Calibri"/>
              </a:defRPr>
            </a:pPr>
            <a:r>
              <a:t>$301.418 COP</a:t>
            </a:r>
          </a:p>
          <a:p>
            <a:br/>
            <a:pPr>
              <a:defRPr sz="1000" b="1">
                <a:solidFill>
                  <a:srgbClr val="64748B"/>
                </a:solidFill>
                <a:latin typeface="Calibri"/>
              </a:defRPr>
            </a:pPr>
            <a:r>
              <a:t>CAC Máximo Viable (LTV/3):</a:t>
            </a:r>
            <a:br/>
            <a:r>
              <a:t>$100.473 COP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E87722"/>
                </a:solidFill>
                <a:latin typeface="Calibri"/>
              </a:defRPr>
            </a:pPr>
            <a:r>
              <a:t>PASO 19 DE AULET: COST OF CUSTOMER ACQUISITION</a:t>
            </a:r>
          </a:p>
          <a:p>
            <a:pPr>
              <a:defRPr sz="2000" b="1">
                <a:solidFill>
                  <a:srgbClr val="003366"/>
                </a:solidFill>
                <a:latin typeface="Calibri"/>
              </a:defRPr>
            </a:pPr>
            <a:r>
              <a:t>Costo de Adquisición de Clientes (CAC) por Horizontes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Wheels Externado • Portafolio de Evidencias No. 4 • Universidad Externado de Colombia | Diapositiva 10/14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69848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36192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Calibri"/>
              </a:defRPr>
            </a:pPr>
            <a:r>
              <a:t>Corto Plazo (Año 1) — Adquisición Guerrilla en Campus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23774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3366"/>
                </a:solidFill>
                <a:latin typeface="Calibri"/>
              </a:defRPr>
            </a:pPr>
            <a:r>
              <a:t>$6.000 COP</a:t>
            </a:r>
          </a:p>
          <a:p>
            <a:pPr>
              <a:defRPr sz="950">
                <a:solidFill>
                  <a:srgbClr val="E87722"/>
                </a:solidFill>
                <a:latin typeface="Calibri"/>
              </a:defRPr>
            </a:pPr>
            <a:r>
              <a:t>Rango: $4.000 - $8.000 COP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178308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F172A"/>
                </a:solidFill>
                <a:latin typeface="Calibri"/>
              </a:defRPr>
            </a:pPr>
            <a:r>
              <a:t>• Estrategia: Venta directa en campus por fundadores, stands en plazoletas y migración asistida de 4 grupos de WhatsApp.</a:t>
            </a:r>
            <a:br/>
            <a:r>
              <a:t>• Gastos: $600.000 COP (material POP, stickers QR) + $1.200.000 COP (tiempo comercial de fundadores) = $1.800.000 COP.</a:t>
            </a:r>
            <a:br/>
            <a:r>
              <a:t>• Nuevos Clientes: 300 estudiantes activos adquiridos.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017520"/>
            <a:ext cx="1069848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182112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Calibri"/>
              </a:defRPr>
            </a:pPr>
            <a:r>
              <a:t>Mediano Plazo (Años 2 y 3) — Alianzas Institucionales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429000"/>
            <a:ext cx="23774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3366"/>
                </a:solidFill>
                <a:latin typeface="Calibri"/>
              </a:defRPr>
            </a:pPr>
            <a:r>
              <a:t>$3.125 COP</a:t>
            </a:r>
          </a:p>
          <a:p>
            <a:pPr>
              <a:defRPr sz="950">
                <a:solidFill>
                  <a:srgbClr val="E87722"/>
                </a:solidFill>
                <a:latin typeface="Calibri"/>
              </a:defRPr>
            </a:pPr>
            <a:r>
              <a:t>Rango: $2.500 - $4.500 COP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3429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F172A"/>
                </a:solidFill>
                <a:latin typeface="Calibri"/>
              </a:defRPr>
            </a:pPr>
            <a:r>
              <a:t>• Estrategia: Presencia oficial en semanas de inducción de Bienestar Universitario y embajadores remunerados por facultad.</a:t>
            </a:r>
            <a:br/>
            <a:r>
              <a:t>• Gastos: $2.500.000 COP anuales en incentivos y material institucional.</a:t>
            </a:r>
            <a:br/>
            <a:r>
              <a:t>• Nuevos Clientes: 800 estudiantes por año.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63440"/>
            <a:ext cx="1069848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828032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Calibri"/>
              </a:defRPr>
            </a:pPr>
            <a:r>
              <a:t>Largo Plazo (Años 4 y 5) — Madurez y Viralidad Orgánica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074920"/>
            <a:ext cx="23774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3366"/>
                </a:solidFill>
                <a:latin typeface="Calibri"/>
              </a:defRPr>
            </a:pPr>
            <a:r>
              <a:t>$1.666 COP</a:t>
            </a:r>
          </a:p>
          <a:p>
            <a:pPr>
              <a:defRPr sz="950">
                <a:solidFill>
                  <a:srgbClr val="E87722"/>
                </a:solidFill>
                <a:latin typeface="Calibri"/>
              </a:defRPr>
            </a:pPr>
            <a:r>
              <a:t>Rango: $1.200 - $2.200 COP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507492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F172A"/>
                </a:solidFill>
                <a:latin typeface="Calibri"/>
              </a:defRPr>
            </a:pPr>
            <a:r>
              <a:t>• Estrategia: Efecto de red comunitario, recomendación boca a boca entre compañeros y programa de referidos digitales.</a:t>
            </a:r>
            <a:br/>
            <a:r>
              <a:t>• Gastos: $2.000.000 COP anuales en bonos y descuentos para referidos.</a:t>
            </a:r>
            <a:br/>
            <a:r>
              <a:t>• Nuevos Clientes: 1.200 estudiantes por año.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E87722"/>
                </a:solidFill>
                <a:latin typeface="Calibri"/>
              </a:defRPr>
            </a:pPr>
            <a:r>
              <a:t>LA COMPARACIÓN DEFINITIVA (AULET, PASO 19)</a:t>
            </a:r>
          </a:p>
          <a:p>
            <a:pPr>
              <a:defRPr sz="2000" b="1">
                <a:solidFill>
                  <a:srgbClr val="003366"/>
                </a:solidFill>
                <a:latin typeface="Calibri"/>
              </a:defRPr>
            </a:pPr>
            <a:r>
              <a:t>Prueba de Sostenibilidad: Cumplimiento de la Regla de las 3X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Wheels Externado • Portafolio de Evidencias No. 4 • Universidad Externado de Colombia | Diapositiva 11/14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328416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36192"/>
            <a:ext cx="2962656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Calibri"/>
              </a:defRPr>
            </a:pPr>
            <a:r>
              <a:t>Corto Plazo (Año 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9626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Calibri"/>
              </a:defRPr>
            </a:pPr>
            <a:r>
              <a:t>Razón LTV / CAC:</a:t>
            </a:r>
          </a:p>
          <a:p>
            <a:pPr>
              <a:defRPr sz="2800" b="1">
                <a:solidFill>
                  <a:srgbClr val="E87722"/>
                </a:solidFill>
                <a:latin typeface="Calibri"/>
              </a:defRPr>
            </a:pPr>
            <a:r>
              <a:t>29,15 x</a:t>
            </a:r>
          </a:p>
          <a:p>
            <a:pPr>
              <a:defRPr sz="950">
                <a:solidFill>
                  <a:srgbClr val="0F172A"/>
                </a:solidFill>
                <a:latin typeface="Calibri"/>
              </a:defRPr>
            </a:pPr>
            <a:r>
              <a:t>LTV ($174.897) / CAC ($6.000)</a:t>
            </a:r>
            <a:br/>
            <a:r>
              <a:t>Supera por casi 10x el umbral de 3X.</a:t>
            </a:r>
            <a:br/>
            <a:r>
              <a:t>Estado: </a:t>
            </a:r>
            <a:r>
              <a:rPr b="1">
                <a:solidFill>
                  <a:srgbClr val="16A34A"/>
                </a:solidFill>
              </a:rPr>
              <a:t>CUMPLE HOLGADAMENTE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1371600"/>
            <a:ext cx="3328416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08576" y="1536192"/>
            <a:ext cx="2962656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Calibri"/>
              </a:defRPr>
            </a:pPr>
            <a:r>
              <a:t>Mediano Plazo (Años 2-3)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08576" y="1874519"/>
            <a:ext cx="29626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Calibri"/>
              </a:defRPr>
            </a:pPr>
            <a:r>
              <a:t>Razón LTV / CAC:</a:t>
            </a:r>
          </a:p>
          <a:p>
            <a:pPr>
              <a:defRPr sz="2800" b="1">
                <a:solidFill>
                  <a:srgbClr val="E87722"/>
                </a:solidFill>
                <a:latin typeface="Calibri"/>
              </a:defRPr>
            </a:pPr>
            <a:r>
              <a:t>55,97 x</a:t>
            </a:r>
          </a:p>
          <a:p>
            <a:pPr>
              <a:defRPr sz="950">
                <a:solidFill>
                  <a:srgbClr val="0F172A"/>
                </a:solidFill>
                <a:latin typeface="Calibri"/>
              </a:defRPr>
            </a:pPr>
            <a:r>
              <a:t>LTV ($174.897) / CAC ($3.125)</a:t>
            </a:r>
            <a:br/>
            <a:r>
              <a:t>Altamente escalable con embajadores.</a:t>
            </a:r>
            <a:br/>
            <a:r>
              <a:t>Estado: </a:t>
            </a:r>
            <a:r>
              <a:rPr b="1">
                <a:solidFill>
                  <a:srgbClr val="16A34A"/>
                </a:solidFill>
              </a:rPr>
              <a:t>CUMPLE HOLGADAMENTE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9872" y="1371600"/>
            <a:ext cx="3328416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2752" y="1536192"/>
            <a:ext cx="2962656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Calibri"/>
              </a:defRPr>
            </a:pPr>
            <a:r>
              <a:t>Largo Plazo (Años 4-5)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02752" y="1874519"/>
            <a:ext cx="29626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Calibri"/>
              </a:defRPr>
            </a:pPr>
            <a:r>
              <a:t>Razón LTV / CAC:</a:t>
            </a:r>
          </a:p>
          <a:p>
            <a:pPr>
              <a:defRPr sz="2800" b="1">
                <a:solidFill>
                  <a:srgbClr val="E87722"/>
                </a:solidFill>
                <a:latin typeface="Calibri"/>
              </a:defRPr>
            </a:pPr>
            <a:r>
              <a:t>104,98 x</a:t>
            </a:r>
          </a:p>
          <a:p>
            <a:pPr>
              <a:defRPr sz="950">
                <a:solidFill>
                  <a:srgbClr val="0F172A"/>
                </a:solidFill>
                <a:latin typeface="Calibri"/>
              </a:defRPr>
            </a:pPr>
            <a:r>
              <a:t>LTV ($174.897) / CAC ($1.666)</a:t>
            </a:r>
            <a:br/>
            <a:r>
              <a:t>Efecto de red orgánico y viral.</a:t>
            </a:r>
            <a:br/>
            <a:r>
              <a:t>Estado: </a:t>
            </a:r>
            <a:r>
              <a:rPr b="1">
                <a:solidFill>
                  <a:srgbClr val="16A34A"/>
                </a:solidFill>
              </a:rPr>
              <a:t>CUMPLE HOLGADAMENTE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023360"/>
            <a:ext cx="106984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187952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Calibri"/>
              </a:defRPr>
            </a:pPr>
            <a:r>
              <a:t>Conclusión Financiera Oficial del Ítem 9.1 (Bill Aulet)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8056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  <a:latin typeface="Calibri"/>
              </a:defRPr>
            </a:pPr>
            <a:r>
              <a:t>• Regla de Oro de Aulet (LTV &gt; 3 x CAC): El modelo supera con creces el criterio de viabilidad en todos los horizontes temporales.</a:t>
            </a:r>
            <a:br/>
            <a:r>
              <a:t>• Prueba de Estrés (Peor Caso Pesimista): Incluso comparando el LTV Pesimista ($92.408 COP) con el CAC más alto ($8.000 COP), la razón es de 11,55x, superando casi por 4 veces el límite mínimo.</a:t>
            </a:r>
            <a:br/>
            <a:r>
              <a:t>• Razón Estructural del Éxito: Wheels Externado no compite en mercados abiertos pagando pauta digital masiva (Google/Meta Ads), sino que opera sobre una comunidad cautiva de alta densidad con confianza preexistente.</a:t>
            </a:r>
            <a:br/>
            <a:r>
              <a:t>• Reinversión de Sostenibilidad: El 15% del margen bruto se reinvertirá en bonos de amortización de parqueadero para retener a los conductores líderes.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E87722"/>
                </a:solidFill>
                <a:latin typeface="Calibri"/>
              </a:defRPr>
            </a:pPr>
            <a:r>
              <a:t>COMPONENTE 9 DEL BMC: ESTRUCTURA DE COSTOS</a:t>
            </a:r>
          </a:p>
          <a:p>
            <a:pPr>
              <a:defRPr sz="2000" b="1">
                <a:solidFill>
                  <a:srgbClr val="003366"/>
                </a:solidFill>
                <a:latin typeface="Calibri"/>
              </a:defRPr>
            </a:pPr>
            <a:r>
              <a:t>Estructura de Costos Operativos y Punto de Equilibrio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Wheels Externado • Portafolio de Evidencias No. 4 • Universidad Externado de Colombia | Diapositiva 12/14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36192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Calibri"/>
              </a:defRPr>
            </a:pPr>
            <a:r>
              <a:t>Costos Operativos Mensuales (Fase Piloto)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050">
                <a:solidFill>
                  <a:srgbClr val="003366"/>
                </a:solidFill>
              </a:rPr>
              <a:t>Infraestructura Cloud (Firebase / AWS):
</a:t>
            </a:r>
            <a:r>
              <a:rPr sz="1000">
                <a:solidFill>
                  <a:srgbClr val="0F172A"/>
                </a:solidFill>
              </a:rPr>
              <a:t>$280.000 COP / mes ($70 USD)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003366"/>
                </a:solidFill>
              </a:rPr>
              <a:t>APIs de Ruteo y Mapas (Mapbox):
</a:t>
            </a:r>
            <a:r>
              <a:rPr sz="1000">
                <a:solidFill>
                  <a:srgbClr val="0F172A"/>
                </a:solidFill>
              </a:rPr>
              <a:t>$120.000 COP / mes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003366"/>
                </a:solidFill>
              </a:rPr>
              <a:t>Licencias de Tiendas (Apple Dev &amp; Google Play):
</a:t>
            </a:r>
            <a:r>
              <a:rPr sz="1000">
                <a:solidFill>
                  <a:srgbClr val="0F172A"/>
                </a:solidFill>
              </a:rPr>
              <a:t>$65.000 COP / mes (anualizado)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E87722"/>
                </a:solidFill>
              </a:rPr>
              <a:t>TOTAL COSTOS FIJOS MENSUALES:
</a:t>
            </a:r>
            <a:r>
              <a:rPr sz="1000">
                <a:solidFill>
                  <a:srgbClr val="0F172A"/>
                </a:solidFill>
              </a:rPr>
              <a:t>$465.000 COP / mes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003366"/>
                </a:solidFill>
              </a:rPr>
              <a:t>Pasarela de Pagos (Nequi/Wompi):
</a:t>
            </a:r>
            <a:r>
              <a:rPr sz="1000">
                <a:solidFill>
                  <a:srgbClr val="0F172A"/>
                </a:solidFill>
              </a:rPr>
              <a:t>$200 COP / transacción (Variable)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003366"/>
                </a:solidFill>
              </a:rPr>
              <a:t>Mantenimiento y Desarrollo de Software:
</a:t>
            </a:r>
            <a:r>
              <a:rPr sz="1000">
                <a:solidFill>
                  <a:srgbClr val="0F172A"/>
                </a:solidFill>
              </a:rPr>
              <a:t>$0 COP (Asumido por los 5 fundadores)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36192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Calibri"/>
              </a:defRPr>
            </a:pPr>
            <a:r>
              <a:t>Análisis del Punto de Equilibrio (Break-Even)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050">
                <a:solidFill>
                  <a:srgbClr val="003366"/>
                </a:solidFill>
              </a:rPr>
              <a:t>Margen Neto de Contribución por Cupo:
</a:t>
            </a:r>
            <a:r>
              <a:rPr sz="1000">
                <a:solidFill>
                  <a:srgbClr val="0F172A"/>
                </a:solidFill>
              </a:rPr>
              <a:t>$1.000 COP netos por viaje completado ($1.200 Take-rate - $200 Pasarela).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003366"/>
                </a:solidFill>
              </a:rPr>
              <a:t>Cálculo del Punto de Equilibrio Operativo:
</a:t>
            </a:r>
            <a:r>
              <a:rPr sz="1000">
                <a:solidFill>
                  <a:srgbClr val="0F172A"/>
                </a:solidFill>
              </a:rPr>
              <a:t>Costos Fijos ($465.000 COP) ÷ Margen Unitario ($1.000 COP) =
465 VIAJES / MES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003366"/>
                </a:solidFill>
              </a:rPr>
              <a:t>Volumen Diario Requerido:
</a:t>
            </a:r>
            <a:r>
              <a:rPr sz="1000">
                <a:solidFill>
                  <a:srgbClr val="0F172A"/>
                </a:solidFill>
              </a:rPr>
              <a:t>465 viajes ÷ 20 días hábiles al mes =
23 A 24 VIAJES / DÍA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003366"/>
                </a:solidFill>
              </a:rPr>
              <a:t>Número Mínimo de Vehículos:
</a:t>
            </a:r>
            <a:r>
              <a:rPr sz="1000">
                <a:solidFill>
                  <a:srgbClr val="0F172A"/>
                </a:solidFill>
              </a:rPr>
              <a:t>Con 3 cupos promedio por carro, se requieren solo 8 VEHÍCULOS ACTIVOS AL DÍA para alcanzar la autosostenibilidad total.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003366"/>
                </a:solidFill>
              </a:rPr>
              <a:t>Conclusión de Viabilidad:
</a:t>
            </a:r>
            <a:r>
              <a:rPr sz="1000">
                <a:solidFill>
                  <a:srgbClr val="0F172A"/>
                </a:solidFill>
              </a:rPr>
              <a:t>El punto de equilibrio se supera en el primer mes de operaciones con la red de 10 clientes validados.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E87722"/>
                </a:solidFill>
                <a:latin typeface="Calibri"/>
              </a:defRPr>
            </a:pPr>
            <a:r>
              <a:t>COMPONENTE 10: COMPROMISO SOSTENIBLE</a:t>
            </a:r>
          </a:p>
          <a:p>
            <a:pPr>
              <a:defRPr sz="2000" b="1">
                <a:solidFill>
                  <a:srgbClr val="003366"/>
                </a:solidFill>
                <a:latin typeface="Calibri"/>
              </a:defRPr>
            </a:pPr>
            <a:r>
              <a:t>Metas de Impacto Social y Ambiental (Alineación ODS)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Wheels Externado • Portafolio de Evidencias No. 4 • Universidad Externado de Colombia | Diapositiva 13/14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36192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Calibri"/>
              </a:defRPr>
            </a:pPr>
            <a:r>
              <a:t>ODS 5: Igualdad de Género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874520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b="1" sz="950">
                <a:solidFill>
                  <a:srgbClr val="003366"/>
                </a:solidFill>
              </a:rPr>
              <a:t>Línea Base: </a:t>
            </a:r>
            <a:r>
              <a:rPr sz="950">
                <a:solidFill>
                  <a:srgbClr val="0F172A"/>
                </a:solidFill>
              </a:rPr>
              <a:t>Inseguridad en transporte masivo y chats abiertos.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03366"/>
                </a:solidFill>
              </a:rPr>
              <a:t>Meta a 2 Años: </a:t>
            </a:r>
            <a:r>
              <a:rPr sz="950">
                <a:solidFill>
                  <a:srgbClr val="0F172A"/>
                </a:solidFill>
              </a:rPr>
              <a:t>100% de los viajes de pasajeras con monitoreo activo y disponibilidad de rutas exclusivas 'Solo Chicas'.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03366"/>
                </a:solidFill>
              </a:rPr>
              <a:t>Impacto Social: </a:t>
            </a:r>
            <a:r>
              <a:rPr sz="950">
                <a:solidFill>
                  <a:srgbClr val="0F172A"/>
                </a:solidFill>
              </a:rPr>
              <a:t>Protección contra el acoso y empoderamiento de la mujer en la movilidad académica.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36192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Calibri"/>
              </a:defRPr>
            </a:pPr>
            <a:r>
              <a:t>ODS 8: Trabajo Decente y Bienestar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74520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b="1" sz="950">
                <a:solidFill>
                  <a:srgbClr val="003366"/>
                </a:solidFill>
              </a:rPr>
              <a:t>Línea Base: </a:t>
            </a:r>
            <a:r>
              <a:rPr sz="950">
                <a:solidFill>
                  <a:srgbClr val="0F172A"/>
                </a:solidFill>
              </a:rPr>
              <a:t>100 a 120 minutos diarios gastados en buses públicos.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03366"/>
                </a:solidFill>
              </a:rPr>
              <a:t>Meta a 2 Años: </a:t>
            </a:r>
            <a:r>
              <a:rPr sz="950">
                <a:solidFill>
                  <a:srgbClr val="0F172A"/>
                </a:solidFill>
              </a:rPr>
              <a:t>Ahorro promedio de 25 a 35 horas mensuales de tiempo útil por estudiante.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03366"/>
                </a:solidFill>
              </a:rPr>
              <a:t>Impacto Social: </a:t>
            </a:r>
            <a:r>
              <a:rPr sz="950">
                <a:solidFill>
                  <a:srgbClr val="0F172A"/>
                </a:solidFill>
              </a:rPr>
              <a:t>Recuperación de horas de sueño, tiempo de estudio y bienestar emocional estudiantil.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4048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05072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Calibri"/>
              </a:defRPr>
            </a:pPr>
            <a:r>
              <a:t>ODS 11: Ciudades y Comunidades Sostenibles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343400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b="1" sz="950">
                <a:solidFill>
                  <a:srgbClr val="003366"/>
                </a:solidFill>
              </a:rPr>
              <a:t>Línea Base: </a:t>
            </a:r>
            <a:r>
              <a:rPr sz="950">
                <a:solidFill>
                  <a:srgbClr val="0F172A"/>
                </a:solidFill>
              </a:rPr>
              <a:t>35% de cancelación tardía e informalidad en WhatsApp.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03366"/>
                </a:solidFill>
              </a:rPr>
              <a:t>Meta a 2 Años: </a:t>
            </a:r>
            <a:r>
              <a:rPr sz="950">
                <a:solidFill>
                  <a:srgbClr val="0F172A"/>
                </a:solidFill>
              </a:rPr>
              <a:t>Reducción de cancelaciones a menos del 3% y retiro de más de 150 vehículos diarios de La Candelaria.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03366"/>
                </a:solidFill>
              </a:rPr>
              <a:t>Impacto Urbano: </a:t>
            </a:r>
            <a:r>
              <a:rPr sz="950">
                <a:solidFill>
                  <a:srgbClr val="0F172A"/>
                </a:solidFill>
              </a:rPr>
              <a:t>Mitigación del embotellamiento crónico en los accesos vehiculares a los cerros orientales.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84048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4005072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Calibri"/>
              </a:defRPr>
            </a:pPr>
            <a:r>
              <a:t>ODS 13: Acción por el Clima (Descarbonización)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343400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b="1" sz="950">
                <a:solidFill>
                  <a:srgbClr val="003366"/>
                </a:solidFill>
              </a:rPr>
              <a:t>Línea Base: </a:t>
            </a:r>
            <a:r>
              <a:rPr sz="950">
                <a:solidFill>
                  <a:srgbClr val="0F172A"/>
                </a:solidFill>
              </a:rPr>
              <a:t>Factor de ocupación promedio en Bogotá: 1,3 personas/carro.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03366"/>
                </a:solidFill>
              </a:rPr>
              <a:t>Meta a 2 Años: </a:t>
            </a:r>
            <a:r>
              <a:rPr sz="950">
                <a:solidFill>
                  <a:srgbClr val="0F172A"/>
                </a:solidFill>
              </a:rPr>
              <a:t>Incrementar la ocupación vehicular a 3,5 personas/carro en la comunidad.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03366"/>
                </a:solidFill>
              </a:rPr>
              <a:t>Impacto Ambiental: </a:t>
            </a:r>
            <a:r>
              <a:rPr sz="950">
                <a:solidFill>
                  <a:srgbClr val="0F172A"/>
                </a:solidFill>
              </a:rPr>
              <a:t>Reducción de más de 45 toneladas de CO2 al año mediante la optimización de viajes compartidos.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E87722"/>
                </a:solidFill>
                <a:latin typeface="Calibri"/>
              </a:defRPr>
            </a:pPr>
            <a:r>
              <a:t>PRÓXIMOS PASOS Y CIERRE EJECUTIVO</a:t>
            </a:r>
          </a:p>
          <a:p>
            <a:pPr>
              <a:defRPr sz="2000" b="1">
                <a:solidFill>
                  <a:srgbClr val="003366"/>
                </a:solidFill>
                <a:latin typeface="Calibri"/>
              </a:defRPr>
            </a:pPr>
            <a:r>
              <a:t>Conclusiones del Modelo y Ruta hacia el Trabajo de Campo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Wheels Externado • Portafolio de Evidencias No. 4 • Universidad Externado de Colombia | Diapositiva 14/14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36192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Calibri"/>
              </a:defRPr>
            </a:pPr>
            <a:r>
              <a:t>Conclusiones Principales del Portafolio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050">
                <a:solidFill>
                  <a:srgbClr val="003366"/>
                </a:solidFill>
              </a:rPr>
              <a:t>Viabilidad Empírica Confirmada:
</a:t>
            </a:r>
            <a:r>
              <a:rPr sz="1000">
                <a:solidFill>
                  <a:srgbClr val="0F172A"/>
                </a:solidFill>
              </a:rPr>
              <a:t>El problema de movilidad hacia el campus es agudo, diario y cuenta con una alta disposición a pagar validada ($8.000 COP).</a:t>
            </a:r>
          </a:p>
          <a:p>
            <a:pPr>
              <a:spcAft>
                <a:spcPts val="1000"/>
              </a:spcAft>
            </a:pPr>
            <a:r>
              <a:rPr b="1" sz="1050">
                <a:solidFill>
                  <a:srgbClr val="003366"/>
                </a:solidFill>
              </a:rPr>
              <a:t>Economía Unitaria Robusta:
</a:t>
            </a:r>
            <a:r>
              <a:rPr sz="1000">
                <a:solidFill>
                  <a:srgbClr val="0F172A"/>
                </a:solidFill>
              </a:rPr>
              <a:t>El modelo supera la regla de las 3X de Aulet (LTV/CAC = 29,15x en Año 1 y 104,98x en Año 5), garantizando sostenibilidad y escalabilidad.</a:t>
            </a:r>
          </a:p>
          <a:p>
            <a:pPr>
              <a:spcAft>
                <a:spcPts val="1000"/>
              </a:spcAft>
            </a:pPr>
            <a:r>
              <a:rPr b="1" sz="1050">
                <a:solidFill>
                  <a:srgbClr val="003366"/>
                </a:solidFill>
              </a:rPr>
              <a:t>Protección Competitiva Efectiva:
</a:t>
            </a:r>
            <a:r>
              <a:rPr sz="1000">
                <a:solidFill>
                  <a:srgbClr val="0F172A"/>
                </a:solidFill>
              </a:rPr>
              <a:t>La verificación institucional @uexternado.edu.co constituye un foso defensivo infranqueable para competidores masivos abiertos.</a:t>
            </a:r>
          </a:p>
          <a:p>
            <a:pPr>
              <a:spcAft>
                <a:spcPts val="1000"/>
              </a:spcAft>
            </a:pPr>
            <a:r>
              <a:rPr b="1" sz="1050">
                <a:solidFill>
                  <a:srgbClr val="003366"/>
                </a:solidFill>
              </a:rPr>
              <a:t>Alineación Institucional:
</a:t>
            </a:r>
            <a:r>
              <a:rPr sz="1000">
                <a:solidFill>
                  <a:srgbClr val="0F172A"/>
                </a:solidFill>
              </a:rPr>
              <a:t>Solución armónica con la misión de sostenibilidad y bienestar de la Universidad Externado de Colombia.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36192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Calibri"/>
              </a:defRPr>
            </a:pPr>
            <a:r>
              <a:t>Hoja de Ruta: Trabajo de Campo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050">
                <a:solidFill>
                  <a:srgbClr val="E87722"/>
                </a:solidFill>
              </a:rPr>
              <a:t>1. Pruebas de Usabilidad del Prototipo:
</a:t>
            </a:r>
            <a:r>
              <a:rPr sz="1000">
                <a:solidFill>
                  <a:srgbClr val="0F172A"/>
                </a:solidFill>
              </a:rPr>
              <a:t>Sesiones de testeo del flujo de reserva y asignación con los 8 usuarios que formalizaron compromiso en Campo 2.</a:t>
            </a:r>
          </a:p>
          <a:p>
            <a:pPr>
              <a:spcAft>
                <a:spcPts val="1000"/>
              </a:spcAft>
            </a:pPr>
            <a:r>
              <a:rPr b="1" sz="1050">
                <a:solidFill>
                  <a:srgbClr val="E87722"/>
                </a:solidFill>
              </a:rPr>
              <a:t>2. Entrevistas a Expertos en Movilidad:
</a:t>
            </a:r>
            <a:r>
              <a:rPr sz="1000">
                <a:solidFill>
                  <a:srgbClr val="0F172A"/>
                </a:solidFill>
              </a:rPr>
              <a:t>Entrevista a profundidad con 1-2 especialistas en transporte urbano y bienestar universitario para cerrar la limitación metodológica.</a:t>
            </a:r>
          </a:p>
          <a:p>
            <a:pPr>
              <a:spcAft>
                <a:spcPts val="1000"/>
              </a:spcAft>
            </a:pPr>
            <a:r>
              <a:rPr b="1" sz="1050">
                <a:solidFill>
                  <a:srgbClr val="E87722"/>
                </a:solidFill>
              </a:rPr>
              <a:t>3. Simulación de Ruteo en Hora Pico:
</a:t>
            </a:r>
            <a:r>
              <a:rPr sz="1000">
                <a:solidFill>
                  <a:srgbClr val="0F172A"/>
                </a:solidFill>
              </a:rPr>
              <a:t>Prueba de carga del algoritmo de matching con datos sintéticos en los corredores Calle 80 y Autopista Norte entre 6:30 am y 7:00 am.</a:t>
            </a:r>
          </a:p>
          <a:p>
            <a:pPr>
              <a:spcAft>
                <a:spcPts val="1000"/>
              </a:spcAft>
            </a:pPr>
            <a:r>
              <a:rPr b="1" sz="1050">
                <a:solidFill>
                  <a:srgbClr val="E87722"/>
                </a:solidFill>
              </a:rPr>
              <a:t>4. Despliegue del Piloto Cerrado:
</a:t>
            </a:r>
            <a:r>
              <a:rPr sz="1000">
                <a:solidFill>
                  <a:srgbClr val="0F172A"/>
                </a:solidFill>
              </a:rPr>
              <a:t>Activación del primer grupo de carpooling verificado en el corredor piloto La Floresta / Calle 80.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
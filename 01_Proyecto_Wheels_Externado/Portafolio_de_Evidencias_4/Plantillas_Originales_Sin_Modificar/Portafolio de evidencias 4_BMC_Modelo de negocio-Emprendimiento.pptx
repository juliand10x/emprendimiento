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70" r:id="rId2"/>
    <p:sldId id="1030" r:id="rId3"/>
    <p:sldId id="1392" r:id="rId4"/>
    <p:sldId id="1429" r:id="rId35"/>
    <p:sldId id="1430" r:id="rId36"/>
    <p:sldId id="1393" r:id="rId5"/>
    <p:sldId id="1394" r:id="rId6"/>
    <p:sldId id="1395" r:id="rId7"/>
    <p:sldId id="1396" r:id="rId8"/>
    <p:sldId id="1397" r:id="rId9"/>
    <p:sldId id="1398" r:id="rId10"/>
    <p:sldId id="1399" r:id="rId11"/>
    <p:sldId id="1400" r:id="rId12"/>
    <p:sldId id="1401" r:id="rId13"/>
    <p:sldId id="1402" r:id="rId14"/>
    <p:sldId id="1439" r:id="rId45"/>
    <p:sldId id="296" r:id="rId15"/>
    <p:sldId id="1310" r:id="rId17"/>
    <p:sldId id="1431" r:id="rId37"/>
    <p:sldId id="1311" r:id="rId18"/>
    <p:sldId id="1312" r:id="rId19"/>
    <p:sldId id="1313" r:id="rId20"/>
    <p:sldId id="1314" r:id="rId21"/>
    <p:sldId id="1315" r:id="rId22"/>
    <p:sldId id="1316" r:id="rId23"/>
    <p:sldId id="1432" r:id="rId38"/>
    <p:sldId id="1433" r:id="rId39"/>
    <p:sldId id="1434" r:id="rId40"/>
    <p:sldId id="1435" r:id="rId41"/>
    <p:sldId id="1436" r:id="rId42"/>
    <p:sldId id="1437" r:id="rId43"/>
    <p:sldId id="1317" r:id="rId25"/>
    <p:sldId id="1318" r:id="rId26"/>
    <p:sldId id="1438" r:id="rId44"/>
    <p:sldId id="1319" r:id="rId27"/>
    <p:sldId id="1320" r:id="rId28"/>
    <p:sldId id="30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E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2"/>
    <p:restoredTop sz="78593" autoAdjust="0"/>
  </p:normalViewPr>
  <p:slideViewPr>
    <p:cSldViewPr snapToGrid="0" snapToObjects="1">
      <p:cViewPr varScale="1">
        <p:scale>
          <a:sx n="89" d="100"/>
          <a:sy n="89" d="100"/>
        </p:scale>
        <p:origin x="304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LTV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Corto plazo</c:v>
                </c:pt>
                <c:pt idx="1">
                  <c:v>Mediano plazo</c:v>
                </c:pt>
                <c:pt idx="2">
                  <c:v>Largo plazo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D7-D74E-AEB8-9AAAC910F9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CAC</c:v>
                </c:pt>
              </c:strCache>
            </c:strRef>
          </c:tx>
          <c:spPr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Corto plazo</c:v>
                </c:pt>
                <c:pt idx="1">
                  <c:v>Mediano plazo</c:v>
                </c:pt>
                <c:pt idx="2">
                  <c:v>Largo plazo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580</c:v>
                </c:pt>
                <c:pt idx="1">
                  <c:v>400</c:v>
                </c:pt>
                <c:pt idx="2">
                  <c:v>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D7-D74E-AEB8-9AAAC910F9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23B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7223B"/>
                    </a:solidFill>
                    <a:latin typeface="Arial"/>
                  </a:defRPr>
                </a:pPr>
                <a:r>
                  <a:rPr lang="es-CO" sz="1200" b="0" i="0" u="none" strike="noStrike">
                    <a:solidFill>
                      <a:srgbClr val="17223B"/>
                    </a:solidFill>
                    <a:latin typeface="Arial"/>
                  </a:rPr>
                  <a:t>Dólares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23B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223B"/>
              </a:solidFill>
            </a:defRPr>
          </a:pPr>
          <a:endParaRPr lang="es-CO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009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72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98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6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48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20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97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8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59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51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75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16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297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24949-EA7C-E34F-999A-AA686C88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594524-B856-C849-B257-7815AFA53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2D409E-414A-754E-B8BD-F7F10B9AD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74D3-518D-0246-8E5A-29198BCA8C8A}" type="datetime1">
              <a:rPr lang="es-CO" smtClean="0"/>
              <a:t>23/10/26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3C58A3-357E-4641-88A3-FD15C8D1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DE23DF-C9F6-6B47-AC4F-7070E252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A8EC1-833A-0C41-9BA0-14847330DB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35899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72E17"/>
          </a:solidFill>
          <a:ln w="12700">
            <a:solidFill>
              <a:srgbClr val="072E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9C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Emprendimiento</a:t>
            </a:r>
            <a:endParaRPr lang="en-US" sz="88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097280" cy="7315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C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r>
              <a:rPr lang="en-US" sz="1800" dirty="0">
                <a:solidFill>
                  <a:srgbClr val="C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00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C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Pregrado</a:t>
            </a:r>
            <a:r>
              <a:rPr lang="en-US" sz="1800" dirty="0">
                <a:solidFill>
                  <a:srgbClr val="C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Ciencia de Datos  •  Curso teórico-práctico  •  2 créditos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9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 start-ups con modelos de negocio validados y activos en el mercado.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6 Pros To Buying Off-The-Plan – The Frugal Samurai">
            <a:extLst>
              <a:ext uri="{FF2B5EF4-FFF2-40B4-BE49-F238E27FC236}">
                <a16:creationId xmlns:a16="http://schemas.microsoft.com/office/drawing/2014/main" id="{46343C17-610F-1342-8A54-D877180B4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2154707"/>
            <a:ext cx="2571750" cy="388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CB25304-7E23-FD48-A921-828C4FC7F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97134"/>
            <a:ext cx="10515600" cy="1325563"/>
          </a:xfrm>
        </p:spPr>
        <p:txBody>
          <a:bodyPr/>
          <a:lstStyle/>
          <a:p>
            <a:r>
              <a:rPr lang="es-CO" sz="3000" b="1" dirty="0">
                <a:solidFill>
                  <a:srgbClr val="1A2A22"/>
                </a:solidFill>
                <a:latin typeface="Georgia" pitchFamily="34" charset="0"/>
              </a:rPr>
              <a:t>Agenda – Sesión 01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6A26FE-C3CF-7C46-9BF0-50744494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27735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sz="2400" dirty="0">
                <a:solidFill>
                  <a:schemeClr val="bg1">
                    <a:lumMod val="75000"/>
                  </a:schemeClr>
                </a:solidFill>
              </a:rPr>
              <a:t>0. Presentaciones y Taller 1</a:t>
            </a:r>
          </a:p>
          <a:p>
            <a:pPr marL="0" indent="0">
              <a:buNone/>
            </a:pPr>
            <a:endParaRPr lang="es-CO" sz="24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s-CO" sz="2400" dirty="0">
                <a:solidFill>
                  <a:schemeClr val="bg1">
                    <a:lumMod val="75000"/>
                  </a:schemeClr>
                </a:solidFill>
              </a:rPr>
              <a:t>1. Reglas generales: Presentación de la guía del curso - Compromisos y estrategias de aprendizaje</a:t>
            </a:r>
          </a:p>
          <a:p>
            <a:pPr marL="0" indent="0">
              <a:buNone/>
            </a:pPr>
            <a:endParaRPr lang="es-CO" sz="24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s-CO" sz="2400" dirty="0">
                <a:solidFill>
                  <a:schemeClr val="bg1">
                    <a:lumMod val="75000"/>
                  </a:schemeClr>
                </a:solidFill>
              </a:rPr>
              <a:t>2. Actividades de evaluación</a:t>
            </a:r>
          </a:p>
          <a:p>
            <a:pPr marL="0" indent="0">
              <a:buNone/>
            </a:pPr>
            <a:endParaRPr lang="es-CO" sz="24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s-CO" sz="2400" dirty="0">
                <a:solidFill>
                  <a:schemeClr val="bg1">
                    <a:lumMod val="75000"/>
                  </a:schemeClr>
                </a:solidFill>
              </a:rPr>
              <a:t>3. Experiencia previa en emprendimiento / proyectos activos</a:t>
            </a:r>
          </a:p>
          <a:p>
            <a:pPr marL="0" indent="0">
              <a:buNone/>
            </a:pPr>
            <a:endParaRPr lang="es-CO" sz="24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s-CO" sz="2400" dirty="0">
                <a:solidFill>
                  <a:schemeClr val="bg1">
                    <a:lumMod val="75000"/>
                  </a:schemeClr>
                </a:solidFill>
              </a:rPr>
              <a:t>4. Tarea: Conformación de equipos</a:t>
            </a:r>
          </a:p>
          <a:p>
            <a:pPr marL="0" indent="0">
              <a:buNone/>
            </a:pPr>
            <a:endParaRPr lang="es-CO" sz="24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s-CO" sz="2400" dirty="0">
                <a:solidFill>
                  <a:schemeClr val="bg1">
                    <a:lumMod val="75000"/>
                  </a:schemeClr>
                </a:solidFill>
              </a:rPr>
              <a:t>5. Cierre: Problemas relevantes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845D68-CBE0-0B43-9C68-98334549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A8EC1-833A-0C41-9BA0-14847330DB79}" type="slidenum">
              <a:rPr lang="es-CO" smtClean="0"/>
              <a:t>2</a:t>
            </a:fld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A4BFA8-181E-3348-885F-70D6C5D8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E1AC-D19C-5B4B-B752-DF312F5189CB}" type="datetime1">
              <a:rPr lang="es-CO" smtClean="0"/>
              <a:t>23/10/26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860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0E4E27"/>
                </a:solidFill>
                <a:latin typeface="Georgia"/>
              </a:rPr>
              <a:t>Lienzo de Portafolio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62"/>
                </a:solidFill>
                <a:latin typeface="Calibri"/>
              </a:rPr>
              <a:t>Crear, entregar, capturar y compartir valor</a:t>
            </a:r>
          </a:p>
        </p:txBody>
      </p:sp>
      <p:sp>
        <p:nvSpPr>
          <p:cNvPr id="4" name="Zona CREAR"/>
          <p:cNvSpPr/>
          <p:nvPr/>
        </p:nvSpPr>
        <p:spPr>
          <a:xfrm>
            <a:off x="5349240" y="292608"/>
            <a:ext cx="1513332" cy="749808"/>
          </a:xfrm>
          <a:prstGeom prst="roundRect">
            <a:avLst>
              <a:gd name="adj" fmla="val 9756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49240" y="329184"/>
            <a:ext cx="15133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150">
                <a:solidFill>
                  <a:srgbClr val="FFFFFF"/>
                </a:solidFill>
                <a:latin typeface="Calibri"/>
              </a:rPr>
              <a:t>CREAR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676656"/>
            <a:ext cx="15133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P2 · P5</a:t>
            </a:r>
          </a:p>
        </p:txBody>
      </p:sp>
      <p:sp>
        <p:nvSpPr>
          <p:cNvPr id="7" name="Zona ENTREGAR"/>
          <p:cNvSpPr/>
          <p:nvPr/>
        </p:nvSpPr>
        <p:spPr>
          <a:xfrm>
            <a:off x="6972300" y="292608"/>
            <a:ext cx="1513332" cy="749808"/>
          </a:xfrm>
          <a:prstGeom prst="roundRect">
            <a:avLst>
              <a:gd name="adj" fmla="val 9756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2300" y="329184"/>
            <a:ext cx="15133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150">
                <a:solidFill>
                  <a:srgbClr val="FFFFFF"/>
                </a:solidFill>
                <a:latin typeface="Calibri"/>
              </a:rPr>
              <a:t>ENTREGAR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2300" y="676656"/>
            <a:ext cx="15133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P1 · P3</a:t>
            </a:r>
          </a:p>
        </p:txBody>
      </p:sp>
      <p:sp>
        <p:nvSpPr>
          <p:cNvPr id="10" name="Zona CAPTURAR"/>
          <p:cNvSpPr/>
          <p:nvPr/>
        </p:nvSpPr>
        <p:spPr>
          <a:xfrm>
            <a:off x="8595359" y="292608"/>
            <a:ext cx="1513332" cy="749808"/>
          </a:xfrm>
          <a:prstGeom prst="roundRect">
            <a:avLst>
              <a:gd name="adj" fmla="val 9756"/>
            </a:avLst>
          </a:prstGeom>
          <a:solidFill>
            <a:srgbClr val="B77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59" y="329184"/>
            <a:ext cx="15133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150">
                <a:solidFill>
                  <a:srgbClr val="FFFFFF"/>
                </a:solidFill>
                <a:latin typeface="Calibri"/>
              </a:rPr>
              <a:t>CAPTURAR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676656"/>
            <a:ext cx="15133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13" name="Zona COMPARTIR"/>
          <p:cNvSpPr/>
          <p:nvPr/>
        </p:nvSpPr>
        <p:spPr>
          <a:xfrm>
            <a:off x="10218419" y="292608"/>
            <a:ext cx="1513332" cy="749808"/>
          </a:xfrm>
          <a:prstGeom prst="roundRect">
            <a:avLst>
              <a:gd name="adj" fmla="val 9756"/>
            </a:avLst>
          </a:prstGeom>
          <a:solidFill>
            <a:srgbClr val="7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18419" y="329184"/>
            <a:ext cx="15133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150">
                <a:solidFill>
                  <a:srgbClr val="FFFFFF"/>
                </a:solidFill>
                <a:latin typeface="Calibri"/>
              </a:rPr>
              <a:t>COMPARTIR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18419" y="676656"/>
            <a:ext cx="15133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16" name="Bloque 4 Ecosistema"/>
          <p:cNvSpPr/>
          <p:nvPr/>
        </p:nvSpPr>
        <p:spPr>
          <a:xfrm>
            <a:off x="457200" y="1234440"/>
            <a:ext cx="2181758" cy="2788920"/>
          </a:xfrm>
          <a:prstGeom prst="roundRect">
            <a:avLst>
              <a:gd name="adj" fmla="val 3352"/>
            </a:avLst>
          </a:prstGeom>
          <a:solidFill>
            <a:srgbClr val="EAF2E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566928" y="1344168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6038" y="134416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2E7D32"/>
                </a:solidFill>
                <a:latin typeface="Calibri"/>
              </a:rPr>
              <a:t>P5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746504"/>
            <a:ext cx="196230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2A22"/>
                </a:solidFill>
                <a:latin typeface="Calibri"/>
              </a:rPr>
              <a:t>Ecosistema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57400"/>
            <a:ext cx="196230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B62"/>
                </a:solidFill>
                <a:latin typeface="Calibri"/>
              </a:rPr>
              <a:t>¿Con quién construyes y qué gana cada uno?</a:t>
            </a:r>
          </a:p>
        </p:txBody>
      </p:sp>
      <p:sp>
        <p:nvSpPr>
          <p:cNvPr id="21" name="Bloque 6 Recursos y operación"/>
          <p:cNvSpPr/>
          <p:nvPr/>
        </p:nvSpPr>
        <p:spPr>
          <a:xfrm>
            <a:off x="2730398" y="1234440"/>
            <a:ext cx="2181758" cy="1348739"/>
          </a:xfrm>
          <a:prstGeom prst="roundRect">
            <a:avLst>
              <a:gd name="adj" fmla="val 5423"/>
            </a:avLst>
          </a:prstGeom>
          <a:solidFill>
            <a:srgbClr val="EAF2E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2840126" y="1344168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9236" y="134416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2E7D32"/>
                </a:solidFill>
                <a:latin typeface="Calibri"/>
              </a:rPr>
              <a:t>P5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0126" y="1746504"/>
            <a:ext cx="196230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2A22"/>
                </a:solidFill>
                <a:latin typeface="Calibri"/>
              </a:rPr>
              <a:t>Recursos y operación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0126" y="2057400"/>
            <a:ext cx="196230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B62"/>
                </a:solidFill>
                <a:latin typeface="Calibri"/>
              </a:rPr>
              <a:t>¿Qué necesitas y cómo funciona la operación?</a:t>
            </a:r>
          </a:p>
        </p:txBody>
      </p:sp>
      <p:sp>
        <p:nvSpPr>
          <p:cNvPr id="26" name="Bloque 5 Validación y PMV"/>
          <p:cNvSpPr/>
          <p:nvPr/>
        </p:nvSpPr>
        <p:spPr>
          <a:xfrm>
            <a:off x="2730398" y="2674620"/>
            <a:ext cx="2181758" cy="1348739"/>
          </a:xfrm>
          <a:prstGeom prst="roundRect">
            <a:avLst>
              <a:gd name="adj" fmla="val 5423"/>
            </a:avLst>
          </a:prstGeom>
          <a:solidFill>
            <a:srgbClr val="EAF2E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2840126" y="2784348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9236" y="278434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2E7D32"/>
                </a:solidFill>
                <a:latin typeface="Calibri"/>
              </a:rPr>
              <a:t>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40126" y="3186684"/>
            <a:ext cx="196230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2A22"/>
                </a:solidFill>
                <a:latin typeface="Calibri"/>
              </a:rPr>
              <a:t>Validación y PMV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0126" y="3497580"/>
            <a:ext cx="196230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B62"/>
                </a:solidFill>
                <a:latin typeface="Calibri"/>
              </a:rPr>
              <a:t>¿Qué supuestos probaste y qué aprendiste?</a:t>
            </a:r>
          </a:p>
        </p:txBody>
      </p:sp>
      <p:sp>
        <p:nvSpPr>
          <p:cNvPr id="31" name="Bloque 3 Portafolio de valor"/>
          <p:cNvSpPr/>
          <p:nvPr/>
        </p:nvSpPr>
        <p:spPr>
          <a:xfrm>
            <a:off x="5003596" y="1234440"/>
            <a:ext cx="2181758" cy="2788920"/>
          </a:xfrm>
          <a:prstGeom prst="roundRect">
            <a:avLst>
              <a:gd name="adj" fmla="val 3352"/>
            </a:avLst>
          </a:prstGeom>
          <a:solidFill>
            <a:srgbClr val="0E4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5113324" y="1344168"/>
            <a:ext cx="329184" cy="329184"/>
          </a:xfrm>
          <a:prstGeom prst="ellipse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2435" y="134416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5B841"/>
                </a:solidFill>
                <a:latin typeface="Calibri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3324" y="1746504"/>
            <a:ext cx="196230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Portafolio de valor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13324" y="2057400"/>
            <a:ext cx="1962302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i="1" dirty="0" err="1">
                <a:solidFill>
                  <a:srgbClr val="C8E6C9"/>
                </a:solidFill>
                <a:latin typeface="Calibri"/>
              </a:rPr>
              <a:t>Cual</a:t>
            </a:r>
            <a:r>
              <a:rPr lang="en-US" sz="1100" i="1" dirty="0">
                <a:solidFill>
                  <a:srgbClr val="C8E6C9"/>
                </a:solidFill>
                <a:latin typeface="Calibri"/>
              </a:rPr>
              <a:t> </a:t>
            </a:r>
            <a:r>
              <a:rPr lang="en-US" sz="1100" i="1" dirty="0" err="1">
                <a:solidFill>
                  <a:srgbClr val="C8E6C9"/>
                </a:solidFill>
                <a:latin typeface="Calibri"/>
              </a:rPr>
              <a:t>es</a:t>
            </a:r>
            <a:r>
              <a:rPr lang="en-US" sz="1100" i="1" dirty="0">
                <a:solidFill>
                  <a:srgbClr val="C8E6C9"/>
                </a:solidFill>
                <a:latin typeface="Calibri"/>
              </a:rPr>
              <a:t> </a:t>
            </a:r>
            <a:r>
              <a:rPr lang="en-US" sz="1100" i="1" dirty="0" err="1">
                <a:solidFill>
                  <a:srgbClr val="C8E6C9"/>
                </a:solidFill>
                <a:latin typeface="Calibri"/>
              </a:rPr>
              <a:t>tu</a:t>
            </a:r>
            <a:r>
              <a:rPr lang="en-US" sz="1100" i="1" dirty="0">
                <a:solidFill>
                  <a:srgbClr val="C8E6C9"/>
                </a:solidFill>
                <a:latin typeface="Calibri"/>
              </a:rPr>
              <a:t> CORE BUSINESS?</a:t>
            </a:r>
          </a:p>
          <a:p>
            <a:pPr algn="l"/>
            <a:endParaRPr lang="en-US" sz="1100" b="0" i="1" dirty="0">
              <a:solidFill>
                <a:srgbClr val="C8E6C9"/>
              </a:solidFill>
              <a:latin typeface="Calibri"/>
            </a:endParaRPr>
          </a:p>
          <a:p>
            <a:pPr algn="l"/>
            <a:r>
              <a:rPr sz="1100" b="0" i="1" dirty="0">
                <a:solidFill>
                  <a:srgbClr val="C8E6C9"/>
                </a:solidFill>
                <a:latin typeface="Calibri"/>
              </a:rPr>
              <a:t>¿</a:t>
            </a:r>
            <a:r>
              <a:rPr sz="1100" b="0" i="1" dirty="0" err="1">
                <a:solidFill>
                  <a:srgbClr val="C8E6C9"/>
                </a:solidFill>
                <a:latin typeface="Calibri"/>
              </a:rPr>
              <a:t>Qué</a:t>
            </a:r>
            <a:r>
              <a:rPr sz="1100" b="0" i="1" dirty="0">
                <a:solidFill>
                  <a:srgbClr val="C8E6C9"/>
                </a:solidFill>
                <a:latin typeface="Calibri"/>
              </a:rPr>
              <a:t> valor </a:t>
            </a:r>
            <a:r>
              <a:rPr sz="1100" b="0" i="1" dirty="0" err="1">
                <a:solidFill>
                  <a:srgbClr val="C8E6C9"/>
                </a:solidFill>
                <a:latin typeface="Calibri"/>
              </a:rPr>
              <a:t>económico</a:t>
            </a:r>
            <a:r>
              <a:rPr sz="1100" b="0" i="1" dirty="0">
                <a:solidFill>
                  <a:srgbClr val="C8E6C9"/>
                </a:solidFill>
                <a:latin typeface="Calibri"/>
              </a:rPr>
              <a:t>, social y </a:t>
            </a:r>
            <a:r>
              <a:rPr sz="1100" b="0" i="1" dirty="0" err="1">
                <a:solidFill>
                  <a:srgbClr val="C8E6C9"/>
                </a:solidFill>
                <a:latin typeface="Calibri"/>
              </a:rPr>
              <a:t>ambiental</a:t>
            </a:r>
            <a:r>
              <a:rPr sz="1100" b="0" i="1" dirty="0">
                <a:solidFill>
                  <a:srgbClr val="C8E6C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C8E6C9"/>
                </a:solidFill>
                <a:latin typeface="Calibri"/>
              </a:rPr>
              <a:t>creas</a:t>
            </a:r>
            <a:r>
              <a:rPr sz="1100" b="0" i="1" dirty="0">
                <a:solidFill>
                  <a:srgbClr val="C8E6C9"/>
                </a:solidFill>
                <a:latin typeface="Calibri"/>
              </a:rP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3324" y="2808982"/>
            <a:ext cx="2181758" cy="107721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en-US" sz="1400" b="1" dirty="0">
                <a:solidFill>
                  <a:srgbClr val="F5B841"/>
                </a:solidFill>
                <a:latin typeface="Calibri"/>
              </a:rPr>
              <a:t>Core business: para el USUARIO</a:t>
            </a:r>
            <a:endParaRPr lang="en-US" sz="1400" b="1" i="0" dirty="0">
              <a:solidFill>
                <a:srgbClr val="F5B841"/>
              </a:solidFill>
              <a:latin typeface="Calibri"/>
            </a:endParaRPr>
          </a:p>
          <a:p>
            <a:pPr marL="342900" indent="-342900" algn="ctr">
              <a:buFont typeface="+mj-lt"/>
              <a:buAutoNum type="arabicPeriod"/>
            </a:pPr>
            <a:r>
              <a:rPr sz="1400" b="1" i="0" dirty="0">
                <a:solidFill>
                  <a:srgbClr val="F5B841"/>
                </a:solidFill>
                <a:latin typeface="Calibri"/>
              </a:rPr>
              <a:t>People</a:t>
            </a:r>
          </a:p>
          <a:p>
            <a:pPr marL="342900" indent="-342900" algn="ctr">
              <a:buFont typeface="+mj-lt"/>
              <a:buAutoNum type="arabicPeriod"/>
            </a:pPr>
            <a:r>
              <a:rPr sz="1400" b="1" i="0" dirty="0">
                <a:solidFill>
                  <a:srgbClr val="F5B841"/>
                </a:solidFill>
                <a:latin typeface="Calibri"/>
              </a:rPr>
              <a:t>Planet</a:t>
            </a:r>
          </a:p>
          <a:p>
            <a:pPr marL="342900" indent="-342900" algn="ctr">
              <a:buFont typeface="+mj-lt"/>
              <a:buAutoNum type="arabicPeriod"/>
            </a:pPr>
            <a:r>
              <a:rPr sz="1400" b="1" i="0" dirty="0">
                <a:solidFill>
                  <a:srgbClr val="F5B841"/>
                </a:solidFill>
                <a:latin typeface="Calibri"/>
              </a:rPr>
              <a:t>Profit</a:t>
            </a:r>
          </a:p>
        </p:txBody>
      </p:sp>
      <p:sp>
        <p:nvSpPr>
          <p:cNvPr id="37" name="Bloque 1 Problema y oportunidad"/>
          <p:cNvSpPr/>
          <p:nvPr/>
        </p:nvSpPr>
        <p:spPr>
          <a:xfrm>
            <a:off x="7276795" y="1234440"/>
            <a:ext cx="2181758" cy="1348739"/>
          </a:xfrm>
          <a:prstGeom prst="roundRect">
            <a:avLst>
              <a:gd name="adj" fmla="val 5423"/>
            </a:avLst>
          </a:prstGeom>
          <a:solidFill>
            <a:srgbClr val="E8F1F3"/>
          </a:solidFill>
          <a:ln w="1905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7386523" y="1344168"/>
            <a:ext cx="329184" cy="3291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5633" y="134416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F7A8C"/>
                </a:solidFill>
                <a:latin typeface="Calibri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6523" y="1746504"/>
            <a:ext cx="196230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2A22"/>
                </a:solidFill>
                <a:latin typeface="Calibri"/>
              </a:rPr>
              <a:t>Problema y oportunidad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6523" y="2057400"/>
            <a:ext cx="196230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B62"/>
                </a:solidFill>
                <a:latin typeface="Calibri"/>
              </a:rPr>
              <a:t>¿Qué dolor real, con evidencia, vale la pena resolver?</a:t>
            </a:r>
          </a:p>
        </p:txBody>
      </p:sp>
      <p:sp>
        <p:nvSpPr>
          <p:cNvPr id="42" name="Bloque 7 Canales y relación con el cliente"/>
          <p:cNvSpPr/>
          <p:nvPr/>
        </p:nvSpPr>
        <p:spPr>
          <a:xfrm>
            <a:off x="7276795" y="2674620"/>
            <a:ext cx="2181758" cy="1348739"/>
          </a:xfrm>
          <a:prstGeom prst="roundRect">
            <a:avLst>
              <a:gd name="adj" fmla="val 5423"/>
            </a:avLst>
          </a:prstGeom>
          <a:solidFill>
            <a:srgbClr val="E8F1F3"/>
          </a:solidFill>
          <a:ln w="1905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7386523" y="2784348"/>
            <a:ext cx="329184" cy="3291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5633" y="278434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F7A8C"/>
                </a:solidFill>
                <a:latin typeface="Calibri"/>
              </a:rPr>
              <a:t>P3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6523" y="3186684"/>
            <a:ext cx="196230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2A22"/>
                </a:solidFill>
                <a:latin typeface="Calibri"/>
              </a:rPr>
              <a:t>Canales y relación con el cliente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6523" y="3662172"/>
            <a:ext cx="196230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B62"/>
                </a:solidFill>
                <a:latin typeface="Calibri"/>
              </a:rPr>
              <a:t>¿Cómo te conoce, te compra y vuelve?</a:t>
            </a:r>
          </a:p>
        </p:txBody>
      </p:sp>
      <p:sp>
        <p:nvSpPr>
          <p:cNvPr id="47" name="Bloque 2 Segmentos de actores"/>
          <p:cNvSpPr/>
          <p:nvPr/>
        </p:nvSpPr>
        <p:spPr>
          <a:xfrm>
            <a:off x="9549993" y="1234440"/>
            <a:ext cx="2181758" cy="2788920"/>
          </a:xfrm>
          <a:prstGeom prst="roundRect">
            <a:avLst>
              <a:gd name="adj" fmla="val 3352"/>
            </a:avLst>
          </a:prstGeom>
          <a:solidFill>
            <a:srgbClr val="E8F1F3"/>
          </a:solidFill>
          <a:ln w="1905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9659721" y="1344168"/>
            <a:ext cx="329184" cy="3291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28832" y="134416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F7A8C"/>
                </a:solidFill>
                <a:latin typeface="Calibri"/>
              </a:rPr>
              <a:t>P1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59721" y="1746504"/>
            <a:ext cx="196230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2A22"/>
                </a:solidFill>
                <a:latin typeface="Calibri"/>
              </a:rPr>
              <a:t>Segmentos de actores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9721" y="2057400"/>
            <a:ext cx="196230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B62"/>
                </a:solidFill>
                <a:latin typeface="Calibri"/>
              </a:rPr>
              <a:t>¿A quién sirves y a quién afectas?</a:t>
            </a:r>
          </a:p>
        </p:txBody>
      </p:sp>
      <p:sp>
        <p:nvSpPr>
          <p:cNvPr id="52" name="Bloque 8 Estructura de costos reales e inversión"/>
          <p:cNvSpPr/>
          <p:nvPr/>
        </p:nvSpPr>
        <p:spPr>
          <a:xfrm>
            <a:off x="457200" y="4114800"/>
            <a:ext cx="5591556" cy="777240"/>
          </a:xfrm>
          <a:prstGeom prst="roundRect">
            <a:avLst>
              <a:gd name="adj" fmla="val 9411"/>
            </a:avLst>
          </a:prstGeom>
          <a:solidFill>
            <a:srgbClr val="F7F1E6"/>
          </a:solidFill>
          <a:ln w="19050">
            <a:solidFill>
              <a:srgbClr val="B77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Oval 52"/>
          <p:cNvSpPr/>
          <p:nvPr/>
        </p:nvSpPr>
        <p:spPr>
          <a:xfrm>
            <a:off x="566928" y="4224528"/>
            <a:ext cx="329184" cy="329184"/>
          </a:xfrm>
          <a:prstGeom prst="ellipse">
            <a:avLst/>
          </a:prstGeom>
          <a:solidFill>
            <a:srgbClr val="B77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45836" y="422452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B7790A"/>
                </a:solidFill>
                <a:latin typeface="Calibri"/>
              </a:rPr>
              <a:t>P4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4206240"/>
            <a:ext cx="44028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A2A22"/>
                </a:solidFill>
                <a:latin typeface="Calibri"/>
              </a:rPr>
              <a:t>Estructura de costos reales e inversión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4544568"/>
            <a:ext cx="44028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B62"/>
                </a:solidFill>
                <a:latin typeface="Calibri"/>
              </a:rPr>
              <a:t>¿Cuánto cuesta crear y entregar el valor, incluidas las externalidades?</a:t>
            </a:r>
          </a:p>
        </p:txBody>
      </p:sp>
      <p:sp>
        <p:nvSpPr>
          <p:cNvPr id="57" name="Bloque 9 Fuentes de ingresos"/>
          <p:cNvSpPr/>
          <p:nvPr/>
        </p:nvSpPr>
        <p:spPr>
          <a:xfrm>
            <a:off x="6140196" y="4114800"/>
            <a:ext cx="5591556" cy="777240"/>
          </a:xfrm>
          <a:prstGeom prst="roundRect">
            <a:avLst>
              <a:gd name="adj" fmla="val 9411"/>
            </a:avLst>
          </a:prstGeom>
          <a:solidFill>
            <a:srgbClr val="F7F1E6"/>
          </a:solidFill>
          <a:ln w="19050">
            <a:solidFill>
              <a:srgbClr val="B77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Oval 57"/>
          <p:cNvSpPr/>
          <p:nvPr/>
        </p:nvSpPr>
        <p:spPr>
          <a:xfrm>
            <a:off x="6249924" y="4224528"/>
            <a:ext cx="329184" cy="329184"/>
          </a:xfrm>
          <a:prstGeom prst="ellipse">
            <a:avLst/>
          </a:prstGeom>
          <a:solidFill>
            <a:srgbClr val="B77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28832" y="422452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B7790A"/>
                </a:solidFill>
                <a:latin typeface="Calibri"/>
              </a:rPr>
              <a:t>P4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88836" y="4206240"/>
            <a:ext cx="44028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A2A22"/>
                </a:solidFill>
                <a:latin typeface="Calibri"/>
              </a:rPr>
              <a:t>Fuentes de ingresos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88836" y="4544568"/>
            <a:ext cx="44028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B62"/>
                </a:solidFill>
                <a:latin typeface="Calibri"/>
              </a:rPr>
              <a:t>¿Cómo cobras por el valor y cuándo eres viable?</a:t>
            </a:r>
          </a:p>
        </p:txBody>
      </p:sp>
      <p:sp>
        <p:nvSpPr>
          <p:cNvPr id="62" name="Bloque 10 Impacto y escalamiento"/>
          <p:cNvSpPr/>
          <p:nvPr/>
        </p:nvSpPr>
        <p:spPr>
          <a:xfrm>
            <a:off x="457200" y="4983479"/>
            <a:ext cx="11274552" cy="685800"/>
          </a:xfrm>
          <a:prstGeom prst="roundRect">
            <a:avLst>
              <a:gd name="adj" fmla="val 10666"/>
            </a:avLst>
          </a:prstGeom>
          <a:solidFill>
            <a:srgbClr val="F1EBF3"/>
          </a:solidFill>
          <a:ln w="19050">
            <a:solidFill>
              <a:srgbClr val="7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Oval 62"/>
          <p:cNvSpPr/>
          <p:nvPr/>
        </p:nvSpPr>
        <p:spPr>
          <a:xfrm>
            <a:off x="566928" y="5093207"/>
            <a:ext cx="329184" cy="329184"/>
          </a:xfrm>
          <a:prstGeom prst="ellipse">
            <a:avLst/>
          </a:prstGeom>
          <a:solidFill>
            <a:srgbClr val="7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28832" y="5093207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7B3F8C"/>
                </a:solidFill>
                <a:latin typeface="Calibri"/>
              </a:rPr>
              <a:t>P6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" y="5074919"/>
            <a:ext cx="10085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A2A22"/>
                </a:solidFill>
                <a:latin typeface="Calibri"/>
              </a:rPr>
              <a:t>Impacto y escalamiento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5413247"/>
            <a:ext cx="10085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B62"/>
                </a:solidFill>
                <a:latin typeface="Calibri"/>
              </a:rPr>
              <a:t>¿Qué valor se apropian tus actores y cómo creces sin perder el propósito?</a:t>
            </a:r>
          </a:p>
        </p:txBody>
      </p:sp>
      <p:sp>
        <p:nvSpPr>
          <p:cNvPr id="67" name="Eje 0 Valores"/>
          <p:cNvSpPr/>
          <p:nvPr/>
        </p:nvSpPr>
        <p:spPr>
          <a:xfrm>
            <a:off x="457200" y="5760719"/>
            <a:ext cx="11274552" cy="384048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" y="5760719"/>
            <a:ext cx="10908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5B841"/>
                </a:solidFill>
                <a:latin typeface="Calibri"/>
              </a:rPr>
              <a:t>0   VALORES   </a:t>
            </a:r>
            <a:r>
              <a:rPr sz="1200" b="0" i="0">
                <a:solidFill>
                  <a:srgbClr val="C8E6C9"/>
                </a:solidFill>
                <a:latin typeface="Calibri"/>
              </a:rPr>
              <a:t>Eje transversal: propósito y no negociables que filtran cada decisión del lienzo.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99794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1F7A8C"/>
                </a:solidFill>
                <a:latin typeface="Calibri"/>
              </a:rPr>
              <a:t>ENTREGAR VALOR  ·  PREGUNTA 1: ¿QUIÉN ES TU CLIENTE?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04672"/>
            <a:ext cx="603504" cy="60350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E4E27"/>
                </a:solidFill>
                <a:latin typeface="Georgia"/>
              </a:rPr>
              <a:t>Problema y oportunidad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A2A22"/>
                </a:solidFill>
                <a:latin typeface="Calibri"/>
              </a:rPr>
              <a:t>El dolor real y medible que vive un grupo concreto, y la ventana que hoy permite resolverlo.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E27"/>
                </a:solidFill>
                <a:latin typeface="Calibri"/>
              </a:rPr>
              <a:t>Debe 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lr>
                <a:srgbClr val="1F7A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El problema en una frase: quién lo sufre, por qué ocurre y qué consecuencias genera.</a:t>
            </a:r>
          </a:p>
          <a:p>
            <a:pPr marL="228600" indent="-201168" algn="l">
              <a:spcAft>
                <a:spcPts val="1200"/>
              </a:spcAft>
              <a:buClr>
                <a:srgbClr val="1F7A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Evidencia: cifras oficiales, estudios sectoriales y árbol de problemas.</a:t>
            </a:r>
          </a:p>
          <a:p>
            <a:pPr marL="228600" indent="-201168" algn="l">
              <a:spcAft>
                <a:spcPts val="1200"/>
              </a:spcAft>
              <a:buClr>
                <a:srgbClr val="1F7A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La oportunidad: tendencias y condiciones del territorio que lo hacen resoluble ahora.</a:t>
            </a:r>
          </a:p>
        </p:txBody>
      </p:sp>
      <p:sp>
        <p:nvSpPr>
          <p:cNvPr id="8" name="Clave"/>
          <p:cNvSpPr/>
          <p:nvPr/>
        </p:nvSpPr>
        <p:spPr>
          <a:xfrm>
            <a:off x="548640" y="484632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A2A22"/>
                </a:solidFill>
                <a:latin typeface="Calibri"/>
              </a:rPr>
              <a:t>Enamórate del problema, no de la solución. Sin problema validado no hay modelo de negocio.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65760"/>
            <a:ext cx="3639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62"/>
                </a:solidFill>
                <a:latin typeface="Calibri"/>
              </a:rPr>
              <a:t>Ubicación en el lienzo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solidFill>
            <a:srgbClr val="B6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solidFill>
            <a:srgbClr val="E7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10</a:t>
            </a:r>
          </a:p>
        </p:txBody>
      </p:sp>
      <p:sp>
        <p:nvSpPr>
          <p:cNvPr id="31" name="Eje 0 Valores"/>
          <p:cNvSpPr/>
          <p:nvPr/>
        </p:nvSpPr>
        <p:spPr>
          <a:xfrm>
            <a:off x="8092440" y="2238277"/>
            <a:ext cx="3639312" cy="123966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238277"/>
            <a:ext cx="3639312" cy="123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5B841"/>
                </a:solidFill>
                <a:latin typeface="Calibri"/>
              </a:rPr>
              <a:t>0 · Valores</a:t>
            </a:r>
          </a:p>
        </p:txBody>
      </p:sp>
      <p:sp>
        <p:nvSpPr>
          <p:cNvPr id="33" name="Zona"/>
          <p:cNvSpPr/>
          <p:nvPr/>
        </p:nvSpPr>
        <p:spPr>
          <a:xfrm>
            <a:off x="8092440" y="2682284"/>
            <a:ext cx="3639312" cy="1325880"/>
          </a:xfrm>
          <a:prstGeom prst="roundRect">
            <a:avLst>
              <a:gd name="adj" fmla="val 5517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7920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Zona Entregar  ·  P1 · 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3948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quién llega el valor y por qué camino.</a:t>
            </a:r>
          </a:p>
        </p:txBody>
      </p:sp>
      <p:sp>
        <p:nvSpPr>
          <p:cNvPr id="36" name="Guía"/>
          <p:cNvSpPr/>
          <p:nvPr/>
        </p:nvSpPr>
        <p:spPr>
          <a:xfrm>
            <a:off x="8092440" y="4191044"/>
            <a:ext cx="3639312" cy="1935435"/>
          </a:xfrm>
          <a:prstGeom prst="roundRect">
            <a:avLst>
              <a:gd name="adj" fmla="val 3779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3007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 la guía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02524"/>
            <a:ext cx="3291840" cy="147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2A22"/>
                </a:solidFill>
                <a:latin typeface="Calibri"/>
              </a:rPr>
              <a:t>Seminario I · 1.1 Fundamentación contextual · 1.2 Problema de mercado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6392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1F7A8C"/>
                </a:solidFill>
                <a:latin typeface="Calibri"/>
              </a:rPr>
              <a:t>ENTREGAR VALOR  ·  PREGUNTA 1: ¿QUIÉN ES TU CLIENTE?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04672"/>
            <a:ext cx="603504" cy="60350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E4E27"/>
                </a:solidFill>
                <a:latin typeface="Georgia"/>
              </a:rPr>
              <a:t>Segmentos de actores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A2A22"/>
                </a:solidFill>
                <a:latin typeface="Calibri"/>
              </a:rPr>
              <a:t>Todos los que reciben o sienten el valor: quien paga, quien usa, quien decide, la comunidad y el entorno.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E27"/>
                </a:solidFill>
                <a:latin typeface="Calibri"/>
              </a:rPr>
              <a:t>Debe 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lr>
                <a:srgbClr val="1F7A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Segmento prioritario y perfil del cliente: necesidades, motivaciones y forma de decidir.</a:t>
            </a:r>
          </a:p>
          <a:p>
            <a:pPr marL="228600" indent="-201168" algn="l">
              <a:spcAft>
                <a:spcPts val="1200"/>
              </a:spcAft>
              <a:buClr>
                <a:srgbClr val="1F7A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Usuario, pagador y decisor diferenciados, con tamaño de mercado (TAM, SAM, SOM).</a:t>
            </a:r>
          </a:p>
          <a:p>
            <a:pPr marL="228600" indent="-201168" algn="l">
              <a:spcAft>
                <a:spcPts val="1200"/>
              </a:spcAft>
              <a:buClr>
                <a:srgbClr val="1F7A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Otros actores afectados: comunidad, trabajadores, proveedores y naturaleza.</a:t>
            </a:r>
          </a:p>
        </p:txBody>
      </p:sp>
      <p:sp>
        <p:nvSpPr>
          <p:cNvPr id="8" name="Clave"/>
          <p:cNvSpPr/>
          <p:nvPr/>
        </p:nvSpPr>
        <p:spPr>
          <a:xfrm>
            <a:off x="548640" y="484632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A2A22"/>
                </a:solidFill>
                <a:latin typeface="Calibri"/>
              </a:rPr>
              <a:t>¿Por qué actores y no solo clientes? Una empresa es más que sus dueños y clientes. Quien no aparece en el lienzo termina pagando los costos que el modelo ignora.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65760"/>
            <a:ext cx="3639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62"/>
                </a:solidFill>
                <a:latin typeface="Calibri"/>
              </a:rPr>
              <a:t>Ubicación en el lienzo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solidFill>
            <a:srgbClr val="B6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solidFill>
            <a:srgbClr val="E7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10</a:t>
            </a:r>
          </a:p>
        </p:txBody>
      </p:sp>
      <p:sp>
        <p:nvSpPr>
          <p:cNvPr id="31" name="Eje 0 Valores"/>
          <p:cNvSpPr/>
          <p:nvPr/>
        </p:nvSpPr>
        <p:spPr>
          <a:xfrm>
            <a:off x="8092440" y="2238277"/>
            <a:ext cx="3639312" cy="123966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238277"/>
            <a:ext cx="3639312" cy="123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5B841"/>
                </a:solidFill>
                <a:latin typeface="Calibri"/>
              </a:rPr>
              <a:t>0 · Valores</a:t>
            </a:r>
          </a:p>
        </p:txBody>
      </p:sp>
      <p:sp>
        <p:nvSpPr>
          <p:cNvPr id="33" name="Zona"/>
          <p:cNvSpPr/>
          <p:nvPr/>
        </p:nvSpPr>
        <p:spPr>
          <a:xfrm>
            <a:off x="8092440" y="2682284"/>
            <a:ext cx="3639312" cy="1325880"/>
          </a:xfrm>
          <a:prstGeom prst="roundRect">
            <a:avLst>
              <a:gd name="adj" fmla="val 5517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7920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Zona Entregar  ·  P1 · 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3948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quién llega el valor y por qué camino.</a:t>
            </a:r>
          </a:p>
        </p:txBody>
      </p:sp>
      <p:sp>
        <p:nvSpPr>
          <p:cNvPr id="36" name="Guía"/>
          <p:cNvSpPr/>
          <p:nvPr/>
        </p:nvSpPr>
        <p:spPr>
          <a:xfrm>
            <a:off x="8092440" y="4191044"/>
            <a:ext cx="3639312" cy="1935435"/>
          </a:xfrm>
          <a:prstGeom prst="roundRect">
            <a:avLst>
              <a:gd name="adj" fmla="val 3779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3007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 la guía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02524"/>
            <a:ext cx="3291840" cy="147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2A22"/>
                </a:solidFill>
                <a:latin typeface="Calibri"/>
              </a:rPr>
              <a:t>Seminario I · 1.3 Segmento · 1.4 Perfil del cliente  ·  Seminario II · 4.1 a 4.3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79973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2E7D32"/>
                </a:solidFill>
                <a:latin typeface="Calibri"/>
              </a:rPr>
              <a:t>CREAR VALOR  ·  PREGUNTA 2: ¿QUÉ PUEDES HACER POR TU CLIENTE?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04672"/>
            <a:ext cx="603504" cy="6035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E4E27"/>
                </a:solidFill>
                <a:latin typeface="Georgia"/>
              </a:rPr>
              <a:t>Portafolio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A2A22"/>
                </a:solidFill>
                <a:latin typeface="Calibri"/>
              </a:rPr>
              <a:t>El valor que creas con y para tus actores, en tres dimensiones a la vez: económica, social y ambiental.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E27"/>
                </a:solidFill>
                <a:latin typeface="Calibri"/>
              </a:rPr>
              <a:t>Debe 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Concepto de producto o servicio: qué ofreces y qué problema resuelve.</a:t>
            </a:r>
          </a:p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Beneficios funcionales, de utilidad y emocionales, y diferenciación frente a las alternativas.</a:t>
            </a:r>
          </a:p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Valor por dimensión: Profit (económico), People (social), Planet (ambiental).</a:t>
            </a:r>
          </a:p>
        </p:txBody>
      </p:sp>
      <p:sp>
        <p:nvSpPr>
          <p:cNvPr id="8" name="Clave"/>
          <p:cNvSpPr/>
          <p:nvPr/>
        </p:nvSpPr>
        <p:spPr>
          <a:xfrm>
            <a:off x="548640" y="484632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E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A2A22"/>
                </a:solidFill>
                <a:latin typeface="Calibri"/>
              </a:rPr>
              <a:t>¿Por qué portafolio y no propuesta? La propuesta de valor mira a un actor (el cliente) y una dimensión (el beneficio). El portafolio mira a todos los actores y las tres dimensiones (Freudenreich et al., 2019).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65760"/>
            <a:ext cx="3639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62"/>
                </a:solidFill>
                <a:latin typeface="Calibri"/>
              </a:rPr>
              <a:t>Ubicación en el lienzo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solidFill>
            <a:srgbClr val="E7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10</a:t>
            </a:r>
          </a:p>
        </p:txBody>
      </p:sp>
      <p:sp>
        <p:nvSpPr>
          <p:cNvPr id="31" name="Eje 0 Valores"/>
          <p:cNvSpPr/>
          <p:nvPr/>
        </p:nvSpPr>
        <p:spPr>
          <a:xfrm>
            <a:off x="8092440" y="2238277"/>
            <a:ext cx="3639312" cy="123966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238277"/>
            <a:ext cx="3639312" cy="123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5B841"/>
                </a:solidFill>
                <a:latin typeface="Calibri"/>
              </a:rPr>
              <a:t>0 · Valores</a:t>
            </a:r>
          </a:p>
        </p:txBody>
      </p:sp>
      <p:sp>
        <p:nvSpPr>
          <p:cNvPr id="33" name="Zona"/>
          <p:cNvSpPr/>
          <p:nvPr/>
        </p:nvSpPr>
        <p:spPr>
          <a:xfrm>
            <a:off x="8092440" y="2682284"/>
            <a:ext cx="3639312" cy="1325880"/>
          </a:xfrm>
          <a:prstGeom prst="roundRect">
            <a:avLst>
              <a:gd name="adj" fmla="val 5517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7920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Zona Crear  ·  P2 · P5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3948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Qué valor creas y con qué lo construyes.</a:t>
            </a:r>
          </a:p>
        </p:txBody>
      </p:sp>
      <p:sp>
        <p:nvSpPr>
          <p:cNvPr id="36" name="Guía"/>
          <p:cNvSpPr/>
          <p:nvPr/>
        </p:nvSpPr>
        <p:spPr>
          <a:xfrm>
            <a:off x="8092440" y="4191044"/>
            <a:ext cx="3639312" cy="1935435"/>
          </a:xfrm>
          <a:prstGeom prst="roundRect">
            <a:avLst>
              <a:gd name="adj" fmla="val 3779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3007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 la guía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02524"/>
            <a:ext cx="3291840" cy="147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2A22"/>
                </a:solidFill>
                <a:latin typeface="Calibri"/>
              </a:rPr>
              <a:t>Seminario I · 3.2 Concepto de producto  ·  Seminario II · 4.4 Competencia · 4.5 Diferenciación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06447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2E7D32"/>
                </a:solidFill>
                <a:latin typeface="Calibri"/>
              </a:rPr>
              <a:t>CREAR VALOR  ·  PREGUNTA 5: ¿CÓMO DISEÑAS Y CONSTRUYES TU PRODUCTO?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04672"/>
            <a:ext cx="603504" cy="6035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E4E27"/>
                </a:solidFill>
                <a:latin typeface="Georgia"/>
              </a:rPr>
              <a:t>Ecosistema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A2A22"/>
                </a:solidFill>
                <a:latin typeface="Calibri"/>
              </a:rPr>
              <a:t>Los aliados, proveedores, instituciones y redes que hacen posible crear y entregar el valor.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E27"/>
                </a:solidFill>
                <a:latin typeface="Calibri"/>
              </a:rPr>
              <a:t>Debe 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Mapa de actores: aliados estratégicos, proveedores e instituciones públicas, privadas y comunitarias.</a:t>
            </a:r>
          </a:p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Tipo de relación con cada uno: qué aporta y qué recibe a cambio.</a:t>
            </a:r>
          </a:p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Actores críticos para la viabilidad del proyecto.</a:t>
            </a:r>
          </a:p>
        </p:txBody>
      </p:sp>
      <p:sp>
        <p:nvSpPr>
          <p:cNvPr id="8" name="Clave"/>
          <p:cNvSpPr/>
          <p:nvPr/>
        </p:nvSpPr>
        <p:spPr>
          <a:xfrm>
            <a:off x="548640" y="484632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E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A2A22"/>
                </a:solidFill>
                <a:latin typeface="Calibri"/>
              </a:rPr>
              <a:t>Un ecosistema no es una lista de contactos: es un intercambio de valor. Si un aliado no gana, la alianza no dura.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65760"/>
            <a:ext cx="3639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62"/>
                </a:solidFill>
                <a:latin typeface="Calibri"/>
              </a:rPr>
              <a:t>Ubicación en el lienzo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solidFill>
            <a:srgbClr val="B6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solidFill>
            <a:srgbClr val="E7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10</a:t>
            </a:r>
          </a:p>
        </p:txBody>
      </p:sp>
      <p:sp>
        <p:nvSpPr>
          <p:cNvPr id="31" name="Eje 0 Valores"/>
          <p:cNvSpPr/>
          <p:nvPr/>
        </p:nvSpPr>
        <p:spPr>
          <a:xfrm>
            <a:off x="8092440" y="2238277"/>
            <a:ext cx="3639312" cy="123966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238277"/>
            <a:ext cx="3639312" cy="123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5B841"/>
                </a:solidFill>
                <a:latin typeface="Calibri"/>
              </a:rPr>
              <a:t>0 · Valores</a:t>
            </a:r>
          </a:p>
        </p:txBody>
      </p:sp>
      <p:sp>
        <p:nvSpPr>
          <p:cNvPr id="33" name="Zona"/>
          <p:cNvSpPr/>
          <p:nvPr/>
        </p:nvSpPr>
        <p:spPr>
          <a:xfrm>
            <a:off x="8092440" y="2682284"/>
            <a:ext cx="3639312" cy="1325880"/>
          </a:xfrm>
          <a:prstGeom prst="roundRect">
            <a:avLst>
              <a:gd name="adj" fmla="val 5517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7920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Zona Crear  ·  P2 · P5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3948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Qué valor creas y con qué lo construyes.</a:t>
            </a:r>
          </a:p>
        </p:txBody>
      </p:sp>
      <p:sp>
        <p:nvSpPr>
          <p:cNvPr id="36" name="Guía"/>
          <p:cNvSpPr/>
          <p:nvPr/>
        </p:nvSpPr>
        <p:spPr>
          <a:xfrm>
            <a:off x="8092440" y="4191044"/>
            <a:ext cx="3639312" cy="1935435"/>
          </a:xfrm>
          <a:prstGeom prst="roundRect">
            <a:avLst>
              <a:gd name="adj" fmla="val 3779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3007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 la guía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02524"/>
            <a:ext cx="3291840" cy="147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2A22"/>
                </a:solidFill>
                <a:latin typeface="Calibri"/>
              </a:rPr>
              <a:t>Seminario I · 3.3 Ecosistema  ·  Seminario II · 7.2 Proveedores y abastecimiento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50731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2E7D32"/>
                </a:solidFill>
                <a:latin typeface="Calibri"/>
              </a:rPr>
              <a:t>CREAR VALOR  ·  PREGUNTA 5: ¿CÓMO DISEÑAS Y CONSTRUYES TU PRODUCTO?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04672"/>
            <a:ext cx="603504" cy="6035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E4E27"/>
                </a:solidFill>
                <a:latin typeface="Georgia"/>
              </a:rPr>
              <a:t>Validación y PMV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A2A22"/>
                </a:solidFill>
                <a:latin typeface="Calibri"/>
              </a:rPr>
              <a:t>Los experimentos que convierten supuestos en evidencia antes de invertir.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E27"/>
                </a:solidFill>
                <a:latin typeface="Calibri"/>
              </a:rPr>
              <a:t>Debe 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Hipótesis clave, con criterio de aceptación y de rechazo.</a:t>
            </a:r>
          </a:p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Método: entrevistas, observación, encuestas o pruebas con usuarios.</a:t>
            </a:r>
          </a:p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Producto mínimo viable probado con clientes reales: qué se confirmó y qué se ajustó.</a:t>
            </a:r>
          </a:p>
        </p:txBody>
      </p:sp>
      <p:sp>
        <p:nvSpPr>
          <p:cNvPr id="8" name="Clave"/>
          <p:cNvSpPr/>
          <p:nvPr/>
        </p:nvSpPr>
        <p:spPr>
          <a:xfrm>
            <a:off x="548640" y="484632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E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A2A22"/>
                </a:solidFill>
                <a:latin typeface="Calibri"/>
              </a:rPr>
              <a:t>Se valida en orden: primero el problema, luego la solución y al final la disposición a pagar.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65760"/>
            <a:ext cx="3639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62"/>
                </a:solidFill>
                <a:latin typeface="Calibri"/>
              </a:rPr>
              <a:t>Ubicación en el lienzo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solidFill>
            <a:srgbClr val="B6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solidFill>
            <a:srgbClr val="E7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10</a:t>
            </a:r>
          </a:p>
        </p:txBody>
      </p:sp>
      <p:sp>
        <p:nvSpPr>
          <p:cNvPr id="31" name="Eje 0 Valores"/>
          <p:cNvSpPr/>
          <p:nvPr/>
        </p:nvSpPr>
        <p:spPr>
          <a:xfrm>
            <a:off x="8092440" y="2238277"/>
            <a:ext cx="3639312" cy="123966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238277"/>
            <a:ext cx="3639312" cy="123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5B841"/>
                </a:solidFill>
                <a:latin typeface="Calibri"/>
              </a:rPr>
              <a:t>0 · Valores</a:t>
            </a:r>
          </a:p>
        </p:txBody>
      </p:sp>
      <p:sp>
        <p:nvSpPr>
          <p:cNvPr id="33" name="Zona"/>
          <p:cNvSpPr/>
          <p:nvPr/>
        </p:nvSpPr>
        <p:spPr>
          <a:xfrm>
            <a:off x="8092440" y="2682284"/>
            <a:ext cx="3639312" cy="1325880"/>
          </a:xfrm>
          <a:prstGeom prst="roundRect">
            <a:avLst>
              <a:gd name="adj" fmla="val 5517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7920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Zona Crear  ·  P2 · P5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3948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Qué valor creas y con qué lo construyes.</a:t>
            </a:r>
          </a:p>
        </p:txBody>
      </p:sp>
      <p:sp>
        <p:nvSpPr>
          <p:cNvPr id="36" name="Guía"/>
          <p:cNvSpPr/>
          <p:nvPr/>
        </p:nvSpPr>
        <p:spPr>
          <a:xfrm>
            <a:off x="8092440" y="4191044"/>
            <a:ext cx="3639312" cy="1935435"/>
          </a:xfrm>
          <a:prstGeom prst="roundRect">
            <a:avLst>
              <a:gd name="adj" fmla="val 3779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3007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 la guía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02524"/>
            <a:ext cx="3291840" cy="147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2A22"/>
                </a:solidFill>
                <a:latin typeface="Calibri"/>
              </a:rPr>
              <a:t>Seminario I · 1.5 Validación del problema  ·  Seminario II · 5 Validación y PMV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0963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2E7D32"/>
                </a:solidFill>
                <a:latin typeface="Calibri"/>
              </a:rPr>
              <a:t>CREAR VALOR  ·  PREGUNTA 5: ¿CÓMO DISEÑAS Y CONSTRUYES TU PRODUCTO?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04672"/>
            <a:ext cx="603504" cy="6035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E4E27"/>
                </a:solidFill>
                <a:latin typeface="Georgia"/>
              </a:rPr>
              <a:t>Recursos y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A2A22"/>
                </a:solidFill>
                <a:latin typeface="Calibri"/>
              </a:rPr>
              <a:t>Lo que necesitas y cómo funciona el negocio desde que el cliente pide hasta que recibe.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E27"/>
                </a:solidFill>
                <a:latin typeface="Calibri"/>
              </a:rPr>
              <a:t>Debe 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Recursos indispensables: técnicos, físicos, tecnológicos y talento humano.</a:t>
            </a:r>
          </a:p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Proceso principal, localización y capacidad inicial.</a:t>
            </a:r>
          </a:p>
          <a:p>
            <a:pPr marL="228600" indent="-201168" algn="l">
              <a:spcAft>
                <a:spcPts val="1200"/>
              </a:spcAft>
              <a:buClr>
                <a:srgbClr val="2E7D32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Aspectos críticos de la operación y cómo se controlan.</a:t>
            </a:r>
          </a:p>
        </p:txBody>
      </p:sp>
      <p:sp>
        <p:nvSpPr>
          <p:cNvPr id="8" name="Clave"/>
          <p:cNvSpPr/>
          <p:nvPr/>
        </p:nvSpPr>
        <p:spPr>
          <a:xfrm>
            <a:off x="548640" y="484632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E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A2A22"/>
                </a:solidFill>
                <a:latin typeface="Calibri"/>
              </a:rPr>
              <a:t>Frugalidad: usa lo que ya existe y elimina lo que el cliente no valora.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65760"/>
            <a:ext cx="3639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62"/>
                </a:solidFill>
                <a:latin typeface="Calibri"/>
              </a:rPr>
              <a:t>Ubicación en el lienzo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solidFill>
            <a:srgbClr val="B6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solidFill>
            <a:srgbClr val="E7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10</a:t>
            </a:r>
          </a:p>
        </p:txBody>
      </p:sp>
      <p:sp>
        <p:nvSpPr>
          <p:cNvPr id="31" name="Eje 0 Valores"/>
          <p:cNvSpPr/>
          <p:nvPr/>
        </p:nvSpPr>
        <p:spPr>
          <a:xfrm>
            <a:off x="8092440" y="2238277"/>
            <a:ext cx="3639312" cy="123966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238277"/>
            <a:ext cx="3639312" cy="123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5B841"/>
                </a:solidFill>
                <a:latin typeface="Calibri"/>
              </a:rPr>
              <a:t>0 · Valores</a:t>
            </a:r>
          </a:p>
        </p:txBody>
      </p:sp>
      <p:sp>
        <p:nvSpPr>
          <p:cNvPr id="33" name="Zona"/>
          <p:cNvSpPr/>
          <p:nvPr/>
        </p:nvSpPr>
        <p:spPr>
          <a:xfrm>
            <a:off x="8092440" y="2682284"/>
            <a:ext cx="3639312" cy="1325880"/>
          </a:xfrm>
          <a:prstGeom prst="roundRect">
            <a:avLst>
              <a:gd name="adj" fmla="val 5517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7920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Zona Crear  ·  P2 · P5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3948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Qué valor creas y con qué lo construyes.</a:t>
            </a:r>
          </a:p>
        </p:txBody>
      </p:sp>
      <p:sp>
        <p:nvSpPr>
          <p:cNvPr id="36" name="Guía"/>
          <p:cNvSpPr/>
          <p:nvPr/>
        </p:nvSpPr>
        <p:spPr>
          <a:xfrm>
            <a:off x="8092440" y="4191044"/>
            <a:ext cx="3639312" cy="1935435"/>
          </a:xfrm>
          <a:prstGeom prst="roundRect">
            <a:avLst>
              <a:gd name="adj" fmla="val 3779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3007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 la guía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02524"/>
            <a:ext cx="3291840" cy="147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2A22"/>
                </a:solidFill>
                <a:latin typeface="Calibri"/>
              </a:rPr>
              <a:t>Seminario II · 6 Estudio técnico · 7 Operación del emprendimiento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8580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1F7A8C"/>
                </a:solidFill>
                <a:latin typeface="Calibri"/>
              </a:rPr>
              <a:t>ENTREGAR VALOR  ·  PREGUNTA 3: ¿CÓMO ADQUIERE TU CLIENTE TU PRODUCTO?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04672"/>
            <a:ext cx="603504" cy="60350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E4E27"/>
                </a:solidFill>
                <a:latin typeface="Georgia"/>
              </a:rPr>
              <a:t>Canales y relación con el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A2A22"/>
                </a:solidFill>
                <a:latin typeface="Calibri"/>
              </a:rPr>
              <a:t>El camino del cliente: cómo te descubre, te compra, recibe el producto y regresa.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E27"/>
                </a:solidFill>
                <a:latin typeface="Calibri"/>
              </a:rPr>
              <a:t>Debe 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lr>
                <a:srgbClr val="1F7A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Ruta de adquisición: del primer contacto a la compra (embudo de ventas).</a:t>
            </a:r>
          </a:p>
          <a:p>
            <a:pPr marL="228600" indent="-201168" algn="l">
              <a:spcAft>
                <a:spcPts val="1200"/>
              </a:spcAft>
              <a:buClr>
                <a:srgbClr val="1F7A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Canales de venta y entrega, físicos y digitales.</a:t>
            </a:r>
          </a:p>
          <a:p>
            <a:pPr marL="228600" indent="-201168" algn="l">
              <a:spcAft>
                <a:spcPts val="1200"/>
              </a:spcAft>
              <a:buClr>
                <a:srgbClr val="1F7A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Relación y confianza: atención, posventa y fidelización.</a:t>
            </a:r>
          </a:p>
        </p:txBody>
      </p:sp>
      <p:sp>
        <p:nvSpPr>
          <p:cNvPr id="8" name="Clave"/>
          <p:cNvSpPr/>
          <p:nvPr/>
        </p:nvSpPr>
        <p:spPr>
          <a:xfrm>
            <a:off x="548640" y="484632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A2A22"/>
                </a:solidFill>
                <a:latin typeface="Calibri"/>
              </a:rPr>
              <a:t>Identifica quién toma la decisión de compra. Muchas veces quien usa no es quien paga.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65760"/>
            <a:ext cx="3639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62"/>
                </a:solidFill>
                <a:latin typeface="Calibri"/>
              </a:rPr>
              <a:t>Ubicación en el lienzo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solidFill>
            <a:srgbClr val="B6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solidFill>
            <a:srgbClr val="E7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10</a:t>
            </a:r>
          </a:p>
        </p:txBody>
      </p:sp>
      <p:sp>
        <p:nvSpPr>
          <p:cNvPr id="31" name="Eje 0 Valores"/>
          <p:cNvSpPr/>
          <p:nvPr/>
        </p:nvSpPr>
        <p:spPr>
          <a:xfrm>
            <a:off x="8092440" y="2238277"/>
            <a:ext cx="3639312" cy="123966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238277"/>
            <a:ext cx="3639312" cy="123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5B841"/>
                </a:solidFill>
                <a:latin typeface="Calibri"/>
              </a:rPr>
              <a:t>0 · Valores</a:t>
            </a:r>
          </a:p>
        </p:txBody>
      </p:sp>
      <p:sp>
        <p:nvSpPr>
          <p:cNvPr id="33" name="Zona"/>
          <p:cNvSpPr/>
          <p:nvPr/>
        </p:nvSpPr>
        <p:spPr>
          <a:xfrm>
            <a:off x="8092440" y="2682284"/>
            <a:ext cx="3639312" cy="1325880"/>
          </a:xfrm>
          <a:prstGeom prst="roundRect">
            <a:avLst>
              <a:gd name="adj" fmla="val 5517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7920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Zona Entregar  ·  P1 · 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3948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quién llega el valor y por qué camino.</a:t>
            </a:r>
          </a:p>
        </p:txBody>
      </p:sp>
      <p:sp>
        <p:nvSpPr>
          <p:cNvPr id="36" name="Guía"/>
          <p:cNvSpPr/>
          <p:nvPr/>
        </p:nvSpPr>
        <p:spPr>
          <a:xfrm>
            <a:off x="8092440" y="4191044"/>
            <a:ext cx="3639312" cy="1935435"/>
          </a:xfrm>
          <a:prstGeom prst="roundRect">
            <a:avLst>
              <a:gd name="adj" fmla="val 3779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3007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 la guía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02524"/>
            <a:ext cx="3291840" cy="147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2A22"/>
                </a:solidFill>
                <a:latin typeface="Calibri"/>
              </a:rPr>
              <a:t>Ruta de emprendimiento · Marketing y canales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22953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B7790A"/>
                </a:solidFill>
                <a:latin typeface="Calibri"/>
              </a:rPr>
              <a:t>CAPTURAR VALOR  ·  PREGUNTA 4: ¿CÓMO GANAS DINERO CON TU PRODUCTO?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04672"/>
            <a:ext cx="603504" cy="603504"/>
          </a:xfrm>
          <a:prstGeom prst="ellipse">
            <a:avLst/>
          </a:prstGeom>
          <a:solidFill>
            <a:srgbClr val="B77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E4E27"/>
                </a:solidFill>
                <a:latin typeface="Georgia"/>
              </a:rPr>
              <a:t>Estructura de costos reales e inversión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A2A22"/>
                </a:solidFill>
                <a:latin typeface="Calibri"/>
              </a:rPr>
              <a:t>Lo que cuesta crear y entregar el valor, incluidos los costos que hoy paga alguien 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E27"/>
                </a:solidFill>
                <a:latin typeface="Calibri"/>
              </a:rPr>
              <a:t>Debe 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lr>
                <a:srgbClr val="B7790A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Inversión inicial, costos fijos y variables, y costo de adquirir un cliente (CAC).</a:t>
            </a:r>
          </a:p>
          <a:p>
            <a:pPr marL="228600" indent="-201168" algn="l">
              <a:spcAft>
                <a:spcPts val="1200"/>
              </a:spcAft>
              <a:buClr>
                <a:srgbClr val="B7790A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Costos sociales: salarios dignos y precio justo a proveedores.</a:t>
            </a:r>
          </a:p>
          <a:p>
            <a:pPr marL="228600" indent="-201168" algn="l">
              <a:spcAft>
                <a:spcPts val="1200"/>
              </a:spcAft>
              <a:buClr>
                <a:srgbClr val="B7790A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Costos ambientales: residuos, energía, agua y huella.</a:t>
            </a:r>
          </a:p>
        </p:txBody>
      </p:sp>
      <p:sp>
        <p:nvSpPr>
          <p:cNvPr id="8" name="Clave"/>
          <p:cNvSpPr/>
          <p:nvPr/>
        </p:nvSpPr>
        <p:spPr>
          <a:xfrm>
            <a:off x="548640" y="484632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F6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A2A22"/>
                </a:solidFill>
                <a:latin typeface="Calibri"/>
              </a:rPr>
              <a:t>Costos reales, no solo contables. Si tu modelo es barato porque otros pagan sus costos, no es sostenible.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65760"/>
            <a:ext cx="3639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62"/>
                </a:solidFill>
                <a:latin typeface="Calibri"/>
              </a:rPr>
              <a:t>Ubicación en el lienzo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solidFill>
            <a:srgbClr val="B6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solidFill>
            <a:srgbClr val="B77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solidFill>
            <a:srgbClr val="E7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10</a:t>
            </a:r>
          </a:p>
        </p:txBody>
      </p:sp>
      <p:sp>
        <p:nvSpPr>
          <p:cNvPr id="31" name="Eje 0 Valores"/>
          <p:cNvSpPr/>
          <p:nvPr/>
        </p:nvSpPr>
        <p:spPr>
          <a:xfrm>
            <a:off x="8092440" y="2238277"/>
            <a:ext cx="3639312" cy="123966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238277"/>
            <a:ext cx="3639312" cy="123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5B841"/>
                </a:solidFill>
                <a:latin typeface="Calibri"/>
              </a:rPr>
              <a:t>0 · Valores</a:t>
            </a:r>
          </a:p>
        </p:txBody>
      </p:sp>
      <p:sp>
        <p:nvSpPr>
          <p:cNvPr id="33" name="Zona"/>
          <p:cNvSpPr/>
          <p:nvPr/>
        </p:nvSpPr>
        <p:spPr>
          <a:xfrm>
            <a:off x="8092440" y="2682284"/>
            <a:ext cx="3639312" cy="1325880"/>
          </a:xfrm>
          <a:prstGeom prst="roundRect">
            <a:avLst>
              <a:gd name="adj" fmla="val 5517"/>
            </a:avLst>
          </a:prstGeom>
          <a:solidFill>
            <a:srgbClr val="B77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7920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Zona Capturar  ·  P4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3948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Cómo el negocio retiene parte del valor para sostenerse.</a:t>
            </a:r>
          </a:p>
        </p:txBody>
      </p:sp>
      <p:sp>
        <p:nvSpPr>
          <p:cNvPr id="36" name="Guía"/>
          <p:cNvSpPr/>
          <p:nvPr/>
        </p:nvSpPr>
        <p:spPr>
          <a:xfrm>
            <a:off x="8092440" y="4191044"/>
            <a:ext cx="3639312" cy="1935435"/>
          </a:xfrm>
          <a:prstGeom prst="roundRect">
            <a:avLst>
              <a:gd name="adj" fmla="val 3779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3007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 la guía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02524"/>
            <a:ext cx="3291840" cy="147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2A22"/>
                </a:solidFill>
                <a:latin typeface="Calibri"/>
              </a:rPr>
              <a:t>Seminario II · 8 Inversión inicial  ·  Proyecto de grado · Estructura de costos y CAPEX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42317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B7790A"/>
                </a:solidFill>
                <a:latin typeface="Calibri"/>
              </a:rPr>
              <a:t>CAPTURAR VALOR  ·  PREGUNTA 4: ¿CÓMO GANAS DINERO CON TU PRODUCTO?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04672"/>
            <a:ext cx="603504" cy="603504"/>
          </a:xfrm>
          <a:prstGeom prst="ellipse">
            <a:avLst/>
          </a:prstGeom>
          <a:solidFill>
            <a:srgbClr val="B77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E4E27"/>
                </a:solidFill>
                <a:latin typeface="Georgia"/>
              </a:rPr>
              <a:t>Fuentes de ingresos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A2A22"/>
                </a:solidFill>
                <a:latin typeface="Calibri"/>
              </a:rPr>
              <a:t>Cómo el negocio cobra por el valor que crea y llega a ser viable.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E27"/>
                </a:solidFill>
                <a:latin typeface="Calibri"/>
              </a:rPr>
              <a:t>Debe 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lr>
                <a:srgbClr val="B7790A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Modelo de ingreso: venta, suscripción, pago por uso, comisión o servicio.</a:t>
            </a:r>
          </a:p>
          <a:p>
            <a:pPr marL="228600" indent="-201168" algn="l">
              <a:spcAft>
                <a:spcPts val="1200"/>
              </a:spcAft>
              <a:buClr>
                <a:srgbClr val="B7790A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Precio y proyección de ventas realistas.</a:t>
            </a:r>
          </a:p>
          <a:p>
            <a:pPr marL="228600" indent="-201168" algn="l">
              <a:spcAft>
                <a:spcPts val="1200"/>
              </a:spcAft>
              <a:buClr>
                <a:srgbClr val="B7790A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Economía de unidad: LTV mayor que CAC y punto de equilibrio.</a:t>
            </a:r>
          </a:p>
        </p:txBody>
      </p:sp>
      <p:sp>
        <p:nvSpPr>
          <p:cNvPr id="8" name="Clave"/>
          <p:cNvSpPr/>
          <p:nvPr/>
        </p:nvSpPr>
        <p:spPr>
          <a:xfrm>
            <a:off x="548640" y="484632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F6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A2A22"/>
                </a:solidFill>
                <a:latin typeface="Calibri"/>
              </a:rPr>
              <a:t>Cobrar por el impacto no le quita a la causa: la rentabilidad es lo que permite que el impacto dure.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65760"/>
            <a:ext cx="3639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62"/>
                </a:solidFill>
                <a:latin typeface="Calibri"/>
              </a:rPr>
              <a:t>Ubicación en el lienzo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solidFill>
            <a:srgbClr val="B6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solidFill>
            <a:srgbClr val="B77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solidFill>
            <a:srgbClr val="E7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10</a:t>
            </a:r>
          </a:p>
        </p:txBody>
      </p:sp>
      <p:sp>
        <p:nvSpPr>
          <p:cNvPr id="31" name="Eje 0 Valores"/>
          <p:cNvSpPr/>
          <p:nvPr/>
        </p:nvSpPr>
        <p:spPr>
          <a:xfrm>
            <a:off x="8092440" y="2238277"/>
            <a:ext cx="3639312" cy="123966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238277"/>
            <a:ext cx="3639312" cy="123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5B841"/>
                </a:solidFill>
                <a:latin typeface="Calibri"/>
              </a:rPr>
              <a:t>0 · Valores</a:t>
            </a:r>
          </a:p>
        </p:txBody>
      </p:sp>
      <p:sp>
        <p:nvSpPr>
          <p:cNvPr id="33" name="Zona"/>
          <p:cNvSpPr/>
          <p:nvPr/>
        </p:nvSpPr>
        <p:spPr>
          <a:xfrm>
            <a:off x="8092440" y="2682284"/>
            <a:ext cx="3639312" cy="1325880"/>
          </a:xfrm>
          <a:prstGeom prst="roundRect">
            <a:avLst>
              <a:gd name="adj" fmla="val 5517"/>
            </a:avLst>
          </a:prstGeom>
          <a:solidFill>
            <a:srgbClr val="B77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7920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Zona Capturar  ·  P4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3948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Cómo el negocio retiene parte del valor para sostenerse.</a:t>
            </a:r>
          </a:p>
        </p:txBody>
      </p:sp>
      <p:sp>
        <p:nvSpPr>
          <p:cNvPr id="36" name="Guía"/>
          <p:cNvSpPr/>
          <p:nvPr/>
        </p:nvSpPr>
        <p:spPr>
          <a:xfrm>
            <a:off x="8092440" y="4191044"/>
            <a:ext cx="3639312" cy="1935435"/>
          </a:xfrm>
          <a:prstGeom prst="roundRect">
            <a:avLst>
              <a:gd name="adj" fmla="val 3779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3007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 la guía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02524"/>
            <a:ext cx="3291840" cy="147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2A22"/>
                </a:solidFill>
                <a:latin typeface="Calibri"/>
              </a:rPr>
              <a:t>Proyecto de grado · Proyección de ventas · LTV · VPN · TIR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9092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">
                <a:solidFill>
                  <a:srgbClr val="7B3F8C"/>
                </a:solidFill>
                <a:latin typeface="Calibri"/>
              </a:rPr>
              <a:t>COMPARTIR VALOR  ·  PREGUNTA 6: ¿CÓMO ESCALAS TU NEGOCIO?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04672"/>
            <a:ext cx="603504" cy="603504"/>
          </a:xfrm>
          <a:prstGeom prst="ellipse">
            <a:avLst/>
          </a:prstGeom>
          <a:solidFill>
            <a:srgbClr val="7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E4E27"/>
                </a:solidFill>
                <a:latin typeface="Georgia"/>
              </a:rPr>
              <a:t>Impacto y escalamiento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1A2A22"/>
                </a:solidFill>
                <a:latin typeface="Calibri"/>
              </a:rPr>
              <a:t>El valor que reciben y se apropian los actores, y cómo el negocio crece sin perder su propósito.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E27"/>
                </a:solidFill>
                <a:latin typeface="Calibri"/>
              </a:rPr>
              <a:t>Debe 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lr>
                <a:srgbClr val="7B3F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Valor compartido: qué gana cada actor (comunidad, trabajadores, entorno) y cómo lo mides.</a:t>
            </a:r>
          </a:p>
          <a:p>
            <a:pPr marL="228600" indent="-201168" algn="l">
              <a:spcAft>
                <a:spcPts val="1200"/>
              </a:spcAft>
              <a:buClr>
                <a:srgbClr val="7B3F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Contribución a los ODS: de 1 a 3 metas concretas, cada una con su indicador.</a:t>
            </a:r>
          </a:p>
          <a:p>
            <a:pPr marL="228600" indent="-201168" algn="l">
              <a:spcAft>
                <a:spcPts val="1200"/>
              </a:spcAft>
              <a:buClr>
                <a:srgbClr val="7B3F8C"/>
              </a:buClr>
              <a:buFont typeface="Arial"/>
              <a:buChar char="•"/>
            </a:pPr>
            <a:r>
              <a:rPr sz="1700" b="0" i="0">
                <a:solidFill>
                  <a:srgbClr val="1A2A22"/>
                </a:solidFill>
                <a:latin typeface="Calibri"/>
              </a:rPr>
              <a:t>Ruta de escalamiento: mercados siguientes, replicabilidad y límites que no se cruzan.</a:t>
            </a:r>
          </a:p>
        </p:txBody>
      </p:sp>
      <p:sp>
        <p:nvSpPr>
          <p:cNvPr id="8" name="Clave"/>
          <p:cNvSpPr/>
          <p:nvPr/>
        </p:nvSpPr>
        <p:spPr>
          <a:xfrm>
            <a:off x="548640" y="4846320"/>
            <a:ext cx="7132320" cy="1280160"/>
          </a:xfrm>
          <a:prstGeom prst="roundRect">
            <a:avLst>
              <a:gd name="adj" fmla="val 5714"/>
            </a:avLst>
          </a:prstGeom>
          <a:solidFill>
            <a:srgbClr val="EF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A2A22"/>
                </a:solidFill>
                <a:latin typeface="Calibri"/>
              </a:rPr>
              <a:t>Crecer no es el fin. El escalamiento se ancla al propósito: los valores (eje cero) marcan hasta dónde.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65760"/>
            <a:ext cx="3639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B62"/>
                </a:solidFill>
                <a:latin typeface="Calibri"/>
              </a:rPr>
              <a:t>Ubicación en el lienzo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6205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solidFill>
            <a:srgbClr val="D9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6205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solidFill>
            <a:srgbClr val="B6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9971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736" y="777240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3736" y="1242115"/>
            <a:ext cx="704249" cy="435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solidFill>
            <a:srgbClr val="D6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27502" y="777240"/>
            <a:ext cx="704249" cy="900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solidFill>
            <a:srgbClr val="F2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6853" y="1706991"/>
            <a:ext cx="1804898" cy="25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A22"/>
                </a:solidFill>
                <a:latin typeface="Calibri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solidFill>
            <a:srgbClr val="7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1987392"/>
            <a:ext cx="3639312" cy="221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1" name="Eje 0 Valores"/>
          <p:cNvSpPr/>
          <p:nvPr/>
        </p:nvSpPr>
        <p:spPr>
          <a:xfrm>
            <a:off x="8092440" y="2238277"/>
            <a:ext cx="3639312" cy="123966"/>
          </a:xfrm>
          <a:prstGeom prst="roundRect">
            <a:avLst>
              <a:gd name="adj" fmla="val 12000"/>
            </a:avLst>
          </a:prstGeom>
          <a:solidFill>
            <a:srgbClr val="072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238277"/>
            <a:ext cx="3639312" cy="123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5B841"/>
                </a:solidFill>
                <a:latin typeface="Calibri"/>
              </a:rPr>
              <a:t>0 · Valores</a:t>
            </a:r>
          </a:p>
        </p:txBody>
      </p:sp>
      <p:sp>
        <p:nvSpPr>
          <p:cNvPr id="33" name="Zona"/>
          <p:cNvSpPr/>
          <p:nvPr/>
        </p:nvSpPr>
        <p:spPr>
          <a:xfrm>
            <a:off x="8092440" y="2682284"/>
            <a:ext cx="3639312" cy="1325880"/>
          </a:xfrm>
          <a:prstGeom prst="roundRect">
            <a:avLst>
              <a:gd name="adj" fmla="val 5517"/>
            </a:avLst>
          </a:prstGeom>
          <a:solidFill>
            <a:srgbClr val="7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7920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Zona Compartir  ·  P6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3948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Qué valor se apropian los actores, alineado con los ODS.</a:t>
            </a:r>
          </a:p>
        </p:txBody>
      </p:sp>
      <p:sp>
        <p:nvSpPr>
          <p:cNvPr id="36" name="Guía"/>
          <p:cNvSpPr/>
          <p:nvPr/>
        </p:nvSpPr>
        <p:spPr>
          <a:xfrm>
            <a:off x="8092440" y="4191044"/>
            <a:ext cx="3639312" cy="1935435"/>
          </a:xfrm>
          <a:prstGeom prst="roundRect">
            <a:avLst>
              <a:gd name="adj" fmla="val 3779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3007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 la guía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02524"/>
            <a:ext cx="3291840" cy="1478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2A22"/>
                </a:solidFill>
                <a:latin typeface="Calibri"/>
              </a:rPr>
              <a:t>Ruta · fase Impacto y escalamiento  ·  Pitch · Visión de crecimiento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62"/>
                </a:solidFill>
                <a:latin typeface="Calibri"/>
              </a:rPr>
              <a:t>Curso de Emprendimiento  •  Lienzo de Portafolio de 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5B6B62"/>
                </a:solidFill>
                <a:latin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96028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ESTRUCTURA DE COSTOS (ÍTEMS 9 Y 9.1 DEL PORTAFOLIO 4)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</a:t>
            </a:r>
            <a:r>
              <a:rPr lang="en-US" sz="3000" b="1" dirty="0" err="1">
                <a:solidFill>
                  <a:srgbClr val="1A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</a:t>
            </a:r>
            <a:r>
              <a:rPr lang="en-US" sz="3000" b="1" dirty="0">
                <a:solidFill>
                  <a:srgbClr val="1A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costos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 w="12700">
            <a:solidFill>
              <a:srgbClr val="0E51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97280" y="148132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costos más importantes inherentes al modelo?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943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91440" cy="4480560"/>
          </a:xfrm>
          <a:prstGeom prst="rect">
            <a:avLst/>
          </a:prstGeom>
          <a:solidFill>
            <a:srgbClr val="0E5128"/>
          </a:solidFill>
          <a:ln w="12700">
            <a:solidFill>
              <a:srgbClr val="0E51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del libro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costos en los que se incurre para operar el modelo. Aulet obliga a mirar el costo desde la óptica comercial: el Costo de Adquisición de Clientes (COCA/CAC) es el termómetro de la eficiencia del go-to-market. La regla de oro de la economía de unidad es LTV &gt; 3× CAC; sin esa relación el modelo no escala aunque el producto guste.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5577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nuestro CAC actual y su tendencia?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relación LTV / CAC y el tiempo de recuperación?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costos son fijos vs. variables y cómo escalan con el volumen?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60820" y="1897380"/>
            <a:ext cx="5166360" cy="4480560"/>
          </a:xfrm>
          <a:prstGeom prst="rect">
            <a:avLst/>
          </a:prstGeom>
          <a:solidFill>
            <a:srgbClr val="0E5128"/>
          </a:solidFill>
          <a:ln w="12700">
            <a:solidFill>
              <a:srgbClr val="0E51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72084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del Emprendimiento Disciplinado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2240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Aulet (2013) — MIT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2697480"/>
            <a:ext cx="502920" cy="5029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7208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5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26517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(CAC)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2944368"/>
            <a:ext cx="4297680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649224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17 / 37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42327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869680" y="-1645920"/>
            <a:ext cx="4754880" cy="4754880"/>
          </a:xfrm>
          <a:prstGeom prst="ellipse">
            <a:avLst/>
          </a:prstGeom>
          <a:solidFill>
            <a:srgbClr val="1B7A3E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F5B841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9.1 CAC  Y  5.2 LTV · PASOS 17 Y 19 DE AULET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686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Cambria" pitchFamily="34" charset="-122"/>
                <a:cs typeface="Cambria" pitchFamily="34" charset="-120"/>
              </a:rPr>
              <a:t>Cómo calcular el CAC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Cambria" pitchFamily="34" charset="-122"/>
                <a:cs typeface="Cambria" pitchFamily="34" charset="-120"/>
              </a:rPr>
              <a:t>y compararlo con el LTV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paso a paso para estimar el Costo de Adquisición de Cliente y validar si tu modelo de negocio es sostenible.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566928" cy="566928"/>
          </a:xfrm>
          <a:prstGeom prst="ellipse">
            <a:avLst/>
          </a:prstGeom>
          <a:solidFill>
            <a:srgbClr val="1B7A3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/home/claude/cac_deck/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5348143"/>
            <a:ext cx="294803" cy="29480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554480" y="5212080"/>
            <a:ext cx="566928" cy="566928"/>
          </a:xfrm>
          <a:prstGeom prst="ellipse">
            <a:avLst/>
          </a:prstGeom>
          <a:solidFill>
            <a:srgbClr val="1B7A3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/home/claude/cac_deck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543" y="5348143"/>
            <a:ext cx="294803" cy="29480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286000" y="5212080"/>
            <a:ext cx="566928" cy="566928"/>
          </a:xfrm>
          <a:prstGeom prst="ellipse">
            <a:avLst/>
          </a:prstGeom>
          <a:solidFill>
            <a:srgbClr val="1B7A3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/home/claude/cac_deck/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2063" y="534814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701059C3-8AB3-CBF1-655A-2870F2327D61}"/>
              </a:ext>
            </a:extLst>
          </p:cNvPr>
          <p:cNvSpPr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B550950B-05B5-65B2-E8A3-0BCE9A9099D8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42883F44-08B2-E70E-BD5E-83C0A58430DB}"/>
              </a:ext>
            </a:extLst>
          </p:cNvPr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59424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4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CAC?</a:t>
            </a:r>
            <a:endParaRPr lang="en-US" sz="3200" dirty="0">
              <a:solidFill>
                <a:srgbClr val="0E4E27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12648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F2937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6012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cac_deck/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19366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28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Adquisición de Cliente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6060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gasto total de marketing y ventas necesario para conseguir UN nuevo cliente promedio, en un período determinado.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60120" y="370332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960120" y="38862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  </a:t>
            </a: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dice si tu negocio es sostenible al escalar. Si cuesta más adquirir un cliente de lo que ese cliente genera, el modelo no funciona.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086600" y="1463040"/>
            <a:ext cx="4434840" cy="4389120"/>
          </a:xfrm>
          <a:prstGeom prst="rect">
            <a:avLst/>
          </a:prstGeom>
          <a:solidFill>
            <a:srgbClr val="0E4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406640" y="17830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/home/claude/cac_deck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314" y="19147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514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subestimarlo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06640" y="301752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todos los emprendedores subestiman el CAC. Es un número difícil de calcular — y por eso muchos se lo saltan. Ese es un gran error: sin él, tu negocio vuela a ciegas.</a:t>
            </a:r>
            <a:endParaRPr lang="en-US" sz="135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7E8DEFDD-0417-C93A-43B8-B95D97C00229}"/>
              </a:ext>
            </a:extLst>
          </p:cNvPr>
          <p:cNvSpPr/>
          <p:nvPr/>
        </p:nvSpPr>
        <p:spPr>
          <a:xfrm>
            <a:off x="223114" y="45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9783207F-9529-4B77-C9C8-E61018B37998}"/>
              </a:ext>
            </a:extLst>
          </p:cNvPr>
          <p:cNvSpPr/>
          <p:nvPr/>
        </p:nvSpPr>
        <p:spPr>
          <a:xfrm>
            <a:off x="223114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9.1 COSTO DE ADQUISICIÓN DE CLIENTES (CAC)</a:t>
            </a:r>
            <a:endParaRPr lang="en-US" sz="12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DC061AA5-7312-CA63-1B5A-23176D776816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A1114F6A-6CD1-EF27-C1B6-A527A31B89CF}"/>
              </a:ext>
            </a:extLst>
          </p:cNvPr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0C194AD3-77DA-1DE4-9843-B7F3AB86B0E3}"/>
              </a:ext>
            </a:extLst>
          </p:cNvPr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54373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4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a paso para calcular el CAC</a:t>
            </a:r>
            <a:endParaRPr lang="en-US" sz="3000" dirty="0">
              <a:solidFill>
                <a:srgbClr val="0E4E27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04672" y="1527048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04672" y="1527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00200" y="15499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/home/claude/cac_deck/list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874" y="168158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149047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períodos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40680" y="1472184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corto, mediano y largo plazo (ej. Año 1, Año 2, Año 3…), igual que en tu plan de ventas del Paso 18.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386584"/>
            <a:ext cx="10881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804672" y="2496312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04672" y="249631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600200" y="25191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/home/claude/cac_deck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874" y="2650846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31720" y="245973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 nuevos clientes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40680" y="2441448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un pronóstico realista de cuántos clientes nuevos ganarás en cada período. Sé conservador, no optimista.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3355848"/>
            <a:ext cx="10881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804672" y="3465576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804672" y="346557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1600200" y="34884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2" descr="/home/claude/cac_deck/bullho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874" y="3620110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331720" y="3429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gastos de marketing y ventas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440680" y="3410712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Salarios, comisiones, publicidad, ferias, contenido, viajes — todo lo usado para atraer y cerrar clientes nuevos.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40080" y="4325112"/>
            <a:ext cx="10881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804672" y="4434840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1"/>
          <p:cNvSpPr/>
          <p:nvPr/>
        </p:nvSpPr>
        <p:spPr>
          <a:xfrm>
            <a:off x="804672" y="44348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1600200" y="44577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3" descr="/home/claude/cac_deck/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1874" y="4589374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331720" y="439826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retención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440680" y="4379976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incluyas gastos de soporte o fidelización de clientes existentes; el CAC es solo sobre clientes NUEVOS.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40080" y="5294376"/>
            <a:ext cx="10881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6"/>
          <p:cNvSpPr/>
          <p:nvPr/>
        </p:nvSpPr>
        <p:spPr>
          <a:xfrm>
            <a:off x="804672" y="5404104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7"/>
          <p:cNvSpPr/>
          <p:nvPr/>
        </p:nvSpPr>
        <p:spPr>
          <a:xfrm>
            <a:off x="804672" y="540410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28"/>
          <p:cNvSpPr/>
          <p:nvPr/>
        </p:nvSpPr>
        <p:spPr>
          <a:xfrm>
            <a:off x="1600200" y="542696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5" name="Image 4" descr="/home/claude/cac_deck/calcula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1874" y="5558638"/>
            <a:ext cx="285293" cy="28529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331720" y="53675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el total entre clientes nuevos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5440680" y="5349240"/>
            <a:ext cx="5989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de ventas y marketing ÷ número de clientes nuevos del período = CAC de ese período.</a:t>
            </a:r>
            <a:endParaRPr lang="en-US" sz="1250" dirty="0"/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48487E6B-CDF7-59AF-B397-CFD256655599}"/>
              </a:ext>
            </a:extLst>
          </p:cNvPr>
          <p:cNvSpPr/>
          <p:nvPr/>
        </p:nvSpPr>
        <p:spPr>
          <a:xfrm>
            <a:off x="223114" y="45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DAE8D15C-1A6D-28C0-81D1-3FD82154E792}"/>
              </a:ext>
            </a:extLst>
          </p:cNvPr>
          <p:cNvSpPr/>
          <p:nvPr/>
        </p:nvSpPr>
        <p:spPr>
          <a:xfrm>
            <a:off x="223114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9.1 COSTO DE ADQUISICIÓN DE CLIENTES (CAC)</a:t>
            </a:r>
            <a:endParaRPr lang="en-US" sz="1200" dirty="0"/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9D5540FA-A4BD-BEA0-17DB-F106BC9BFE87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8248072E-5B7E-D4D8-97BA-E0889C40C922}"/>
              </a:ext>
            </a:extLst>
          </p:cNvPr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E6827A81-9876-3933-FC30-9A579457194F}"/>
              </a:ext>
            </a:extLst>
          </p:cNvPr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38770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22"/>
                </a:solidFill>
                <a:latin typeface="Georgia" pitchFamily="34" charset="0"/>
                <a:ea typeface="Cambria" pitchFamily="34" charset="-122"/>
                <a:cs typeface="Cambria" pitchFamily="34" charset="-120"/>
              </a:rPr>
              <a:t>La fórmula del CAC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737360"/>
            <a:ext cx="9784080" cy="228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554480" y="19659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977640" y="1965960"/>
            <a:ext cx="640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</a:rPr>
              <a:t>=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846320" y="2880360"/>
            <a:ext cx="53949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846320" y="20116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totales de ventas y marketing (excl. retención) — período 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29718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clientes nuevos adquiridos — período 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43434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Calcúlalo para cada horizonte de tiempo (corto, mediano y largo plazo) y exprésalo como un rango, no como un número exacto — no es una ciencia precisa.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5486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0" descr="/home/claude/cac_deck/bullho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981" y="5607101"/>
            <a:ext cx="261518" cy="26151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977640" y="55595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60720" y="5486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/home/claude/cac_deck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421" y="560710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55080" y="55595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863840" y="5486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/home/claude/cac_deck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541" y="560710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55595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clientes</a:t>
            </a:r>
            <a:endParaRPr lang="en-US" sz="13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0319B0F5-EA44-588F-E102-5379FF32E10C}"/>
              </a:ext>
            </a:extLst>
          </p:cNvPr>
          <p:cNvSpPr/>
          <p:nvPr/>
        </p:nvSpPr>
        <p:spPr>
          <a:xfrm>
            <a:off x="223114" y="45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1A2A22"/>
                </a:solidFill>
                <a:latin typeface="Georgia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BD98AA93-E13D-B80E-9763-98E45F6ABD3B}"/>
              </a:ext>
            </a:extLst>
          </p:cNvPr>
          <p:cNvSpPr/>
          <p:nvPr/>
        </p:nvSpPr>
        <p:spPr>
          <a:xfrm>
            <a:off x="223114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9.1 COSTO DE ADQUISICIÓN DE CLIENTES (CAC)</a:t>
            </a:r>
            <a:endParaRPr lang="en-US" sz="12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9998DC70-EF03-3B74-B018-81E304171426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8FA725D-79DF-E2AD-4CA4-9C9C545B112F}"/>
              </a:ext>
            </a:extLst>
          </p:cNvPr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51866EC-4657-3405-AECD-6A936A1629BE}"/>
              </a:ext>
            </a:extLst>
          </p:cNvPr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9346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4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práctico</a:t>
            </a:r>
            <a:endParaRPr lang="en-US" sz="3000" dirty="0">
              <a:solidFill>
                <a:srgbClr val="0E4E27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ficticios para ilustrar el cálculo del CAC por año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600200"/>
          <a:ext cx="7680960" cy="32918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Nuevos clientes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en ventas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en 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total (V+M)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600200"/>
            <a:ext cx="29260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3"/>
          <p:cNvSpPr/>
          <p:nvPr/>
        </p:nvSpPr>
        <p:spPr>
          <a:xfrm>
            <a:off x="886968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/home/claude/cac_deck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381" y="1995221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6968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clave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869680" y="29260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CAC baja de $583 a $271 a medida que la empresa gana eficiencia y </a:t>
            </a:r>
            <a:r>
              <a:rPr lang="en-US" sz="1200" dirty="0" err="1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</a:t>
            </a: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</a:t>
            </a: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Esta tendencia a la baja es una buena señal de escalabilidad.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cifras ilustrativas. Sustitúyelas por tus propias proyecciones del Paso 18.</a:t>
            </a:r>
            <a:endParaRPr lang="en-US" sz="115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D3AA51C2-59E8-85D6-53E0-701A2FC3E796}"/>
              </a:ext>
            </a:extLst>
          </p:cNvPr>
          <p:cNvSpPr/>
          <p:nvPr/>
        </p:nvSpPr>
        <p:spPr>
          <a:xfrm>
            <a:off x="223114" y="45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2D3BBF19-AC3E-280C-2C2B-E4F54DC15948}"/>
              </a:ext>
            </a:extLst>
          </p:cNvPr>
          <p:cNvSpPr/>
          <p:nvPr/>
        </p:nvSpPr>
        <p:spPr>
          <a:xfrm>
            <a:off x="223114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9.1 COSTO DE ADQUISICIÓN DE CLIENTES (CAC)</a:t>
            </a:r>
            <a:endParaRPr lang="en-US" sz="1200" dirty="0"/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5A09EA21-79BF-D68C-83DF-54DE1F031333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E726DADB-1397-3922-1D44-F08C76B3BA7C}"/>
              </a:ext>
            </a:extLst>
          </p:cNvPr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4D65C285-6A6B-827C-E126-DE9D48DBFF5C}"/>
              </a:ext>
            </a:extLst>
          </p:cNvPr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9263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4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gastos incluir?</a:t>
            </a:r>
            <a:endParaRPr lang="en-US" sz="3000" dirty="0">
              <a:solidFill>
                <a:srgbClr val="0E4E27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60120" y="1737360"/>
            <a:ext cx="548640" cy="548640"/>
          </a:xfrm>
          <a:prstGeom prst="ellipse">
            <a:avLst/>
          </a:prstGeom>
          <a:solidFill>
            <a:srgbClr val="0E4E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cac_deck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4" y="18690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105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 ventas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Salarios y comisiones del equipo comercial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fundadores en tareas de venta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y beneficios (seguros, prestaciones)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Viáticos y viajes de venta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4572000"/>
          </a:xfrm>
          <a:prstGeom prst="rect">
            <a:avLst/>
          </a:prstGeom>
          <a:solidFill>
            <a:srgbClr val="0E4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/home/claude/cac_deck/bullho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18690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8105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 marketing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3796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Salarios del equipo de marketing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web, redes sociales y publicidad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Ferias comerciales y relaciones públicas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Consultores y herramientas de marketing</a:t>
            </a:r>
            <a:endParaRPr lang="en-US" sz="14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AD5A7B71-F9DB-D85B-0AF9-46DF7DEF036A}"/>
              </a:ext>
            </a:extLst>
          </p:cNvPr>
          <p:cNvSpPr/>
          <p:nvPr/>
        </p:nvSpPr>
        <p:spPr>
          <a:xfrm>
            <a:off x="223114" y="45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EF75C263-0AC6-49E1-0571-85C0E27C3B52}"/>
              </a:ext>
            </a:extLst>
          </p:cNvPr>
          <p:cNvSpPr/>
          <p:nvPr/>
        </p:nvSpPr>
        <p:spPr>
          <a:xfrm>
            <a:off x="223114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9.1 COSTO DE ADQUISICIÓN DE CLIENTES (CAC)</a:t>
            </a:r>
            <a:endParaRPr lang="en-US" sz="1200" dirty="0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EEE30B7E-2D12-7433-29ED-A3A93DE24618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9814564B-4C08-76B6-D669-08EE97911921}"/>
              </a:ext>
            </a:extLst>
          </p:cNvPr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405CEA1-E0FC-8D82-DC2E-691DF265E30B}"/>
              </a:ext>
            </a:extLst>
          </p:cNvPr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98293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4E27"/>
                </a:solidFill>
                <a:latin typeface="Georgia" pitchFamily="34" charset="0"/>
                <a:ea typeface="Cambria" pitchFamily="34" charset="-122"/>
                <a:cs typeface="Cambria" pitchFamily="34" charset="-120"/>
              </a:rPr>
              <a:t>¿Y el LTV?</a:t>
            </a:r>
            <a:endParaRPr lang="en-US" sz="3200" dirty="0">
              <a:solidFill>
                <a:srgbClr val="0E4E27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cac_deck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 (Valor de Vida del Cliente)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ingreso neto (utilidad) que un cliente promedio generará durante toda su relación con tu empresa. Fue calculado en el Paso 17 de Aulet 2017/2013.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611880"/>
            <a:ext cx="103327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7280" y="37947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CAC y el LTV son dos caras de la misma moneda: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42519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 </a:t>
            </a: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cuánto cuesta ganar un cliente.
</a:t>
            </a: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</a:t>
            </a: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cuánto vale ese cliente a lo largo del tiempo.</a:t>
            </a:r>
            <a:endParaRPr lang="en-US" sz="15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C066DA40-5BF4-16E6-DF19-75F400DBC256}"/>
              </a:ext>
            </a:extLst>
          </p:cNvPr>
          <p:cNvSpPr/>
          <p:nvPr/>
        </p:nvSpPr>
        <p:spPr>
          <a:xfrm>
            <a:off x="223114" y="45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C6B63"/>
                </a:solidFill>
                <a:latin typeface="Georgia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2C8861D9-4BF7-7186-BE80-339ED728E972}"/>
              </a:ext>
            </a:extLst>
          </p:cNvPr>
          <p:cNvSpPr/>
          <p:nvPr/>
        </p:nvSpPr>
        <p:spPr>
          <a:xfrm>
            <a:off x="223114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5.2 VALOR DE VIDA DEL CLIENTE (LTV)</a:t>
            </a:r>
            <a:endParaRPr lang="en-US" sz="1200" dirty="0"/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3664E122-3EC0-DE44-443B-ACD168B46C5F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86E014F3-0B1D-7A6C-36F8-3028B624F009}"/>
              </a:ext>
            </a:extLst>
          </p:cNvPr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5AD879D-0E10-F20D-3131-31A609037966}"/>
              </a:ext>
            </a:extLst>
          </p:cNvPr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66382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22"/>
                </a:solidFill>
                <a:latin typeface="Georgia" pitchFamily="34" charset="0"/>
                <a:ea typeface="Cambria" pitchFamily="34" charset="-122"/>
                <a:cs typeface="Cambria" pitchFamily="34" charset="-120"/>
              </a:rPr>
              <a:t>La comparación: regla de las 3X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80160" y="1737360"/>
            <a:ext cx="9601200" cy="20116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0" y="19202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1920240"/>
            <a:ext cx="914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</a:rPr>
              <a:t>&gt;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1920240"/>
            <a:ext cx="1188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760720" y="1920240"/>
            <a:ext cx="822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</a:rPr>
              <a:t>×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83680" y="19202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28016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LTV debe ser al menos 3 veces el CAC en el largo plazo. El CAC solo cubre marketing y ventas — el excedente debe alcanzar para I+D y gastos generales y administrativos.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80160" y="5120640"/>
            <a:ext cx="3017520" cy="1371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463040" y="5303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0" descr="/home/claude/cac_deck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541324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057400" y="52852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SaaS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63040" y="5806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suele ser suficiente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26280" y="5120640"/>
            <a:ext cx="3017520" cy="1371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709160" y="5303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1" descr="/home/claude/cac_deck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5413248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52852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Biotecnología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709160" y="5806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requerir 100× o más por el alto costo de I+D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772400" y="5120640"/>
            <a:ext cx="3017520" cy="1371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7955280" y="5303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2" descr="/home/claude/cac_deck/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541324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52852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de consumo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955280" y="5806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múltiplo requerido suele ser menor</a:t>
            </a:r>
            <a:endParaRPr lang="en-US" sz="1150" dirty="0"/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A28E729A-4261-E05C-9379-95464691F2A2}"/>
              </a:ext>
            </a:extLst>
          </p:cNvPr>
          <p:cNvSpPr/>
          <p:nvPr/>
        </p:nvSpPr>
        <p:spPr>
          <a:xfrm>
            <a:off x="223114" y="45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1A2A22"/>
                </a:solidFill>
                <a:latin typeface="Georgia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CE188647-1F15-BC3C-7827-FD53A7D4F593}"/>
              </a:ext>
            </a:extLst>
          </p:cNvPr>
          <p:cNvSpPr/>
          <p:nvPr/>
        </p:nvSpPr>
        <p:spPr>
          <a:xfrm>
            <a:off x="223114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9.1 COSTO DE ADQUISICIÓN DE CLIENTES (CAC)</a:t>
            </a:r>
            <a:endParaRPr lang="en-US" sz="12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CF070A97-E8D2-9CC6-3C5D-9E1115A3AFE2}"/>
              </a:ext>
            </a:extLst>
          </p:cNvPr>
          <p:cNvSpPr/>
          <p:nvPr/>
        </p:nvSpPr>
        <p:spPr>
          <a:xfrm>
            <a:off x="365760" y="6486276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F0184C29-9A86-C91B-44DE-B3253409A837}"/>
              </a:ext>
            </a:extLst>
          </p:cNvPr>
          <p:cNvSpPr/>
          <p:nvPr/>
        </p:nvSpPr>
        <p:spPr>
          <a:xfrm>
            <a:off x="365760" y="64405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03398C47-81C8-2955-B1C0-A9DC903EFAF8}"/>
              </a:ext>
            </a:extLst>
          </p:cNvPr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75308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4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 vs. CAC en el tiempo</a:t>
            </a:r>
            <a:endParaRPr lang="en-US" sz="2800" dirty="0">
              <a:solidFill>
                <a:srgbClr val="0E4E27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ambas curvas para tus horizontes de corto, mediano y largo plazo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7498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600200"/>
            <a:ext cx="3200400" cy="4480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595360" y="1828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el gráfico</a:t>
            </a:r>
            <a:endParaRPr lang="en-US" sz="1500" dirty="0">
              <a:solidFill>
                <a:srgbClr val="0E4E27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595360" y="233172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CAC debería bajar con el tiempo (eficiencia, boca a boca).
El LTV debería subir (retención, upsell, referidos).
</a:t>
            </a: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líneas se cruzan al revés </a:t>
            </a:r>
            <a:r>
              <a:rPr lang="en-US" sz="13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 sube más que LTV), el modelo no es sostenible.</a:t>
            </a:r>
            <a:endParaRPr lang="en-US" sz="13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CEBD7D78-3E42-6322-9A09-13621B0619F8}"/>
              </a:ext>
            </a:extLst>
          </p:cNvPr>
          <p:cNvSpPr/>
          <p:nvPr/>
        </p:nvSpPr>
        <p:spPr>
          <a:xfrm>
            <a:off x="223114" y="45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FFB88FA9-D515-5380-04EB-4110CDB06307}"/>
              </a:ext>
            </a:extLst>
          </p:cNvPr>
          <p:cNvSpPr/>
          <p:nvPr/>
        </p:nvSpPr>
        <p:spPr>
          <a:xfrm>
            <a:off x="223114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9.1 COSTO DE ADQUISICIÓN DE CLIENTES (CAC)</a:t>
            </a:r>
            <a:endParaRPr lang="en-US" sz="1200" dirty="0"/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85CA4537-68E6-FD79-431C-B8E3EF09A1B7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65360507-5AB7-843A-62E4-609DBE67F354}"/>
              </a:ext>
            </a:extLst>
          </p:cNvPr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689C37F-E1D6-07D2-71FE-8BFFEF7E60A9}"/>
              </a:ext>
            </a:extLst>
          </p:cNvPr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1555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4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reducir tu CAC</a:t>
            </a:r>
            <a:endParaRPr lang="en-US" sz="3000" dirty="0">
              <a:solidFill>
                <a:srgbClr val="0E4E27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E4E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cac_deck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19147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556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E4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venta directa, más inside sales</a:t>
            </a:r>
            <a:endParaRPr lang="en-US" sz="1450" dirty="0">
              <a:solidFill>
                <a:srgbClr val="0E4E27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fuerza de ventas de campo y apóyate en ventas remotas/digitales.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49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rgbClr val="0E4E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/home/claude/cac_deck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19147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7556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E4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Resellers en mercados internacionales</a:t>
            </a:r>
            <a:endParaRPr lang="en-US" sz="1450" dirty="0">
              <a:solidFill>
                <a:srgbClr val="0E4E27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6492240" y="24231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distribuidores locales en vez de equipo propio en el extranjero.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5349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0E4E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2" descr="/home/claude/cac_deck/bullho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42007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416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E4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 contenidos propio</a:t>
            </a:r>
            <a:endParaRPr lang="en-US" sz="1450" dirty="0">
              <a:solidFill>
                <a:srgbClr val="0E4E27"/>
              </a:solidFill>
            </a:endParaRPr>
          </a:p>
        </p:txBody>
      </p:sp>
      <p:sp>
        <p:nvSpPr>
          <p:cNvPr id="17" name="Text 12"/>
          <p:cNvSpPr/>
          <p:nvPr/>
        </p:nvSpPr>
        <p:spPr>
          <a:xfrm>
            <a:off x="868680" y="47091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capacidad interna en redes sociales en vez de pauta pagada.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840480"/>
            <a:ext cx="5349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937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4"/>
          <p:cNvSpPr/>
          <p:nvPr/>
        </p:nvSpPr>
        <p:spPr>
          <a:xfrm>
            <a:off x="6492240" y="4069080"/>
            <a:ext cx="548640" cy="548640"/>
          </a:xfrm>
          <a:prstGeom prst="ellipse">
            <a:avLst/>
          </a:prstGeom>
          <a:solidFill>
            <a:srgbClr val="0E4E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3" descr="/home/claude/cac_deck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914" y="42007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40416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E4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Mouth: Boca a boca y referidos</a:t>
            </a:r>
            <a:endParaRPr lang="en-US" sz="1450" dirty="0">
              <a:solidFill>
                <a:srgbClr val="0E4E27"/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6492240" y="47091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gran experiencia de cliente genera advocacy — el mayor reductor de CAC a largo plazo.</a:t>
            </a:r>
            <a:endParaRPr lang="en-US" sz="125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904F2E73-9CC5-D811-12F9-4CD49072FAE1}"/>
              </a:ext>
            </a:extLst>
          </p:cNvPr>
          <p:cNvSpPr/>
          <p:nvPr/>
        </p:nvSpPr>
        <p:spPr>
          <a:xfrm>
            <a:off x="223114" y="45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65D914F-ADC8-5AD0-654F-CB6F4A2CC253}"/>
              </a:ext>
            </a:extLst>
          </p:cNvPr>
          <p:cNvSpPr/>
          <p:nvPr/>
        </p:nvSpPr>
        <p:spPr>
          <a:xfrm>
            <a:off x="223114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9.1 COSTO DE ADQUISICIÓN DE CLIENTES (CAC)</a:t>
            </a:r>
            <a:endParaRPr lang="en-US" sz="12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96CEDB55-2FD7-8B4A-E3E4-E7983D556221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09D5DB46-6BBB-2C68-ABAD-2470F46922B6}"/>
              </a:ext>
            </a:extLst>
          </p:cNvPr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E53CD19A-BE65-58AB-0A3E-70B61708F982}"/>
              </a:ext>
            </a:extLst>
          </p:cNvPr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51664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22"/>
                </a:solidFill>
                <a:latin typeface="Georgia" pitchFamily="34" charset="0"/>
                <a:ea typeface="Cambria" pitchFamily="34" charset="-122"/>
                <a:cs typeface="Cambria" pitchFamily="34" charset="-120"/>
              </a:rPr>
              <a:t>Checklist final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cac_deck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099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544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 el CAC para corto, mediano y largo plazo (como rango, no cifra exacta)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1" descr="/home/claude/cac_deck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4871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3317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 el LTV con la plantilla (5.2) en tres escenarios: pesimista, esperado y optimista.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2" descr="/home/claude/cac_deck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2644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108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Comparé mi LTV vs. CAC — ¿supera la regla de las 3X?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822960" y="3931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3" descr="/home/claude/cac_deck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04164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38862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la conclusión 9.1: LTV ÷ CAC por horizonte y qué haré si no llega a 3×.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4" descr="/home/claude/cac_deck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81888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63040" y="4663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métricas y un plan de mitigación para el riesgo #1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no puedes hacer que la economía unitaria funcione, no tienes un negocio sostenible — pero la mayoría de las veces, sí se puede arreglar.”</a:t>
            </a:r>
            <a:endParaRPr lang="en-US" sz="13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638AD1A-B874-748A-C94C-A6AF6E899976}"/>
              </a:ext>
            </a:extLst>
          </p:cNvPr>
          <p:cNvSpPr/>
          <p:nvPr/>
        </p:nvSpPr>
        <p:spPr>
          <a:xfrm>
            <a:off x="223114" y="45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1A2A22"/>
                </a:solidFill>
                <a:latin typeface="Georgia" pitchFamily="34" charset="0"/>
                <a:ea typeface="Calibri" pitchFamily="34" charset="-122"/>
                <a:cs typeface="Calibri" pitchFamily="34" charset="-120"/>
              </a:rPr>
              <a:t>Universidad Externado de Colombia</a:t>
            </a:r>
            <a:endParaRPr lang="en-US" sz="10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82719208-CAD4-F32A-F95D-2FF37B4CA068}"/>
              </a:ext>
            </a:extLst>
          </p:cNvPr>
          <p:cNvSpPr/>
          <p:nvPr/>
        </p:nvSpPr>
        <p:spPr>
          <a:xfrm>
            <a:off x="223114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9.1 COSTO DE ADQUISICIÓN DE CLIENTES (CAC)</a:t>
            </a:r>
            <a:endParaRPr lang="en-US" sz="12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3C8575AB-16FF-3A13-4530-9E191A74CE9C}"/>
              </a:ext>
            </a:extLst>
          </p:cNvPr>
          <p:cNvSpPr/>
          <p:nvPr/>
        </p:nvSpPr>
        <p:spPr>
          <a:xfrm>
            <a:off x="365760" y="6446520"/>
            <a:ext cx="11457432" cy="0"/>
          </a:xfrm>
          <a:prstGeom prst="line">
            <a:avLst/>
          </a:prstGeom>
          <a:noFill/>
          <a:ln w="9525">
            <a:solidFill>
              <a:srgbClr val="C9D8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E4AAB2D-E6A2-F6EA-3BEA-E4009F99C6E2}"/>
              </a:ext>
            </a:extLst>
          </p:cNvPr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0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409EE05D-31F4-B79A-98CA-ABD554A3B6CB}"/>
              </a:ext>
            </a:extLst>
          </p:cNvPr>
          <p:cNvSpPr/>
          <p:nvPr/>
        </p:nvSpPr>
        <p:spPr>
          <a:xfrm>
            <a:off x="4023360" y="649224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Disciplined Entrepreneurship — Bill Aulet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58252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construir start-ups con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negocio validados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activos en el mercado?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haciendo · Validar con datos · Crear valor multidimensional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Emprendimiento  • 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6309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37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PORTAFOLIO DE EVIDENCIAS 4 · PASO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BMC total: qué entrega cada componente (1 a 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83080"/>
          <a:ext cx="11274550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6586"/>
                <a:gridCol w="6049759"/>
                <a:gridCol w="3208205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debe contener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Evidencia que lo respalda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0. BMC en una página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Lienzo completo con los 9 bloques y el análisis de impacto. Cada bloque explicado con un argumento basado en evidencia.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Una fuente o dato por bloque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Valores (eje cero)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Propósito, 3 a 5 valores con la conducta que los demuestra y los no negociables. Mostrar cómo filtran las decisiones de cada bloque.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Decisiones ya tomadas por el equipo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1. Segmento de clientes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1.1 Segmentación del mercado (Paso 1)  ·  1.2 Mercado cabeza de playa (Paso 2)</a:t>
                      </a:r>
                    </a:p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1.3 Perfil del usuario final y Persona (Pasos 3 y 5)  ·  1.4 TAM (Paso 4)</a:t>
                      </a:r>
                    </a:p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1.5 Primeros 10 clientes con nombre y rol (Paso 9)</a:t>
                      </a:r>
                    </a:p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1.6 Evidencias de experimentos: 1.6.1 métodos de ciencia de datos e investigación de mercados; 1.6.2 pasos que siguieron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Campo 1 y campo 2, bases de datos públicas, cálculo del TAM con fuente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2. Propuesta de valor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2.1 Core: lo que el negocio hace mejor que nadie (Paso 10)</a:t>
                      </a:r>
                    </a:p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2.2 Primer prototipo: valor para el usuario y valor compartido con la sociedad y el ambiente (Pasos 7 y 8)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Citas de clientes, comparación con la solución actual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3. Canales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3.1 Proceso para adquirir un cliente que paga y unidad de decisión (Pasos 12 y 13)</a:t>
                      </a:r>
                    </a:p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3.2 Embudo de ventas a corto, mediano y largo plazo (Paso 18)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Quién decide, cómo se enteran, cuánto tarda la compra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4. Relación con clientes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Cómo se consigue, se retiene y se hace crecer al cliente (Blank: get, keep, grow).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Hallazgos del campo 2 sobre la relación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PORTAFOLIO DE EVIDENCIAS 4 · PASO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BMC total: qué entrega cada componente (5 a 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83080"/>
          <a:ext cx="11274550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6586"/>
                <a:gridCol w="6049759"/>
                <a:gridCol w="3208205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debe contener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Evidencia que lo respalda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5. Fuentes de ingreso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5.1 Modelo de negocio: cómo se cobra (Paso 15) y precio (Paso 16)</a:t>
                      </a:r>
                    </a:p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5.2 LTV calculado con la plantilla de Excel (Paso 17)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Precios de la competencia, disposición a pagar del campo 2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6. Recursos clave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Físicos, humanos, tecnológicos y financieros indispensables para entregar la propuesta.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Cotizaciones, inventario del equipo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7. Actividades clave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Lo que el negocio hace todos los días para producir, vender y entregar.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Mapa del proceso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8. Asociaciones clave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Aliados y proveedores, y qué aporta cada uno.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Contactos reales o cartas de interés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9. Estructura de costos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Costos fijos y variables, inversión inicial</a:t>
                      </a:r>
                    </a:p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9.1 CAC a corto, mediano y largo plazo (Paso 19) y conclusión: ¿LTV &gt; 3 × CAC?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Cotizaciones, tarifas de pauta, salarios de referencia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10. Análisis de impactos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10.1 Sociales  ·  10.2 Medioambientales</a:t>
                      </a:r>
                    </a:p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De 1 a 3 metas con su indicador y ODS relacionado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Línea base y fuente de cada indicador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E5128"/>
                </a:solidFill>
                <a:latin typeface="Calibri"/>
              </a:rPr>
              <a:t>Resaltados: </a:t>
            </a:r>
            <a:r>
              <a:rPr sz="1250" b="0" i="0">
                <a:solidFill>
                  <a:srgbClr val="1A2A22"/>
                </a:solidFill>
                <a:latin typeface="Calibri"/>
              </a:rPr>
              <a:t>los dos ítems que se explican a fondo en esta sesión, 5.2 LTV y 9.1 CAC.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BMC · 5.2 LTV  Y  9.1 CAC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Cómo se conectan los pasos 15 a 19 de Aulet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20574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C6B63"/>
                </a:solidFill>
                <a:latin typeface="Calibri"/>
              </a:rPr>
              <a:t>PASO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5128"/>
                </a:solidFill>
                <a:latin typeface="Georgia"/>
              </a:rPr>
              <a:t>Modelo de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2A22"/>
                </a:solidFill>
                <a:latin typeface="Calibri"/>
              </a:rPr>
              <a:t>Cómo cobro: venta única, suscripción, recurrente, ventas adicionales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926080"/>
            <a:ext cx="283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B7A3E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1965960"/>
            <a:ext cx="20574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2103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C6B63"/>
                </a:solidFill>
                <a:latin typeface="Calibri"/>
              </a:rPr>
              <a:t>PASO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42316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5128"/>
                </a:solidFill>
                <a:latin typeface="Georgia"/>
              </a:rPr>
              <a:t>Precio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10896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2A22"/>
                </a:solidFill>
                <a:latin typeface="Calibri"/>
              </a:rPr>
              <a:t>Cuánto cobro, según valor para el cliente y competencia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926080"/>
            <a:ext cx="283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B7A3E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1965960"/>
            <a:ext cx="2057400" cy="2514600"/>
          </a:xfrm>
          <a:prstGeom prst="roundRect">
            <a:avLst>
              <a:gd name="adj" fmla="val 6000"/>
            </a:avLst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6" y="2103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B841"/>
                </a:solidFill>
                <a:latin typeface="Calibri"/>
              </a:rPr>
              <a:t>PASO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42316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LTV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6" y="310896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FE3D5"/>
                </a:solidFill>
                <a:latin typeface="Calibri"/>
              </a:rPr>
              <a:t>Cuánto me deja un cliente en 5 años, hoy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2926080"/>
            <a:ext cx="283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B7A3E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0064" y="1965960"/>
            <a:ext cx="20574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2103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C6B63"/>
                </a:solidFill>
                <a:latin typeface="Calibri"/>
              </a:rPr>
              <a:t>PASO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42316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5128"/>
                </a:solidFill>
                <a:latin typeface="Georgia"/>
              </a:rPr>
              <a:t>Proceso de ventas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310896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2A22"/>
                </a:solidFill>
                <a:latin typeface="Calibri"/>
              </a:rPr>
              <a:t>Cómo llego al cliente a corto, mediano y largo plazo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2926080"/>
            <a:ext cx="283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B7A3E"/>
                </a:solidFill>
                <a:latin typeface="Calibr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74352" y="1965960"/>
            <a:ext cx="2057400" cy="2514600"/>
          </a:xfrm>
          <a:prstGeom prst="roundRect">
            <a:avLst>
              <a:gd name="adj" fmla="val 6000"/>
            </a:avLst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57232" y="2103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B841"/>
                </a:solidFill>
                <a:latin typeface="Calibri"/>
              </a:rPr>
              <a:t>PASO 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242316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CAC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310896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FE3D5"/>
                </a:solidFill>
                <a:latin typeface="Calibri"/>
              </a:rPr>
              <a:t>Cuánto me cuesta conseguir cada cliente nuevo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54880"/>
            <a:ext cx="11274552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89204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E5128"/>
                </a:solidFill>
                <a:latin typeface="Georgia"/>
              </a:rPr>
              <a:t>La prueba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892040"/>
            <a:ext cx="7955279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5128"/>
                </a:solidFill>
                <a:latin typeface="Georgia"/>
              </a:rPr>
              <a:t>LTV  &gt;  3 × CAC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Si un cliente deja al menos el triple de lo que cuesta conseguirlo, hay margen para cubrir los demás costos, crecer y equivocarse. Si no, el modelo pierde dinero con cada venta.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BMC · 5.2 VALOR DE VIDA DEL CLIENTE (LTV)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La plantilla de Excel: qué datos pide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2011680"/>
            <a:ext cx="411480" cy="41148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57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Venta única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Venta inicial promedio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Margen bruto (%)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Tasa de recompra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Año en que recompra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C6B63"/>
                </a:solidFill>
                <a:latin typeface="Calibri"/>
              </a:rPr>
              <a:t>Ej.: equipo, mueble, curso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6528" y="182880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17696" y="2011680"/>
            <a:ext cx="411480" cy="41148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8048" y="2057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Compras periódicas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5128" y="2651760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Ingresos anuales por cliente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Margen bruto (%)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Retención anual (%)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5128" y="4434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C6B63"/>
                </a:solidFill>
                <a:latin typeface="Calibri"/>
              </a:rPr>
              <a:t>Ej.: insumos que se reponen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5857" y="182880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7025" y="2011680"/>
            <a:ext cx="411480" cy="41148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7377" y="2057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Ingresos recurrentes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4457" y="2651760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Cobro por período (mes, trimestre)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Períodos en el año 1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Períodos en los años 2 a 5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Margen bruto y retención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4457" y="4434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C6B63"/>
                </a:solidFill>
                <a:latin typeface="Calibri"/>
              </a:rPr>
              <a:t>Ej.: suscripción, membresía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5186" y="182880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6354" y="2011680"/>
            <a:ext cx="411480" cy="41148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6706" y="2057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Ventas adicionales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3786" y="2651760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Ventas extra por cliente al año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Margen bruto (%)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•  Retención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3786" y="4434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C6B63"/>
                </a:solidFill>
                <a:latin typeface="Calibri"/>
              </a:rPr>
              <a:t>Ej.: accesorios, servicio premium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230368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5B841"/>
                </a:solidFill>
                <a:latin typeface="Georgia"/>
              </a:rPr>
              <a:t>Costo de capital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230368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FE3D5"/>
                </a:solidFill>
                <a:latin typeface="Calibri"/>
              </a:rPr>
              <a:t>Lo que cuesta el dinero con que se financia el negocio. Sirve para traer a pesos de hoy lo que el cliente pagará en el futuro.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12 % </a:t>
            </a:r>
            <a:r>
              <a:rPr sz="1300" b="0" i="0">
                <a:solidFill>
                  <a:srgbClr val="CFE3D5"/>
                </a:solidFill>
                <a:latin typeface="Calibri"/>
              </a:rPr>
              <a:t>si se financia con préstamo  ·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50 % </a:t>
            </a:r>
            <a:r>
              <a:rPr sz="1300" b="0" i="0">
                <a:solidFill>
                  <a:srgbClr val="CFE3D5"/>
                </a:solidFill>
                <a:latin typeface="Calibri"/>
              </a:rPr>
              <a:t>si se financia con inversionistas o capital propio (valor por defecto)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BMC · 5.2 VALOR DE VIDA DEL CLIENTE (LTV)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Cómo calcula la plantilla el LTV, paso a paso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32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Ingresos de cada año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585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Año 0: venta inicial. Años 1 a 5: lo que pagaría un cliente si se quedara.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532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011680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× Retención acumulada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2585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Retención elevada al número de años: 0,8 → 0,8; 0,64; 0,51…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5532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80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× Margen bruto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1868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Se cuenta la ganancia, no la venta: (precio − costo directo) ÷ precio.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788920"/>
            <a:ext cx="5532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2971800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880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÷ (1 + costo de capital)^año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21868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Un peso dentro de 3 años vale menos que un peso hoy.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49039"/>
            <a:ext cx="5532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84047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Suma de los 6 años = LTV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17880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Valor presente de la ganancia que deja un cliente.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749039"/>
            <a:ext cx="5532120" cy="822960"/>
          </a:xfrm>
          <a:prstGeom prst="roundRect">
            <a:avLst>
              <a:gd name="adj" fmla="val 6000"/>
            </a:avLst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5080" y="3931920"/>
            <a:ext cx="457200" cy="457200"/>
          </a:xfrm>
          <a:prstGeom prst="ellipse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A2A22"/>
                </a:solidFill>
                <a:latin typeface="Georgia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84047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B841"/>
                </a:solidFill>
                <a:latin typeface="Georgia"/>
              </a:rPr>
              <a:t>LTV ÷ 3 = CAC máximo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17880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3D5"/>
                </a:solidFill>
                <a:latin typeface="Calibri"/>
              </a:rPr>
              <a:t>Lo máximo que puedo gastar para conseguir un cliente.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800600"/>
            <a:ext cx="11274552" cy="14630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9194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C6B63"/>
                </a:solidFill>
                <a:latin typeface="Calibri"/>
              </a:rPr>
              <a:t>En una sola fórmula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57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5128"/>
                </a:solidFill>
                <a:latin typeface="Georgia"/>
              </a:rPr>
              <a:t>LTV  =  Σ (años 0 a 5)  Ingreso × Retención^año × Margen  ÷  (1 + k)^año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7900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1A2A22"/>
                </a:solidFill>
                <a:latin typeface="Calibri"/>
              </a:rPr>
              <a:t>k es el costo de capital. La plantilla aplica la retención desde el año 1: supone que parte de los clientes se va durante el primer año.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BMC · 5.2 VALOR DE VIDA DEL CLIENTE (LTV)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Ejemplo 1 de la plantilla, año por año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17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C6B63"/>
                </a:solidFill>
                <a:latin typeface="Calibri"/>
              </a:rPr>
              <a:t>Caja de suscripción trimestral · cifras en dólares, tal como vienen en el Excel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874519"/>
          <a:ext cx="7589519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2204"/>
                <a:gridCol w="1705510"/>
                <a:gridCol w="1279132"/>
                <a:gridCol w="1364408"/>
                <a:gridCol w="1364408"/>
                <a:gridCol w="1193857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Ingreso si el cliente se queda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Retención acumulada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Ganancia bruta (× 68 %)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Factor de descuento (12 %)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Valor presente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51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192,00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80,0 %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104,45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0,893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93,26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51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192,00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64,0 %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83,56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0,797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66,61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51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192,00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51,2 %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66,85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0,712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47,58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512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192,00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41,0 %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53,48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0,636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33,99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512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192,00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32,8 %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42,78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0,567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24,27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5128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A22"/>
                          </a:solidFill>
                          <a:latin typeface="Calibri"/>
                        </a:rPr>
                        <a:t>351,12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A22"/>
                          </a:solidFill>
                          <a:latin typeface="Calibri"/>
                        </a:rPr>
                        <a:t>265,71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21040" y="1874519"/>
            <a:ext cx="341071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057400"/>
            <a:ext cx="2953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E5128"/>
                </a:solidFill>
                <a:latin typeface="Georgia"/>
              </a:rPr>
              <a:t>Supuestos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496312"/>
            <a:ext cx="29535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Caja: 40 × 4 al año = 160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Compras sueltas: 32 al año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Margen 68 % · Retención 80 %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A22"/>
                </a:solidFill>
                <a:latin typeface="Calibri"/>
              </a:rPr>
              <a:t>Costo de capital 12 %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794760"/>
            <a:ext cx="3410712" cy="1417320"/>
          </a:xfrm>
          <a:prstGeom prst="roundRect">
            <a:avLst>
              <a:gd name="adj" fmla="val 6000"/>
            </a:avLst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931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B841"/>
                </a:solidFill>
                <a:latin typeface="Georgia"/>
              </a:rPr>
              <a:t>CAC máximo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297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FE3D5"/>
                </a:solidFill>
                <a:latin typeface="Calibri"/>
              </a:rPr>
              <a:t>265,71 ÷ 3 =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88,57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7589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A22"/>
                </a:solidFill>
                <a:latin typeface="Calibri"/>
              </a:rPr>
              <a:t>Cómo leerla: sin descontar, el cliente deja 351 de ganancia en 5 años. Traído a hoy vale 265,71.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A22"/>
                </a:solidFill>
                <a:latin typeface="Calibri"/>
              </a:rPr>
              <a:t>Si conseguir cada cliente cuesta más de 88,57 dólares, el modelo no cumple la regla de 3×.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349240"/>
            <a:ext cx="34107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C6B63"/>
                </a:solidFill>
                <a:latin typeface="Calibri"/>
              </a:rPr>
              <a:t>Este ejemplo no tiene venta inicial, por eso el año 0 vale 0.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BMC · 5.2 VALOR DE VIDA DEL CLIENTE (LTV)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Los tres ejemplos de la plantilla, comparados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11274552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926080"/>
                <a:gridCol w="2926080"/>
                <a:gridCol w="30449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Ejemplo 1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Ejemplo 2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Ejemplo 3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Tipo de negocio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Caja de suscripción trimestral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Suscripción mensual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Venta única + servicio mensual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Forma de cobro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40 × 4 al año + 32 en compras sueltas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20 al mes × 12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Venta de 10.000 + 125 al mes (6 meses el año 1, luego 12)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Margen bruto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68 %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95 %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65 % venta · 85 % servicio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Retención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80 %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85 %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90 % · recompra de 75 % en el año 5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Costo de capital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12 % (préstamo)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50 % (inversionistas)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>50 % (inversionistas)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265,71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280,73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8.523,26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CAC máximo (LTV ÷ 3)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88,57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93,58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A22"/>
                          </a:solidFill>
                          <a:latin typeface="Calibri"/>
                        </a:rPr>
                        <a:t>2.841,09</a:t>
                      </a:r>
                    </a:p>
                  </a:txBody>
                  <a:tcPr marL="73152" marR="73152" marT="36576" marB="36576" anchor="ctr">
                    <a:solidFill>
                      <a:srgbClr val="FDF0D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5128"/>
                </a:solidFill>
                <a:latin typeface="Calibri"/>
              </a:rPr>
              <a:t>Lo que enseñan: </a:t>
            </a:r>
            <a:r>
              <a:rPr sz="1300" b="0" i="0">
                <a:solidFill>
                  <a:srgbClr val="1A2A22"/>
                </a:solidFill>
                <a:latin typeface="Calibri"/>
              </a:rPr>
              <a:t>subir la retención o el margen sube el LTV más que subir el precio; con capital de inversionistas (50 %) los años lejanos casi no cuentan, así que importa ganar pronto.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BMC · 5.2 VALOR DE VIDA DEL CLIENTE (LTV)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Dos hojas de apoyo: costo de capital y rotación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E5128"/>
                </a:solidFill>
                <a:latin typeface="Georgia"/>
              </a:rPr>
              <a:t>Costo del capital propio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0592"/>
            <a:ext cx="5029200" cy="3611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A2A22"/>
                </a:solidFill>
                <a:latin typeface="Calibri"/>
              </a:rPr>
              <a:t>Pregunta: ¿qué rentabilidad anual espera quien pone el dinero?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i = (valor futuro ÷ valor presente)^(1/n) − 1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A2A22"/>
                </a:solidFill>
                <a:latin typeface="Calibri"/>
              </a:rPr>
              <a:t>Ejemplo del Excel: un inversionista pone 70.000 por el 40 % del negocio y espera que en 5 años valga 940.000.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A2A22"/>
                </a:solidFill>
                <a:latin typeface="Calibri"/>
              </a:rPr>
              <a:t>Su parte valdría 376.000  →  i = 39,96 % anual.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A2A22"/>
                </a:solidFill>
                <a:latin typeface="Calibri"/>
              </a:rPr>
              <a:t>Esa tasa se usa como costo de capital en la plantilla. Por eso el valor por defecto es alto (50 %).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82880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B841"/>
                </a:solidFill>
                <a:latin typeface="Georgia"/>
              </a:rPr>
              <a:t>Rotación de clientes (hoja “Batir”)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50592"/>
            <a:ext cx="5029200" cy="3611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FE3D5"/>
                </a:solidFill>
                <a:latin typeface="Calibri"/>
              </a:rPr>
              <a:t>“Batir” es una mala traducción de churn: el porcentaje de clientes que se va en cada período.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B841"/>
                </a:solidFill>
                <a:latin typeface="Georgia"/>
              </a:rPr>
              <a:t>Retención = 1 − rotación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FE3D5"/>
                </a:solidFill>
                <a:latin typeface="Calibri"/>
              </a:rPr>
              <a:t>De 100 clientes, al cabo de 12 períodos quedan: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73952" y="4892040"/>
          <a:ext cx="5029200" cy="7680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603504"/>
                <a:gridCol w="603504"/>
                <a:gridCol w="603504"/>
                <a:gridCol w="603504"/>
                <a:gridCol w="60350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Rotación por período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2 %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5 %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15 %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E5128"/>
                          </a:solidFill>
                          <a:latin typeface="Calibri"/>
                        </a:rPr>
                        <a:t>Quedan tras 12 períodos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A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BMC · 5.2 VALOR DE VIDA DEL CLIENTE (LTV)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Cómo llenar la plantilla con su modelo de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Elegir las formas de ingreso del 5.1 y dejar en 0 las que no aplican.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542032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87752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Poner el precio definido en el paso 16.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00984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Calcular el margen bruto con costos reales: (precio − costo directo) ÷ precio.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968496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14215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Estimar la retención con evidencia: campo 2, competidores, reportes del sector.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681728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27448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Elegir el costo de capital según cómo se financiará el negocio.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394960"/>
            <a:ext cx="457200" cy="457200"/>
          </a:xfrm>
          <a:prstGeom prst="ellipse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44068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Correr tres escenarios: pesimista, esperado y optimista.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1828800"/>
            <a:ext cx="4919472" cy="4389120"/>
          </a:xfrm>
          <a:prstGeom prst="roundRect">
            <a:avLst>
              <a:gd name="adj" fmla="val 6000"/>
            </a:avLst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2011680"/>
            <a:ext cx="4462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B841"/>
                </a:solidFill>
                <a:latin typeface="Georgia"/>
              </a:rPr>
              <a:t>Errores frecuentes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450592"/>
            <a:ext cx="4462272" cy="3611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FE3D5"/>
                </a:solidFill>
                <a:latin typeface="Calibri"/>
              </a:rPr>
              <a:t>•  Usar el ingreso en lugar del margen.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FE3D5"/>
                </a:solidFill>
                <a:latin typeface="Calibri"/>
              </a:rPr>
              <a:t>•  Suponer retención de 100 % o sacarla de la nada.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FE3D5"/>
                </a:solidFill>
                <a:latin typeface="Calibri"/>
              </a:rPr>
              <a:t>•  Mezclar meses y años: los períodos por año deben coincidir con el cobro.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FE3D5"/>
                </a:solidFill>
                <a:latin typeface="Calibri"/>
              </a:rPr>
              <a:t>•  Presentar un solo número como si fuera seguro.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FE3D5"/>
                </a:solidFill>
                <a:latin typeface="Calibri"/>
              </a:rPr>
              <a:t>•  Copiar los ejemplos del Excel sin cambiar los supuestos.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FE3D5"/>
                </a:solidFill>
                <a:latin typeface="Calibri"/>
              </a:rPr>
              <a:t>•  Calcular el LTV con un precio distinto al del paso 16.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BMC · 9.1 COSTO DE ADQUISICIÓN DE CLIENTES (CAC)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La conclusión del 9.1: ¿LTV &gt; 3 × CAC?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11274549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83238"/>
                <a:gridCol w="2199912"/>
                <a:gridCol w="2383238"/>
                <a:gridCol w="1466608"/>
                <a:gridCol w="284155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Horizonte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CAC estimado (rango)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LTV (escenario esperado)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LTV ÷ CAC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Lectura</a:t>
                      </a:r>
                    </a:p>
                  </a:txBody>
                  <a:tcPr marL="73152" marR="73152" marT="36576" marB="36576" anchor="ctr">
                    <a:solidFill>
                      <a:srgbClr val="0E512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Corto plazo (año 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Mediano plazo (año 2–3)</a:t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EF4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E5128"/>
                          </a:solidFill>
                          <a:latin typeface="Calibri"/>
                        </a:rPr>
                        <a:t>Largo plazo (año 4–5)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A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749039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Cómo leer la razón LTV ÷ CAC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60520"/>
            <a:ext cx="3630168" cy="1325880"/>
          </a:xfrm>
          <a:prstGeom prst="roundRect">
            <a:avLst>
              <a:gd name="adj" fmla="val 6000"/>
            </a:avLst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793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5B841"/>
                </a:solidFill>
                <a:latin typeface="Georgia"/>
              </a:rPr>
              <a:t>3 o más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FE3D5"/>
                </a:solidFill>
                <a:latin typeface="Calibri"/>
              </a:rPr>
              <a:t>El modelo se sostiene. Hay espacio para crecer.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4160520"/>
            <a:ext cx="363016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42793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E5128"/>
                </a:solidFill>
                <a:latin typeface="Georgia"/>
              </a:rPr>
              <a:t>Entre 1 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475488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2A22"/>
                </a:solidFill>
                <a:latin typeface="Calibri"/>
              </a:rPr>
              <a:t>Ajustar: precio, retención, margen o canal de ventas.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4160520"/>
            <a:ext cx="363016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42793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B23A2E"/>
                </a:solidFill>
                <a:latin typeface="Georgia"/>
              </a:rPr>
              <a:t>Menos de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475488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2A22"/>
                </a:solidFill>
                <a:latin typeface="Calibri"/>
              </a:rPr>
              <a:t>Cada cliente cuesta más de lo que deja. Revisar el modelo.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E5128"/>
                </a:solidFill>
                <a:latin typeface="Calibri"/>
              </a:rPr>
              <a:t>Para escribir: </a:t>
            </a:r>
            <a:r>
              <a:rPr sz="1350" b="0" i="1">
                <a:solidFill>
                  <a:srgbClr val="1A2A22"/>
                </a:solidFill>
                <a:latin typeface="Calibri"/>
              </a:rPr>
              <a:t>“Nuestro LTV esperado es __ y el CAC de largo plazo está entre __ y __; la razón es __. Para mejorarla vamos a __.”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Universidad Externado de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7A3E"/>
                </a:solidFill>
                <a:latin typeface="Calibri"/>
              </a:rPr>
              <a:t>LIENZO · 0 · VALORES (EJE TRANSVERSAL)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A22"/>
                </a:solidFill>
                <a:latin typeface="Georgia"/>
              </a:rPr>
              <a:t>0. Valores: el filtro de todas las decisiones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B63"/>
                </a:solidFill>
                <a:latin typeface="Calibri"/>
              </a:rPr>
              <a:t>Curso de Emprendimiento  •  Portafolio de evidencias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E5128"/>
                </a:solidFill>
                <a:latin typeface="Georgia"/>
              </a:rPr>
              <a:t>Propósito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0592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Por qué existe el negocio, más allá de ganar dinero.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Una frase: a quién sirve y qué cambio busca.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82880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0116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E5128"/>
                </a:solidFill>
                <a:latin typeface="Georgia"/>
              </a:rPr>
              <a:t>Valores en acción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450592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De 3 a 5 valores, cada uno con la conducta que lo demuestra.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2A22"/>
                </a:solidFill>
                <a:latin typeface="Calibri"/>
              </a:rPr>
              <a:t>“Transparencia” → publicamos cómo calculamos el precio.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82880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0E5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20116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B841"/>
                </a:solidFill>
                <a:latin typeface="Georgia"/>
              </a:rPr>
              <a:t>No negociables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450592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FE3D5"/>
                </a:solidFill>
                <a:latin typeface="Calibri"/>
              </a:rPr>
              <a:t>Lo que no harán aunque sea rentable.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FE3D5"/>
                </a:solidFill>
                <a:latin typeface="Calibri"/>
              </a:rPr>
              <a:t>En ciencia de datos: no usar datos sin consentimiento, no vender datos de clientes, revisar sesgos de los modelos.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43400"/>
            <a:ext cx="11274552" cy="18288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988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5128"/>
                </a:solidFill>
                <a:latin typeface="Georgia"/>
              </a:rPr>
              <a:t>Cómo filtran el lienzo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2A22"/>
                </a:solidFill>
                <a:latin typeface="Calibri"/>
              </a:rPr>
              <a:t>Segmento: a quién sí y a quién no atendemos  ·  Ecosistema: con qué proveedores y aliados trabajamos  ·  Ingresos: cómo cobramos sin abusar del cliente  ·  Costos: en qué no ahorramos  ·  Impacto: hasta dónde crecemos sin perder el propósito.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2032</TotalTime>
  <Words>4298</Words>
  <Application>Microsoft Macintosh PowerPoint</Application>
  <PresentationFormat>Panorámica</PresentationFormat>
  <Paragraphs>621</Paragraphs>
  <Slides>28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Cambria</vt:lpstr>
      <vt:lpstr>Georgia</vt:lpstr>
      <vt:lpstr>Office Theme</vt:lpstr>
      <vt:lpstr>Presentación de PowerPoint</vt:lpstr>
      <vt:lpstr>Agenda – Sesión 01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2 - Contrato de Equipo</dc:title>
  <dc:subject>PptxGenJS Presentation</dc:subject>
  <dc:creator>Curso 2023-20</dc:creator>
  <cp:lastModifiedBy>Rosa Milena Muñoz Villanueva</cp:lastModifiedBy>
  <cp:revision>76</cp:revision>
  <cp:lastPrinted>2026-09-25T16:27:28Z</cp:lastPrinted>
  <dcterms:created xsi:type="dcterms:W3CDTF">2026-07-05T14:38:35Z</dcterms:created>
  <dcterms:modified xsi:type="dcterms:W3CDTF">2026-10-23T15:37:42Z</dcterms:modified>
</cp:coreProperties>
</file>
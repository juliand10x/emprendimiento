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Anunciamos que la presentación arranca con un caso real, no con teoría.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acto. Empezamos por una solicitud concreta para que el problema no sea una estadística.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solicitante tiene 14 meses de actividad transaccional, 42 clientes recurrentes y retención del 88%. El modelo solo ve la ausencia de nómina: rechazo automático.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Ese rechazo no es una excepción: es la regla para la mitad de la fuerza laboral del país.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la banca dice no, el crédito no desaparece: se encarece. Comparación de costos anuales efectivos.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Consecuencias de que el problema no se resuelva, en tres niveles: país, industria y micronegocio.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acto: el giro. El problema no es el solicitante, es el instrumento de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reencuadre: de la falta de datos contractuales a la lectura del flujo de caja. Cierra con el mantra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cuatro movimientos de diseño de problemas de Bianchi y Verganti aplicados a StatCredit: reframing, expansión, elevación y saltos especulativos.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axiomas del sector que el reencuadre rompe, con la evidencia que los contradice.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acto: por qué el sistema falla. Diagnóstico causal.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Diagrama de Ishikawa. Datos y metodologías son las causas duras; cultura y regulación, las blandas. La exclusión es el resultado de su interacción.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tres causas duras: modelos lineales, datos en silos y ausencia de inferencia causal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causas blandas explican por qué el problema no se resuelve solo con mejor matemática.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Cuarto acto: el mercado. Tres preguntas clave antes de hablar de solución.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1: los cuatro sustitutos actuales. Ese es nuestro punto de comparación real, no la banca.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2: tres razones por las que el problema sigue abierto pese a haber datos y algoritmos disponibles.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3: mercado existente pero mal atendido, abordado B2B vía API. TAM, SAM y SOM.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Quinto acto: quién más está en la cancha.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Mapa de posicionamiento: nadie ocupa el cuadrante de datos alternativos con decisión explicable. Ahí entramos.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Estrategia, estructura y nivel de rivalidad del mercado según el marco de Porter.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Matriz sintética de los cinco competidores frente a nuestra solución.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Competidor 1: DataCrédito Experian. El referente del comité, pero ciego sin historial bancario previo.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Competidor 2: TransUnion. Modelos rígidos ante la informalidad y sin explicabilidad local.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Competidor 3: Belvo. Es la tubería de datos; nosotros somos el cerebro que decide sobre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Competidor 4: Sempli. Presta su propio balance; nosotros vendemos tecnología sin asumir riesgo de cartera.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Competidor 5: Addi. Consumo en retail contra crédito productivo: distinto uso del dinero, distinta evaluación.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volvemos al caso de apertura y dejamos el siguiente entregable planteado.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47750" y="3205163"/>
            <a:ext cx="9471660" cy="1028700"/>
          </a:xfrm>
          <a:prstGeom prst="rect">
            <a:avLst/>
          </a:prstGeom>
          <a:noFill/>
          <a:ln/>
        </p:spPr>
        <p:txBody>
          <a:bodyPr wrap="square" lIns="25400" tIns="25400" rIns="25400" bIns="25400" rtlCol="0" anchor="t">
            <a:normAutofit/>
          </a:bodyPr>
          <a:lstStyle/>
          <a:p>
            <a:pPr algn="l" indent="0" marL="0">
              <a:lnSpc>
                <a:spcPct val="87395"/>
              </a:lnSpc>
              <a:buNone/>
            </a:pPr>
            <a:r>
              <a:rPr lang="en-US" sz="7800" b="1" spc="-156" kern="0" dirty="0">
                <a:solidFill>
                  <a:srgbClr val="F5F3EF"/>
                </a:solidFill>
                <a:latin typeface="Arial" pitchFamily="34" charset="0"/>
                <a:ea typeface="Arial" pitchFamily="34" charset="-122"/>
                <a:cs typeface="Arial" pitchFamily="34" charset="-120"/>
              </a:rPr>
              <a:t>StatCredit AI</a:t>
            </a:r>
            <a:endParaRPr lang="en-US" sz="7800" dirty="0"/>
          </a:p>
        </p:txBody>
      </p:sp>
      <p:sp>
        <p:nvSpPr>
          <p:cNvPr id="3" name="Text 1"/>
          <p:cNvSpPr/>
          <p:nvPr/>
        </p:nvSpPr>
        <p:spPr>
          <a:xfrm>
            <a:off x="1047750" y="4481513"/>
            <a:ext cx="8868918" cy="1038225"/>
          </a:xfrm>
          <a:prstGeom prst="rect">
            <a:avLst/>
          </a:prstGeom>
          <a:noFill/>
          <a:ln/>
        </p:spPr>
        <p:txBody>
          <a:bodyPr wrap="square" lIns="25400" tIns="25400" rIns="25400" bIns="25400" rtlCol="0" anchor="t">
            <a:normAutofit/>
          </a:bodyPr>
          <a:lstStyle/>
          <a:p>
            <a:pPr algn="l" indent="0" marL="0">
              <a:lnSpc>
                <a:spcPct val="109375"/>
              </a:lnSpc>
              <a:buNone/>
            </a:pPr>
            <a:r>
              <a:rPr lang="en-US" sz="3150" dirty="0">
                <a:solidFill>
                  <a:srgbClr val="C9CDD4"/>
                </a:solidFill>
                <a:latin typeface="Arial" pitchFamily="34" charset="0"/>
                <a:ea typeface="Arial" pitchFamily="34" charset="-122"/>
                <a:cs typeface="Arial" pitchFamily="34" charset="-120"/>
              </a:rPr>
              <a:t>Cómo se mide a quien no cabe en el formato del banco</a:t>
            </a:r>
            <a:endParaRPr lang="en-US" sz="3150" dirty="0"/>
          </a:p>
        </p:txBody>
      </p:sp>
      <p:sp>
        <p:nvSpPr>
          <p:cNvPr id="4" name="Shape 2"/>
          <p:cNvSpPr/>
          <p:nvPr/>
        </p:nvSpPr>
        <p:spPr>
          <a:xfrm>
            <a:off x="1047750" y="6091238"/>
            <a:ext cx="8610600" cy="19050"/>
          </a:xfrm>
          <a:prstGeom prst="rect">
            <a:avLst/>
          </a:prstGeom>
          <a:solidFill>
            <a:srgbClr val="2C3340"/>
          </a:solidFill>
          <a:ln/>
        </p:spPr>
      </p:sp>
      <p:sp>
        <p:nvSpPr>
          <p:cNvPr id="5" name="Text 3"/>
          <p:cNvSpPr/>
          <p:nvPr/>
        </p:nvSpPr>
        <p:spPr>
          <a:xfrm>
            <a:off x="1047750" y="6434138"/>
            <a:ext cx="227279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5F3EF"/>
                </a:solidFill>
                <a:latin typeface="Arial" pitchFamily="34" charset="0"/>
                <a:ea typeface="Arial" pitchFamily="34" charset="-122"/>
                <a:cs typeface="Arial" pitchFamily="34" charset="-120"/>
              </a:rPr>
              <a:t>Sebastián Ramos</a:t>
            </a:r>
            <a:endParaRPr lang="en-US" sz="2100" dirty="0"/>
          </a:p>
        </p:txBody>
      </p:sp>
      <p:sp>
        <p:nvSpPr>
          <p:cNvPr id="6" name="Text 4"/>
          <p:cNvSpPr/>
          <p:nvPr/>
        </p:nvSpPr>
        <p:spPr>
          <a:xfrm>
            <a:off x="3533031" y="6434138"/>
            <a:ext cx="2417519"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5F3EF"/>
                </a:solidFill>
                <a:latin typeface="Arial" pitchFamily="34" charset="0"/>
                <a:ea typeface="Arial" pitchFamily="34" charset="-122"/>
                <a:cs typeface="Arial" pitchFamily="34" charset="-120"/>
              </a:rPr>
              <a:t>Santiago Sandoval</a:t>
            </a:r>
            <a:endParaRPr lang="en-US" sz="2100" dirty="0"/>
          </a:p>
        </p:txBody>
      </p:sp>
      <p:sp>
        <p:nvSpPr>
          <p:cNvPr id="7" name="Text 5"/>
          <p:cNvSpPr/>
          <p:nvPr/>
        </p:nvSpPr>
        <p:spPr>
          <a:xfrm>
            <a:off x="6149876" y="6434138"/>
            <a:ext cx="1964531"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5F3EF"/>
                </a:solidFill>
                <a:latin typeface="Arial" pitchFamily="34" charset="0"/>
                <a:ea typeface="Arial" pitchFamily="34" charset="-122"/>
                <a:cs typeface="Arial" pitchFamily="34" charset="-120"/>
              </a:rPr>
              <a:t>Julián Jiménez</a:t>
            </a:r>
            <a:endParaRPr lang="en-US" sz="2100" dirty="0"/>
          </a:p>
        </p:txBody>
      </p:sp>
      <p:sp>
        <p:nvSpPr>
          <p:cNvPr id="8" name="Text 6"/>
          <p:cNvSpPr/>
          <p:nvPr/>
        </p:nvSpPr>
        <p:spPr>
          <a:xfrm>
            <a:off x="1047750" y="6919913"/>
            <a:ext cx="1753835"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5F3EF"/>
                </a:solidFill>
                <a:latin typeface="Arial" pitchFamily="34" charset="0"/>
                <a:ea typeface="Arial" pitchFamily="34" charset="-122"/>
                <a:cs typeface="Arial" pitchFamily="34" charset="-120"/>
              </a:rPr>
              <a:t>Julián Duarte</a:t>
            </a:r>
            <a:endParaRPr lang="en-US" sz="2100" dirty="0"/>
          </a:p>
        </p:txBody>
      </p:sp>
      <p:sp>
        <p:nvSpPr>
          <p:cNvPr id="9" name="Text 7"/>
          <p:cNvSpPr/>
          <p:nvPr/>
        </p:nvSpPr>
        <p:spPr>
          <a:xfrm>
            <a:off x="3061246" y="6919913"/>
            <a:ext cx="1842403" cy="390525"/>
          </a:xfrm>
          <a:prstGeom prst="rect">
            <a:avLst/>
          </a:prstGeom>
          <a:noFill/>
          <a:ln/>
        </p:spPr>
        <p:txBody>
          <a:bodyPr wrap="square" lIns="25400" tIns="25400" rIns="25400" bIns="25400" rtlCol="0" anchor="t">
            <a:normAutofit/>
          </a:bodyPr>
          <a:lstStyle/>
          <a:p>
            <a:pPr algn="l" indent="0" marL="0">
              <a:buNone/>
            </a:pPr>
            <a:r>
              <a:rPr lang="en-US" sz="2100" dirty="0">
                <a:solidFill>
                  <a:srgbClr val="F5F3EF"/>
                </a:solidFill>
                <a:latin typeface="Arial" pitchFamily="34" charset="0"/>
                <a:ea typeface="Arial" pitchFamily="34" charset="-122"/>
                <a:cs typeface="Arial" pitchFamily="34" charset="-120"/>
              </a:rPr>
              <a:t>Tomás Rincón</a:t>
            </a:r>
            <a:endParaRPr lang="en-US" sz="2100" dirty="0"/>
          </a:p>
        </p:txBody>
      </p:sp>
      <p:sp>
        <p:nvSpPr>
          <p:cNvPr id="10" name="Shape 8"/>
          <p:cNvSpPr/>
          <p:nvPr/>
        </p:nvSpPr>
        <p:spPr>
          <a:xfrm>
            <a:off x="10515600" y="0"/>
            <a:ext cx="7772400" cy="10287000"/>
          </a:xfrm>
          <a:prstGeom prst="rect">
            <a:avLst/>
          </a:prstGeom>
          <a:solidFill>
            <a:srgbClr val="7F7F7F">
              <a:alpha val="8000"/>
            </a:srgbClr>
          </a:solidFill>
          <a:ln/>
        </p:spPr>
      </p:sp>
      <p:pic>
        <p:nvPicPr>
          <p:cNvPr id="11" name="Image 0" descr="preencoded.png">    </p:cNvPr>
          <p:cNvPicPr>
            <a:picLocks noChangeAspect="1"/>
          </p:cNvPicPr>
          <p:nvPr/>
        </p:nvPicPr>
        <p:blipFill>
          <a:blip r:embed="rId1"/>
          <a:srcRect l="0" r="0" t="5882" b="5882"/>
          <a:stretch/>
        </p:blipFill>
        <p:spPr>
          <a:xfrm>
            <a:off x="10515600" y="0"/>
            <a:ext cx="7772400" cy="10287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820400" y="6785670"/>
            <a:ext cx="6705600" cy="3158430"/>
          </a:xfrm>
          <a:prstGeom prst="rect">
            <a:avLst/>
          </a:prstGeom>
          <a:noFill/>
          <a:ln/>
        </p:spPr>
        <p:txBody>
          <a:bodyPr wrap="square" lIns="25400" tIns="25400" rIns="25400" bIns="25400" rtlCol="0" anchor="t">
            <a:normAutofit/>
          </a:bodyPr>
          <a:lstStyle/>
          <a:p>
            <a:pPr algn="r" indent="0" marL="0">
              <a:lnSpc>
                <a:spcPct val="67826"/>
              </a:lnSpc>
              <a:buNone/>
            </a:pPr>
            <a:r>
              <a:rPr lang="en-US" sz="31500" b="1" spc="-1260" kern="0" dirty="0">
                <a:solidFill>
                  <a:srgbClr val="1D2530"/>
                </a:solidFill>
                <a:latin typeface="Arial" pitchFamily="34" charset="0"/>
                <a:ea typeface="Arial" pitchFamily="34" charset="-122"/>
                <a:cs typeface="Arial" pitchFamily="34" charset="-120"/>
              </a:rPr>
              <a:t>01</a:t>
            </a:r>
            <a:endParaRPr lang="en-US" sz="31500" dirty="0"/>
          </a:p>
        </p:txBody>
      </p:sp>
      <p:sp>
        <p:nvSpPr>
          <p:cNvPr id="3" name="Shape 1"/>
          <p:cNvSpPr/>
          <p:nvPr/>
        </p:nvSpPr>
        <p:spPr>
          <a:xfrm>
            <a:off x="0" y="0"/>
            <a:ext cx="171450" cy="10287000"/>
          </a:xfrm>
          <a:prstGeom prst="rect">
            <a:avLst/>
          </a:prstGeom>
          <a:solidFill>
            <a:srgbClr val="B5623C"/>
          </a:solidFill>
          <a:ln/>
        </p:spPr>
      </p:sp>
      <p:sp>
        <p:nvSpPr>
          <p:cNvPr id="4" name="Text 2"/>
          <p:cNvSpPr/>
          <p:nvPr/>
        </p:nvSpPr>
        <p:spPr>
          <a:xfrm>
            <a:off x="1047750" y="3335685"/>
            <a:ext cx="178117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E2A684"/>
                </a:solidFill>
                <a:latin typeface="Courier New" pitchFamily="34" charset="0"/>
                <a:ea typeface="Courier New" pitchFamily="34" charset="-122"/>
                <a:cs typeface="Courier New" pitchFamily="34" charset="-120"/>
              </a:rPr>
              <a:t>ACTO 1</a:t>
            </a:r>
            <a:endParaRPr lang="en-US" sz="1950" dirty="0"/>
          </a:p>
        </p:txBody>
      </p:sp>
      <p:sp>
        <p:nvSpPr>
          <p:cNvPr id="5" name="Text 3"/>
          <p:cNvSpPr/>
          <p:nvPr/>
        </p:nvSpPr>
        <p:spPr>
          <a:xfrm>
            <a:off x="1047750" y="3926235"/>
            <a:ext cx="14716125" cy="1958280"/>
          </a:xfrm>
          <a:prstGeom prst="rect">
            <a:avLst/>
          </a:prstGeom>
          <a:noFill/>
          <a:ln/>
        </p:spPr>
        <p:txBody>
          <a:bodyPr wrap="square" lIns="25400" tIns="25400" rIns="25400" bIns="25400" rtlCol="0" anchor="t">
            <a:normAutofit/>
          </a:bodyPr>
          <a:lstStyle/>
          <a:p>
            <a:pPr algn="l" indent="0" marL="0">
              <a:lnSpc>
                <a:spcPct val="91636"/>
              </a:lnSpc>
              <a:buNone/>
            </a:pPr>
            <a:r>
              <a:rPr lang="en-US" sz="7200" b="1" dirty="0">
                <a:solidFill>
                  <a:srgbClr val="F5F3EF"/>
                </a:solidFill>
                <a:latin typeface="Arial" pitchFamily="34" charset="0"/>
                <a:ea typeface="Arial" pitchFamily="34" charset="-122"/>
                <a:cs typeface="Arial" pitchFamily="34" charset="-120"/>
              </a:rPr>
              <a:t>Una solicitud de crédito que duró 40 segundos</a:t>
            </a:r>
            <a:endParaRPr lang="en-US" sz="7200" dirty="0"/>
          </a:p>
        </p:txBody>
      </p:sp>
      <p:sp>
        <p:nvSpPr>
          <p:cNvPr id="6" name="Text 4"/>
          <p:cNvSpPr/>
          <p:nvPr/>
        </p:nvSpPr>
        <p:spPr>
          <a:xfrm>
            <a:off x="1047750" y="6113115"/>
            <a:ext cx="12753975" cy="876300"/>
          </a:xfrm>
          <a:prstGeom prst="rect">
            <a:avLst/>
          </a:prstGeom>
          <a:noFill/>
          <a:ln/>
        </p:spPr>
        <p:txBody>
          <a:bodyPr wrap="square" lIns="25400" tIns="25400" rIns="25400" bIns="25400" rtlCol="0" anchor="t">
            <a:normAutofit/>
          </a:bodyPr>
          <a:lstStyle/>
          <a:p>
            <a:pPr algn="l" indent="0" marL="0">
              <a:buNone/>
            </a:pPr>
            <a:r>
              <a:rPr lang="en-US" sz="2550" dirty="0">
                <a:solidFill>
                  <a:srgbClr val="C9CDD4"/>
                </a:solidFill>
                <a:latin typeface="Arial" pitchFamily="34" charset="0"/>
                <a:ea typeface="Arial" pitchFamily="34" charset="-122"/>
                <a:cs typeface="Arial" pitchFamily="34" charset="-120"/>
              </a:rPr>
              <a:t>El caso que abre el análisis: qué pidió el solicitante, qué vio el modelo y qué pasó después.</a:t>
            </a:r>
            <a:endParaRPr lang="en-US" sz="2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EL CASO</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17191D"/>
                </a:solidFill>
                <a:latin typeface="Arial" pitchFamily="34" charset="0"/>
                <a:ea typeface="Arial" pitchFamily="34" charset="-122"/>
                <a:cs typeface="Arial" pitchFamily="34" charset="-120"/>
              </a:rPr>
              <a:t>Dos lecturas del mismo solicitante</a:t>
            </a:r>
            <a:endParaRPr lang="en-US" sz="4500" dirty="0"/>
          </a:p>
        </p:txBody>
      </p:sp>
      <p:sp>
        <p:nvSpPr>
          <p:cNvPr id="4" name="Shape 2"/>
          <p:cNvSpPr/>
          <p:nvPr/>
        </p:nvSpPr>
        <p:spPr>
          <a:xfrm>
            <a:off x="1047750" y="2369790"/>
            <a:ext cx="5715000" cy="7155210"/>
          </a:xfrm>
          <a:prstGeom prst="rect">
            <a:avLst/>
          </a:prstGeom>
          <a:solidFill>
            <a:srgbClr val="E8E4DC"/>
          </a:solidFill>
          <a:ln/>
        </p:spPr>
      </p:sp>
      <p:sp>
        <p:nvSpPr>
          <p:cNvPr id="5" name="Text 3"/>
          <p:cNvSpPr/>
          <p:nvPr/>
        </p:nvSpPr>
        <p:spPr>
          <a:xfrm>
            <a:off x="1409700" y="2750790"/>
            <a:ext cx="549021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D7278"/>
                </a:solidFill>
                <a:latin typeface="Courier New" pitchFamily="34" charset="0"/>
                <a:ea typeface="Courier New" pitchFamily="34" charset="-122"/>
                <a:cs typeface="Courier New" pitchFamily="34" charset="-120"/>
              </a:rPr>
              <a:t>LO QUE VIO EL MODELO</a:t>
            </a:r>
            <a:endParaRPr lang="en-US" sz="1800" dirty="0"/>
          </a:p>
        </p:txBody>
      </p:sp>
      <p:sp>
        <p:nvSpPr>
          <p:cNvPr id="6" name="Text 4"/>
          <p:cNvSpPr/>
          <p:nvPr/>
        </p:nvSpPr>
        <p:spPr>
          <a:xfrm>
            <a:off x="1409700" y="3265140"/>
            <a:ext cx="5490210" cy="451396"/>
          </a:xfrm>
          <a:prstGeom prst="rect">
            <a:avLst/>
          </a:prstGeom>
          <a:noFill/>
          <a:ln/>
        </p:spPr>
        <p:txBody>
          <a:bodyPr wrap="square" lIns="25400" tIns="25400" rIns="25400" bIns="25400" rtlCol="0" anchor="t">
            <a:normAutofit/>
          </a:bodyPr>
          <a:lstStyle/>
          <a:p>
            <a:pPr algn="l" indent="0" marL="0">
              <a:lnSpc>
                <a:spcPct val="120556"/>
              </a:lnSpc>
              <a:buNone/>
            </a:pPr>
            <a:r>
              <a:rPr lang="en-US" sz="2325" dirty="0">
                <a:solidFill>
                  <a:srgbClr val="2C2F35"/>
                </a:solidFill>
                <a:latin typeface="Arial" pitchFamily="34" charset="0"/>
                <a:ea typeface="Arial" pitchFamily="34" charset="-122"/>
                <a:cs typeface="Arial" pitchFamily="34" charset="-120"/>
              </a:rPr>
              <a:t>Sin certificado laboral</a:t>
            </a:r>
            <a:endParaRPr lang="en-US" sz="2325" dirty="0"/>
          </a:p>
        </p:txBody>
      </p:sp>
      <p:sp>
        <p:nvSpPr>
          <p:cNvPr id="7" name="Text 5"/>
          <p:cNvSpPr/>
          <p:nvPr/>
        </p:nvSpPr>
        <p:spPr>
          <a:xfrm>
            <a:off x="1409700" y="3887986"/>
            <a:ext cx="5490210" cy="451396"/>
          </a:xfrm>
          <a:prstGeom prst="rect">
            <a:avLst/>
          </a:prstGeom>
          <a:noFill/>
          <a:ln/>
        </p:spPr>
        <p:txBody>
          <a:bodyPr wrap="square" lIns="25400" tIns="25400" rIns="25400" bIns="25400" rtlCol="0" anchor="t">
            <a:normAutofit/>
          </a:bodyPr>
          <a:lstStyle/>
          <a:p>
            <a:pPr algn="l" indent="0" marL="0">
              <a:lnSpc>
                <a:spcPct val="120556"/>
              </a:lnSpc>
              <a:buNone/>
            </a:pPr>
            <a:r>
              <a:rPr lang="en-US" sz="2325" dirty="0">
                <a:solidFill>
                  <a:srgbClr val="2C2F35"/>
                </a:solidFill>
                <a:latin typeface="Arial" pitchFamily="34" charset="0"/>
                <a:ea typeface="Arial" pitchFamily="34" charset="-122"/>
                <a:cs typeface="Arial" pitchFamily="34" charset="-120"/>
              </a:rPr>
              <a:t>Sin cotización sobre nómina fija</a:t>
            </a:r>
            <a:endParaRPr lang="en-US" sz="2325" dirty="0"/>
          </a:p>
        </p:txBody>
      </p:sp>
      <p:sp>
        <p:nvSpPr>
          <p:cNvPr id="8" name="Text 6"/>
          <p:cNvSpPr/>
          <p:nvPr/>
        </p:nvSpPr>
        <p:spPr>
          <a:xfrm>
            <a:off x="1409700" y="4510832"/>
            <a:ext cx="5490210" cy="451396"/>
          </a:xfrm>
          <a:prstGeom prst="rect">
            <a:avLst/>
          </a:prstGeom>
          <a:noFill/>
          <a:ln/>
        </p:spPr>
        <p:txBody>
          <a:bodyPr wrap="square" lIns="25400" tIns="25400" rIns="25400" bIns="25400" rtlCol="0" anchor="t">
            <a:normAutofit/>
          </a:bodyPr>
          <a:lstStyle/>
          <a:p>
            <a:pPr algn="l" indent="0" marL="0">
              <a:lnSpc>
                <a:spcPct val="120556"/>
              </a:lnSpc>
              <a:buNone/>
            </a:pPr>
            <a:r>
              <a:rPr lang="en-US" sz="2325" dirty="0">
                <a:solidFill>
                  <a:srgbClr val="2C2F35"/>
                </a:solidFill>
                <a:latin typeface="Arial" pitchFamily="34" charset="0"/>
                <a:ea typeface="Arial" pitchFamily="34" charset="-122"/>
                <a:cs typeface="Arial" pitchFamily="34" charset="-120"/>
              </a:rPr>
              <a:t>Sin historial en buró</a:t>
            </a:r>
            <a:endParaRPr lang="en-US" sz="2325" dirty="0"/>
          </a:p>
        </p:txBody>
      </p:sp>
      <p:sp>
        <p:nvSpPr>
          <p:cNvPr id="9" name="Text 7"/>
          <p:cNvSpPr/>
          <p:nvPr/>
        </p:nvSpPr>
        <p:spPr>
          <a:xfrm>
            <a:off x="1409700" y="8667750"/>
            <a:ext cx="5490210"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8A3B25"/>
                </a:solidFill>
                <a:latin typeface="Arial" pitchFamily="34" charset="0"/>
                <a:ea typeface="Arial" pitchFamily="34" charset="-122"/>
                <a:cs typeface="Arial" pitchFamily="34" charset="-120"/>
              </a:rPr>
              <a:t>Score = nulo</a:t>
            </a:r>
            <a:endParaRPr lang="en-US" sz="3300" dirty="0"/>
          </a:p>
        </p:txBody>
      </p:sp>
      <p:sp>
        <p:nvSpPr>
          <p:cNvPr id="10" name="Shape 8"/>
          <p:cNvSpPr/>
          <p:nvPr/>
        </p:nvSpPr>
        <p:spPr>
          <a:xfrm>
            <a:off x="7143750" y="2369790"/>
            <a:ext cx="5715000" cy="7155210"/>
          </a:xfrm>
          <a:prstGeom prst="rect">
            <a:avLst/>
          </a:prstGeom>
          <a:solidFill>
            <a:srgbClr val="14181F"/>
          </a:solidFill>
          <a:ln/>
        </p:spPr>
      </p:sp>
      <p:sp>
        <p:nvSpPr>
          <p:cNvPr id="11" name="Text 9"/>
          <p:cNvSpPr/>
          <p:nvPr/>
        </p:nvSpPr>
        <p:spPr>
          <a:xfrm>
            <a:off x="7505700" y="2750790"/>
            <a:ext cx="549021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FA3CA"/>
                </a:solidFill>
                <a:latin typeface="Courier New" pitchFamily="34" charset="0"/>
                <a:ea typeface="Courier New" pitchFamily="34" charset="-122"/>
                <a:cs typeface="Courier New" pitchFamily="34" charset="-120"/>
              </a:rPr>
              <a:t>LO QUE REALMENTE HABÍA</a:t>
            </a:r>
            <a:endParaRPr lang="en-US" sz="1800" dirty="0"/>
          </a:p>
        </p:txBody>
      </p:sp>
      <p:sp>
        <p:nvSpPr>
          <p:cNvPr id="12" name="Text 10"/>
          <p:cNvSpPr/>
          <p:nvPr/>
        </p:nvSpPr>
        <p:spPr>
          <a:xfrm>
            <a:off x="7505700" y="3265140"/>
            <a:ext cx="5140833" cy="864691"/>
          </a:xfrm>
          <a:prstGeom prst="rect">
            <a:avLst/>
          </a:prstGeom>
          <a:noFill/>
          <a:ln/>
        </p:spPr>
        <p:txBody>
          <a:bodyPr wrap="square" lIns="25400" tIns="25400" rIns="25400" bIns="25400" rtlCol="0" anchor="t">
            <a:normAutofit/>
          </a:bodyPr>
          <a:lstStyle/>
          <a:p>
            <a:pPr algn="l" indent="0" marL="0">
              <a:lnSpc>
                <a:spcPct val="120556"/>
              </a:lnSpc>
              <a:buNone/>
            </a:pPr>
            <a:r>
              <a:rPr lang="en-US" sz="2325" dirty="0">
                <a:solidFill>
                  <a:srgbClr val="F5F3EF"/>
                </a:solidFill>
                <a:latin typeface="Arial" pitchFamily="34" charset="0"/>
                <a:ea typeface="Arial" pitchFamily="34" charset="-122"/>
                <a:cs typeface="Arial" pitchFamily="34" charset="-120"/>
              </a:rPr>
              <a:t>14 meses de historial transaccional digital</a:t>
            </a:r>
            <a:endParaRPr lang="en-US" sz="2325" dirty="0"/>
          </a:p>
        </p:txBody>
      </p:sp>
      <p:sp>
        <p:nvSpPr>
          <p:cNvPr id="13" name="Text 11"/>
          <p:cNvSpPr/>
          <p:nvPr/>
        </p:nvSpPr>
        <p:spPr>
          <a:xfrm>
            <a:off x="7505700" y="4301282"/>
            <a:ext cx="5140833" cy="864691"/>
          </a:xfrm>
          <a:prstGeom prst="rect">
            <a:avLst/>
          </a:prstGeom>
          <a:noFill/>
          <a:ln/>
        </p:spPr>
        <p:txBody>
          <a:bodyPr wrap="square" lIns="25400" tIns="25400" rIns="25400" bIns="25400" rtlCol="0" anchor="t">
            <a:normAutofit/>
          </a:bodyPr>
          <a:lstStyle/>
          <a:p>
            <a:pPr algn="l" indent="0" marL="0">
              <a:lnSpc>
                <a:spcPct val="120556"/>
              </a:lnSpc>
              <a:buNone/>
            </a:pPr>
            <a:r>
              <a:rPr lang="en-US" sz="2325" dirty="0">
                <a:solidFill>
                  <a:srgbClr val="F5F3EF"/>
                </a:solidFill>
                <a:latin typeface="Arial" pitchFamily="34" charset="0"/>
                <a:ea typeface="Arial" pitchFamily="34" charset="-122"/>
                <a:cs typeface="Arial" pitchFamily="34" charset="-120"/>
              </a:rPr>
              <a:t>$2.800.000 COP de saldo medio mensual</a:t>
            </a:r>
            <a:endParaRPr lang="en-US" sz="2325" dirty="0"/>
          </a:p>
        </p:txBody>
      </p:sp>
      <p:sp>
        <p:nvSpPr>
          <p:cNvPr id="14" name="Text 12"/>
          <p:cNvSpPr/>
          <p:nvPr/>
        </p:nvSpPr>
        <p:spPr>
          <a:xfrm>
            <a:off x="7505700" y="5337423"/>
            <a:ext cx="5490210" cy="451396"/>
          </a:xfrm>
          <a:prstGeom prst="rect">
            <a:avLst/>
          </a:prstGeom>
          <a:noFill/>
          <a:ln/>
        </p:spPr>
        <p:txBody>
          <a:bodyPr wrap="square" lIns="25400" tIns="25400" rIns="25400" bIns="25400" rtlCol="0" anchor="t">
            <a:normAutofit/>
          </a:bodyPr>
          <a:lstStyle/>
          <a:p>
            <a:pPr algn="l" indent="0" marL="0">
              <a:lnSpc>
                <a:spcPct val="120556"/>
              </a:lnSpc>
              <a:buNone/>
            </a:pPr>
            <a:r>
              <a:rPr lang="en-US" sz="2325" dirty="0">
                <a:solidFill>
                  <a:srgbClr val="F5F3EF"/>
                </a:solidFill>
                <a:latin typeface="Arial" pitchFamily="34" charset="0"/>
                <a:ea typeface="Arial" pitchFamily="34" charset="-122"/>
                <a:cs typeface="Arial" pitchFamily="34" charset="-120"/>
              </a:rPr>
              <a:t>42 clientes recurrentes identificados</a:t>
            </a:r>
            <a:endParaRPr lang="en-US" sz="2325" dirty="0"/>
          </a:p>
        </p:txBody>
      </p:sp>
      <p:sp>
        <p:nvSpPr>
          <p:cNvPr id="15" name="Text 13"/>
          <p:cNvSpPr/>
          <p:nvPr/>
        </p:nvSpPr>
        <p:spPr>
          <a:xfrm>
            <a:off x="7505700" y="8667750"/>
            <a:ext cx="5490210" cy="514350"/>
          </a:xfrm>
          <a:prstGeom prst="rect">
            <a:avLst/>
          </a:prstGeom>
          <a:noFill/>
          <a:ln/>
        </p:spPr>
        <p:txBody>
          <a:bodyPr wrap="square" lIns="25400" tIns="25400" rIns="25400" bIns="25400" rtlCol="0" anchor="t">
            <a:normAutofit/>
          </a:bodyPr>
          <a:lstStyle/>
          <a:p>
            <a:pPr algn="l" indent="0" marL="0">
              <a:buNone/>
            </a:pPr>
            <a:r>
              <a:rPr lang="en-US" sz="3300" b="1" dirty="0">
                <a:solidFill>
                  <a:srgbClr val="E2A684"/>
                </a:solidFill>
                <a:latin typeface="Arial" pitchFamily="34" charset="0"/>
                <a:ea typeface="Arial" pitchFamily="34" charset="-122"/>
                <a:cs typeface="Arial" pitchFamily="34" charset="-120"/>
              </a:rPr>
              <a:t>88% de retención</a:t>
            </a:r>
            <a:endParaRPr lang="en-US" sz="3300" dirty="0"/>
          </a:p>
        </p:txBody>
      </p:sp>
      <p:sp>
        <p:nvSpPr>
          <p:cNvPr id="16" name="Shape 14"/>
          <p:cNvSpPr/>
          <p:nvPr/>
        </p:nvSpPr>
        <p:spPr>
          <a:xfrm>
            <a:off x="13239750" y="2369790"/>
            <a:ext cx="4000500" cy="7155210"/>
          </a:xfrm>
          <a:prstGeom prst="rect">
            <a:avLst/>
          </a:prstGeom>
          <a:solidFill>
            <a:srgbClr val="7F7F7F">
              <a:alpha val="8000"/>
            </a:srgbClr>
          </a:solidFill>
          <a:ln/>
        </p:spPr>
      </p:sp>
      <p:pic>
        <p:nvPicPr>
          <p:cNvPr id="17" name="Image 0" descr="preencoded.png">    </p:cNvPr>
          <p:cNvPicPr>
            <a:picLocks noChangeAspect="1"/>
          </p:cNvPicPr>
          <p:nvPr/>
        </p:nvPicPr>
        <p:blipFill>
          <a:blip r:embed="rId1"/>
          <a:srcRect l="8067" r="8067" t="0" b="0"/>
          <a:stretch/>
        </p:blipFill>
        <p:spPr>
          <a:xfrm>
            <a:off x="13239750" y="2369790"/>
            <a:ext cx="4000500" cy="71552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47750" y="2289870"/>
            <a:ext cx="8067675"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FA3CA"/>
                </a:solidFill>
                <a:latin typeface="Courier New" pitchFamily="34" charset="0"/>
                <a:ea typeface="Courier New" pitchFamily="34" charset="-122"/>
                <a:cs typeface="Courier New" pitchFamily="34" charset="-120"/>
              </a:rPr>
              <a:t>LA ESCALA DEL CASO</a:t>
            </a:r>
            <a:endParaRPr lang="en-US" sz="1800" dirty="0"/>
          </a:p>
        </p:txBody>
      </p:sp>
      <p:sp>
        <p:nvSpPr>
          <p:cNvPr id="3" name="Text 1"/>
          <p:cNvSpPr/>
          <p:nvPr/>
        </p:nvSpPr>
        <p:spPr>
          <a:xfrm>
            <a:off x="1047750" y="2918520"/>
            <a:ext cx="8067675" cy="1527721"/>
          </a:xfrm>
          <a:prstGeom prst="rect">
            <a:avLst/>
          </a:prstGeom>
          <a:noFill/>
          <a:ln/>
        </p:spPr>
        <p:txBody>
          <a:bodyPr wrap="square" lIns="25400" tIns="25400" rIns="25400" bIns="25400" rtlCol="0" anchor="t">
            <a:normAutofit/>
          </a:bodyPr>
          <a:lstStyle/>
          <a:p>
            <a:pPr algn="l" indent="0" marL="0">
              <a:lnSpc>
                <a:spcPct val="79796"/>
              </a:lnSpc>
              <a:buNone/>
            </a:pPr>
            <a:r>
              <a:rPr lang="en-US" sz="12750" b="1" spc="-382" kern="0" dirty="0">
                <a:solidFill>
                  <a:srgbClr val="F5F3EF"/>
                </a:solidFill>
                <a:latin typeface="Arial" pitchFamily="34" charset="0"/>
                <a:ea typeface="Arial" pitchFamily="34" charset="-122"/>
                <a:cs typeface="Arial" pitchFamily="34" charset="-120"/>
              </a:rPr>
              <a:t>13</a:t>
            </a:r>
            <a:pPr algn="l" indent="0" marL="0">
              <a:lnSpc>
                <a:spcPct val="79796"/>
              </a:lnSpc>
              <a:buNone/>
            </a:pPr>
            <a:r>
              <a:rPr lang="en-US" sz="7200" b="1" spc="-382" kern="0" dirty="0">
                <a:solidFill>
                  <a:srgbClr val="F5F3EF"/>
                </a:solidFill>
                <a:latin typeface="Arial" pitchFamily="34" charset="0"/>
                <a:ea typeface="Arial" pitchFamily="34" charset="-122"/>
                <a:cs typeface="Arial" pitchFamily="34" charset="-120"/>
              </a:rPr>
              <a:t>millones</a:t>
            </a:r>
            <a:endParaRPr lang="en-US" sz="12750" dirty="0"/>
          </a:p>
        </p:txBody>
      </p:sp>
      <p:sp>
        <p:nvSpPr>
          <p:cNvPr id="4" name="Text 2"/>
          <p:cNvSpPr/>
          <p:nvPr/>
        </p:nvSpPr>
        <p:spPr>
          <a:xfrm>
            <a:off x="1047750" y="4731990"/>
            <a:ext cx="7063740" cy="1426666"/>
          </a:xfrm>
          <a:prstGeom prst="rect">
            <a:avLst/>
          </a:prstGeom>
          <a:noFill/>
          <a:ln/>
        </p:spPr>
        <p:txBody>
          <a:bodyPr wrap="square" lIns="25400" tIns="25400" rIns="25400" bIns="25400" rtlCol="0" anchor="t">
            <a:normAutofit/>
          </a:bodyPr>
          <a:lstStyle/>
          <a:p>
            <a:pPr algn="l" indent="0" marL="0">
              <a:lnSpc>
                <a:spcPct val="115714"/>
              </a:lnSpc>
              <a:buNone/>
            </a:pPr>
            <a:r>
              <a:rPr lang="en-US" sz="2700" dirty="0">
                <a:solidFill>
                  <a:srgbClr val="F5F3EF"/>
                </a:solidFill>
                <a:latin typeface="Arial" pitchFamily="34" charset="0"/>
                <a:ea typeface="Arial" pitchFamily="34" charset="-122"/>
                <a:cs typeface="Arial" pitchFamily="34" charset="-120"/>
              </a:rPr>
              <a:t>de trabajadores independientes y micronegocios en Colombia reciben la misma lectura del sistema financiero.</a:t>
            </a:r>
            <a:endParaRPr lang="en-US" sz="2700" dirty="0"/>
          </a:p>
        </p:txBody>
      </p:sp>
      <p:sp>
        <p:nvSpPr>
          <p:cNvPr id="5" name="Shape 3"/>
          <p:cNvSpPr/>
          <p:nvPr/>
        </p:nvSpPr>
        <p:spPr>
          <a:xfrm>
            <a:off x="1047750" y="6444407"/>
            <a:ext cx="7334250" cy="19050"/>
          </a:xfrm>
          <a:prstGeom prst="rect">
            <a:avLst/>
          </a:prstGeom>
          <a:solidFill>
            <a:srgbClr val="2C3340"/>
          </a:solidFill>
          <a:ln/>
        </p:spPr>
      </p:sp>
      <p:sp>
        <p:nvSpPr>
          <p:cNvPr id="6" name="Text 4"/>
          <p:cNvSpPr/>
          <p:nvPr/>
        </p:nvSpPr>
        <p:spPr>
          <a:xfrm>
            <a:off x="1047750" y="6749207"/>
            <a:ext cx="1464885"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F5F3EF"/>
                </a:solidFill>
                <a:latin typeface="Arial" pitchFamily="34" charset="0"/>
                <a:ea typeface="Arial" pitchFamily="34" charset="-122"/>
                <a:cs typeface="Arial" pitchFamily="34" charset="-120"/>
              </a:rPr>
              <a:t>40%</a:t>
            </a:r>
            <a:endParaRPr lang="en-US" sz="4200" dirty="0"/>
          </a:p>
        </p:txBody>
      </p:sp>
      <p:sp>
        <p:nvSpPr>
          <p:cNvPr id="7" name="Text 5"/>
          <p:cNvSpPr/>
          <p:nvPr/>
        </p:nvSpPr>
        <p:spPr>
          <a:xfrm>
            <a:off x="1047750" y="7444532"/>
            <a:ext cx="1407914" cy="685800"/>
          </a:xfrm>
          <a:prstGeom prst="rect">
            <a:avLst/>
          </a:prstGeom>
          <a:noFill/>
          <a:ln/>
        </p:spPr>
        <p:txBody>
          <a:bodyPr wrap="square" lIns="25400" tIns="25400" rIns="25400" bIns="25400" rtlCol="0" anchor="t">
            <a:normAutofit/>
          </a:bodyPr>
          <a:lstStyle/>
          <a:p>
            <a:pPr algn="l" indent="0" marL="0">
              <a:buNone/>
            </a:pPr>
            <a:r>
              <a:rPr lang="en-US" sz="1950" dirty="0">
                <a:solidFill>
                  <a:srgbClr val="C9CDD4"/>
                </a:solidFill>
                <a:latin typeface="Arial" pitchFamily="34" charset="0"/>
                <a:ea typeface="Arial" pitchFamily="34" charset="-122"/>
                <a:cs typeface="Arial" pitchFamily="34" charset="-120"/>
              </a:rPr>
              <a:t>del PIB nacional</a:t>
            </a:r>
            <a:endParaRPr lang="en-US" sz="1950" dirty="0"/>
          </a:p>
        </p:txBody>
      </p:sp>
      <p:sp>
        <p:nvSpPr>
          <p:cNvPr id="8" name="Text 6"/>
          <p:cNvSpPr/>
          <p:nvPr/>
        </p:nvSpPr>
        <p:spPr>
          <a:xfrm>
            <a:off x="2912864" y="6749207"/>
            <a:ext cx="2501667"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F5F3EF"/>
                </a:solidFill>
                <a:latin typeface="Arial" pitchFamily="34" charset="0"/>
                <a:ea typeface="Arial" pitchFamily="34" charset="-122"/>
                <a:cs typeface="Arial" pitchFamily="34" charset="-120"/>
              </a:rPr>
              <a:t>92%</a:t>
            </a:r>
            <a:endParaRPr lang="en-US" sz="4200" dirty="0"/>
          </a:p>
        </p:txBody>
      </p:sp>
      <p:sp>
        <p:nvSpPr>
          <p:cNvPr id="9" name="Text 7"/>
          <p:cNvSpPr/>
          <p:nvPr/>
        </p:nvSpPr>
        <p:spPr>
          <a:xfrm>
            <a:off x="2912864" y="7444532"/>
            <a:ext cx="2350443" cy="685800"/>
          </a:xfrm>
          <a:prstGeom prst="rect">
            <a:avLst/>
          </a:prstGeom>
          <a:noFill/>
          <a:ln/>
        </p:spPr>
        <p:txBody>
          <a:bodyPr wrap="square" lIns="25400" tIns="25400" rIns="25400" bIns="25400" rtlCol="0" anchor="t">
            <a:normAutofit/>
          </a:bodyPr>
          <a:lstStyle/>
          <a:p>
            <a:pPr algn="l" indent="0" marL="0">
              <a:buNone/>
            </a:pPr>
            <a:r>
              <a:rPr lang="en-US" sz="1950" dirty="0">
                <a:solidFill>
                  <a:srgbClr val="C9CDD4"/>
                </a:solidFill>
                <a:latin typeface="Arial" pitchFamily="34" charset="0"/>
                <a:ea typeface="Arial" pitchFamily="34" charset="-122"/>
                <a:cs typeface="Arial" pitchFamily="34" charset="-120"/>
              </a:rPr>
              <a:t>de las unidades productivas</a:t>
            </a:r>
            <a:endParaRPr lang="en-US" sz="1950" dirty="0"/>
          </a:p>
        </p:txBody>
      </p:sp>
      <p:sp>
        <p:nvSpPr>
          <p:cNvPr id="10" name="Text 8"/>
          <p:cNvSpPr/>
          <p:nvPr/>
        </p:nvSpPr>
        <p:spPr>
          <a:xfrm>
            <a:off x="5720507" y="6749207"/>
            <a:ext cx="2927643" cy="657225"/>
          </a:xfrm>
          <a:prstGeom prst="rect">
            <a:avLst/>
          </a:prstGeom>
          <a:noFill/>
          <a:ln/>
        </p:spPr>
        <p:txBody>
          <a:bodyPr wrap="square" lIns="25400" tIns="25400" rIns="25400" bIns="25400" rtlCol="0" anchor="t">
            <a:normAutofit/>
          </a:bodyPr>
          <a:lstStyle/>
          <a:p>
            <a:pPr algn="l" indent="0" marL="0">
              <a:buNone/>
            </a:pPr>
            <a:r>
              <a:rPr lang="en-US" sz="4200" b="1" dirty="0">
                <a:solidFill>
                  <a:srgbClr val="E2A684"/>
                </a:solidFill>
                <a:latin typeface="Arial" pitchFamily="34" charset="0"/>
                <a:ea typeface="Arial" pitchFamily="34" charset="-122"/>
                <a:cs typeface="Arial" pitchFamily="34" charset="-120"/>
              </a:rPr>
              <a:t>$12 B</a:t>
            </a:r>
            <a:endParaRPr lang="en-US" sz="4200" dirty="0"/>
          </a:p>
        </p:txBody>
      </p:sp>
      <p:sp>
        <p:nvSpPr>
          <p:cNvPr id="11" name="Text 9"/>
          <p:cNvSpPr/>
          <p:nvPr/>
        </p:nvSpPr>
        <p:spPr>
          <a:xfrm>
            <a:off x="5720507" y="7444532"/>
            <a:ext cx="2741338" cy="685800"/>
          </a:xfrm>
          <a:prstGeom prst="rect">
            <a:avLst/>
          </a:prstGeom>
          <a:noFill/>
          <a:ln/>
        </p:spPr>
        <p:txBody>
          <a:bodyPr wrap="square" lIns="25400" tIns="25400" rIns="25400" bIns="25400" rtlCol="0" anchor="t">
            <a:normAutofit/>
          </a:bodyPr>
          <a:lstStyle/>
          <a:p>
            <a:pPr algn="l" indent="0" marL="0">
              <a:buNone/>
            </a:pPr>
            <a:r>
              <a:rPr lang="en-US" sz="1950" dirty="0">
                <a:solidFill>
                  <a:srgbClr val="C9CDD4"/>
                </a:solidFill>
                <a:latin typeface="Arial" pitchFamily="34" charset="0"/>
                <a:ea typeface="Arial" pitchFamily="34" charset="-122"/>
                <a:cs typeface="Arial" pitchFamily="34" charset="-120"/>
              </a:rPr>
              <a:t>COP de crédito bloqueado al año</a:t>
            </a:r>
            <a:endParaRPr lang="en-US" sz="1950" dirty="0"/>
          </a:p>
        </p:txBody>
      </p:sp>
      <p:sp>
        <p:nvSpPr>
          <p:cNvPr id="12" name="Shape 10"/>
          <p:cNvSpPr/>
          <p:nvPr/>
        </p:nvSpPr>
        <p:spPr>
          <a:xfrm>
            <a:off x="9144000" y="0"/>
            <a:ext cx="9144000" cy="10287000"/>
          </a:xfrm>
          <a:prstGeom prst="rect">
            <a:avLst/>
          </a:prstGeom>
          <a:solidFill>
            <a:srgbClr val="7F7F7F">
              <a:alpha val="8000"/>
            </a:srgbClr>
          </a:solidFill>
          <a:ln/>
        </p:spPr>
      </p:sp>
      <p:pic>
        <p:nvPicPr>
          <p:cNvPr id="13" name="Image 0" descr="preencoded.png">    </p:cNvPr>
          <p:cNvPicPr>
            <a:picLocks noChangeAspect="1"/>
          </p:cNvPicPr>
          <p:nvPr/>
        </p:nvPicPr>
        <p:blipFill>
          <a:blip r:embed="rId1"/>
          <a:srcRect l="0" r="0" t="12500" b="12500"/>
          <a:stretch/>
        </p:blipFill>
        <p:spPr>
          <a:xfrm>
            <a:off x="9144000" y="0"/>
            <a:ext cx="9144000" cy="10287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2A684"/>
                </a:solidFill>
                <a:latin typeface="Courier New" pitchFamily="34" charset="0"/>
                <a:ea typeface="Courier New" pitchFamily="34" charset="-122"/>
                <a:cs typeface="Courier New" pitchFamily="34" charset="-120"/>
              </a:rPr>
              <a:t>EL COSTO DE DECIR NO</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F5F3EF"/>
                </a:solidFill>
                <a:latin typeface="Arial" pitchFamily="34" charset="0"/>
                <a:ea typeface="Arial" pitchFamily="34" charset="-122"/>
                <a:cs typeface="Arial" pitchFamily="34" charset="-120"/>
              </a:rPr>
              <a:t>El crédito no desaparece: se encarece</a:t>
            </a:r>
            <a:endParaRPr lang="en-US" sz="4500" dirty="0"/>
          </a:p>
        </p:txBody>
      </p:sp>
      <p:sp>
        <p:nvSpPr>
          <p:cNvPr id="4" name="Text 2"/>
          <p:cNvSpPr/>
          <p:nvPr/>
        </p:nvSpPr>
        <p:spPr>
          <a:xfrm>
            <a:off x="1047750" y="2064990"/>
            <a:ext cx="14668500" cy="409575"/>
          </a:xfrm>
          <a:prstGeom prst="rect">
            <a:avLst/>
          </a:prstGeom>
          <a:noFill/>
          <a:ln/>
        </p:spPr>
        <p:txBody>
          <a:bodyPr wrap="square" lIns="25400" tIns="25400" rIns="25400" bIns="25400" rtlCol="0" anchor="t">
            <a:normAutofit/>
          </a:bodyPr>
          <a:lstStyle/>
          <a:p>
            <a:pPr algn="l" indent="0" marL="0">
              <a:buNone/>
            </a:pPr>
            <a:r>
              <a:rPr lang="en-US" sz="2250" dirty="0">
                <a:solidFill>
                  <a:srgbClr val="C9CDD4"/>
                </a:solidFill>
                <a:latin typeface="Arial" pitchFamily="34" charset="0"/>
                <a:ea typeface="Arial" pitchFamily="34" charset="-122"/>
                <a:cs typeface="Arial" pitchFamily="34" charset="-120"/>
              </a:rPr>
              <a:t>Costo anual efectivo aproximado de cada alternativa a la que recurre hoy un independiente rechazado.</a:t>
            </a:r>
            <a:endParaRPr lang="en-US" sz="2250" dirty="0"/>
          </a:p>
        </p:txBody>
      </p:sp>
      <p:sp>
        <p:nvSpPr>
          <p:cNvPr id="5" name="Text 3"/>
          <p:cNvSpPr/>
          <p:nvPr/>
        </p:nvSpPr>
        <p:spPr>
          <a:xfrm>
            <a:off x="1047750" y="3017490"/>
            <a:ext cx="4400550" cy="381000"/>
          </a:xfrm>
          <a:prstGeom prst="rect">
            <a:avLst/>
          </a:prstGeom>
          <a:noFill/>
          <a:ln/>
        </p:spPr>
        <p:txBody>
          <a:bodyPr wrap="square" lIns="25400" tIns="25400" rIns="25400" bIns="25400" rtlCol="0" anchor="t">
            <a:normAutofit/>
          </a:bodyPr>
          <a:lstStyle/>
          <a:p>
            <a:pPr algn="l" indent="0" marL="0">
              <a:buNone/>
            </a:pPr>
            <a:r>
              <a:rPr lang="en-US" sz="2325" dirty="0">
                <a:solidFill>
                  <a:srgbClr val="F5F3EF"/>
                </a:solidFill>
                <a:latin typeface="Arial" pitchFamily="34" charset="0"/>
                <a:ea typeface="Arial" pitchFamily="34" charset="-122"/>
                <a:cs typeface="Arial" pitchFamily="34" charset="-120"/>
              </a:rPr>
              <a:t>Crédito bancario a asalariado</a:t>
            </a:r>
            <a:endParaRPr lang="en-US" sz="2325" dirty="0"/>
          </a:p>
        </p:txBody>
      </p:sp>
      <p:sp>
        <p:nvSpPr>
          <p:cNvPr id="6" name="Shape 4"/>
          <p:cNvSpPr/>
          <p:nvPr/>
        </p:nvSpPr>
        <p:spPr>
          <a:xfrm>
            <a:off x="5353050" y="2931765"/>
            <a:ext cx="9486900" cy="514350"/>
          </a:xfrm>
          <a:prstGeom prst="rect">
            <a:avLst/>
          </a:prstGeom>
          <a:solidFill>
            <a:srgbClr val="242B36"/>
          </a:solidFill>
          <a:ln/>
        </p:spPr>
      </p:sp>
      <p:sp>
        <p:nvSpPr>
          <p:cNvPr id="7" name="Shape 5"/>
          <p:cNvSpPr/>
          <p:nvPr/>
        </p:nvSpPr>
        <p:spPr>
          <a:xfrm>
            <a:off x="5353050" y="2931765"/>
            <a:ext cx="332036" cy="514350"/>
          </a:xfrm>
          <a:prstGeom prst="rect">
            <a:avLst/>
          </a:prstGeom>
          <a:solidFill>
            <a:srgbClr val="7FA3CA"/>
          </a:solidFill>
          <a:ln/>
        </p:spPr>
      </p:sp>
      <p:sp>
        <p:nvSpPr>
          <p:cNvPr id="8" name="Text 6"/>
          <p:cNvSpPr/>
          <p:nvPr/>
        </p:nvSpPr>
        <p:spPr>
          <a:xfrm>
            <a:off x="14935200" y="3003203"/>
            <a:ext cx="2305050" cy="409575"/>
          </a:xfrm>
          <a:prstGeom prst="rect">
            <a:avLst/>
          </a:prstGeom>
          <a:noFill/>
          <a:ln/>
        </p:spPr>
        <p:txBody>
          <a:bodyPr wrap="square" lIns="25400" tIns="25400" rIns="25400" bIns="25400" rtlCol="0" anchor="t">
            <a:normAutofit/>
          </a:bodyPr>
          <a:lstStyle/>
          <a:p>
            <a:pPr algn="r" indent="0" marL="0">
              <a:buNone/>
            </a:pPr>
            <a:r>
              <a:rPr lang="en-US" sz="2550" b="1" dirty="0">
                <a:solidFill>
                  <a:srgbClr val="F5F3EF"/>
                </a:solidFill>
                <a:latin typeface="Arial" pitchFamily="34" charset="0"/>
                <a:ea typeface="Arial" pitchFamily="34" charset="-122"/>
                <a:cs typeface="Arial" pitchFamily="34" charset="-120"/>
              </a:rPr>
              <a:t>≈ 28% E.A.</a:t>
            </a:r>
            <a:endParaRPr lang="en-US" sz="2550" dirty="0"/>
          </a:p>
        </p:txBody>
      </p:sp>
      <p:sp>
        <p:nvSpPr>
          <p:cNvPr id="9" name="Text 7"/>
          <p:cNvSpPr/>
          <p:nvPr/>
        </p:nvSpPr>
        <p:spPr>
          <a:xfrm>
            <a:off x="1047750" y="3855690"/>
            <a:ext cx="4400550" cy="381000"/>
          </a:xfrm>
          <a:prstGeom prst="rect">
            <a:avLst/>
          </a:prstGeom>
          <a:noFill/>
          <a:ln/>
        </p:spPr>
        <p:txBody>
          <a:bodyPr wrap="square" lIns="25400" tIns="25400" rIns="25400" bIns="25400" rtlCol="0" anchor="t">
            <a:normAutofit/>
          </a:bodyPr>
          <a:lstStyle/>
          <a:p>
            <a:pPr algn="l" indent="0" marL="0">
              <a:buNone/>
            </a:pPr>
            <a:r>
              <a:rPr lang="en-US" sz="2325" dirty="0">
                <a:solidFill>
                  <a:srgbClr val="F5F3EF"/>
                </a:solidFill>
                <a:latin typeface="Arial" pitchFamily="34" charset="0"/>
                <a:ea typeface="Arial" pitchFamily="34" charset="-122"/>
                <a:cs typeface="Arial" pitchFamily="34" charset="-120"/>
              </a:rPr>
              <a:t>Tarjeta de cupo marginal</a:t>
            </a:r>
            <a:endParaRPr lang="en-US" sz="2325" dirty="0"/>
          </a:p>
        </p:txBody>
      </p:sp>
      <p:sp>
        <p:nvSpPr>
          <p:cNvPr id="10" name="Shape 8"/>
          <p:cNvSpPr/>
          <p:nvPr/>
        </p:nvSpPr>
        <p:spPr>
          <a:xfrm>
            <a:off x="5353050" y="3769965"/>
            <a:ext cx="9486900" cy="514350"/>
          </a:xfrm>
          <a:prstGeom prst="rect">
            <a:avLst/>
          </a:prstGeom>
          <a:solidFill>
            <a:srgbClr val="242B36"/>
          </a:solidFill>
          <a:ln/>
        </p:spPr>
      </p:sp>
      <p:sp>
        <p:nvSpPr>
          <p:cNvPr id="11" name="Shape 9"/>
          <p:cNvSpPr/>
          <p:nvPr/>
        </p:nvSpPr>
        <p:spPr>
          <a:xfrm>
            <a:off x="5353050" y="3769965"/>
            <a:ext cx="474315" cy="514350"/>
          </a:xfrm>
          <a:prstGeom prst="rect">
            <a:avLst/>
          </a:prstGeom>
          <a:solidFill>
            <a:srgbClr val="7FA3CA"/>
          </a:solidFill>
          <a:ln/>
        </p:spPr>
      </p:sp>
      <p:sp>
        <p:nvSpPr>
          <p:cNvPr id="12" name="Text 10"/>
          <p:cNvSpPr/>
          <p:nvPr/>
        </p:nvSpPr>
        <p:spPr>
          <a:xfrm>
            <a:off x="14935200" y="3841403"/>
            <a:ext cx="2305050" cy="409575"/>
          </a:xfrm>
          <a:prstGeom prst="rect">
            <a:avLst/>
          </a:prstGeom>
          <a:noFill/>
          <a:ln/>
        </p:spPr>
        <p:txBody>
          <a:bodyPr wrap="square" lIns="25400" tIns="25400" rIns="25400" bIns="25400" rtlCol="0" anchor="t">
            <a:normAutofit/>
          </a:bodyPr>
          <a:lstStyle/>
          <a:p>
            <a:pPr algn="r" indent="0" marL="0">
              <a:buNone/>
            </a:pPr>
            <a:r>
              <a:rPr lang="en-US" sz="2550" b="1" dirty="0">
                <a:solidFill>
                  <a:srgbClr val="F5F3EF"/>
                </a:solidFill>
                <a:latin typeface="Arial" pitchFamily="34" charset="0"/>
                <a:ea typeface="Arial" pitchFamily="34" charset="-122"/>
                <a:cs typeface="Arial" pitchFamily="34" charset="-120"/>
              </a:rPr>
              <a:t>Tasa de usura</a:t>
            </a:r>
            <a:endParaRPr lang="en-US" sz="2550" dirty="0"/>
          </a:p>
        </p:txBody>
      </p:sp>
      <p:sp>
        <p:nvSpPr>
          <p:cNvPr id="13" name="Text 11"/>
          <p:cNvSpPr/>
          <p:nvPr/>
        </p:nvSpPr>
        <p:spPr>
          <a:xfrm>
            <a:off x="1047750" y="4808190"/>
            <a:ext cx="4400550" cy="381000"/>
          </a:xfrm>
          <a:prstGeom prst="rect">
            <a:avLst/>
          </a:prstGeom>
          <a:noFill/>
          <a:ln/>
        </p:spPr>
        <p:txBody>
          <a:bodyPr wrap="square" lIns="25400" tIns="25400" rIns="25400" bIns="25400" rtlCol="0" anchor="t">
            <a:normAutofit/>
          </a:bodyPr>
          <a:lstStyle/>
          <a:p>
            <a:pPr algn="l" indent="0" marL="0">
              <a:buNone/>
            </a:pPr>
            <a:r>
              <a:rPr lang="en-US" sz="2325" dirty="0">
                <a:solidFill>
                  <a:srgbClr val="F5F3EF"/>
                </a:solidFill>
                <a:latin typeface="Arial" pitchFamily="34" charset="0"/>
                <a:ea typeface="Arial" pitchFamily="34" charset="-122"/>
                <a:cs typeface="Arial" pitchFamily="34" charset="-120"/>
              </a:rPr>
              <a:t>Financiación con proveedores</a:t>
            </a:r>
            <a:endParaRPr lang="en-US" sz="2325" dirty="0"/>
          </a:p>
        </p:txBody>
      </p:sp>
      <p:sp>
        <p:nvSpPr>
          <p:cNvPr id="14" name="Shape 12"/>
          <p:cNvSpPr/>
          <p:nvPr/>
        </p:nvSpPr>
        <p:spPr>
          <a:xfrm>
            <a:off x="5353050" y="4722465"/>
            <a:ext cx="9486900" cy="514350"/>
          </a:xfrm>
          <a:prstGeom prst="rect">
            <a:avLst/>
          </a:prstGeom>
          <a:solidFill>
            <a:srgbClr val="242B36"/>
          </a:solidFill>
          <a:ln/>
        </p:spPr>
      </p:sp>
      <p:sp>
        <p:nvSpPr>
          <p:cNvPr id="15" name="Shape 13"/>
          <p:cNvSpPr/>
          <p:nvPr/>
        </p:nvSpPr>
        <p:spPr>
          <a:xfrm>
            <a:off x="5353050" y="4722465"/>
            <a:ext cx="2371725" cy="514350"/>
          </a:xfrm>
          <a:prstGeom prst="rect">
            <a:avLst/>
          </a:prstGeom>
          <a:solidFill>
            <a:srgbClr val="E2A684"/>
          </a:solidFill>
          <a:ln/>
        </p:spPr>
      </p:sp>
      <p:sp>
        <p:nvSpPr>
          <p:cNvPr id="16" name="Text 14"/>
          <p:cNvSpPr/>
          <p:nvPr/>
        </p:nvSpPr>
        <p:spPr>
          <a:xfrm>
            <a:off x="15068550" y="4608165"/>
            <a:ext cx="2171700" cy="781050"/>
          </a:xfrm>
          <a:prstGeom prst="rect">
            <a:avLst/>
          </a:prstGeom>
          <a:noFill/>
          <a:ln/>
        </p:spPr>
        <p:txBody>
          <a:bodyPr wrap="square" lIns="25400" tIns="25400" rIns="25400" bIns="25400" rtlCol="0" anchor="t">
            <a:normAutofit/>
          </a:bodyPr>
          <a:lstStyle/>
          <a:p>
            <a:pPr algn="r" indent="0" marL="0">
              <a:buNone/>
            </a:pPr>
            <a:r>
              <a:rPr lang="en-US" sz="2550" b="1" dirty="0">
                <a:solidFill>
                  <a:srgbClr val="F5F3EF"/>
                </a:solidFill>
                <a:latin typeface="Arial" pitchFamily="34" charset="0"/>
                <a:ea typeface="Arial" pitchFamily="34" charset="-122"/>
                <a:cs typeface="Arial" pitchFamily="34" charset="-120"/>
              </a:rPr>
              <a:t>5-12% mensual</a:t>
            </a:r>
            <a:endParaRPr lang="en-US" sz="2550" dirty="0"/>
          </a:p>
        </p:txBody>
      </p:sp>
      <p:sp>
        <p:nvSpPr>
          <p:cNvPr id="17" name="Text 15"/>
          <p:cNvSpPr/>
          <p:nvPr/>
        </p:nvSpPr>
        <p:spPr>
          <a:xfrm>
            <a:off x="1047750" y="5874990"/>
            <a:ext cx="4400550" cy="381000"/>
          </a:xfrm>
          <a:prstGeom prst="rect">
            <a:avLst/>
          </a:prstGeom>
          <a:noFill/>
          <a:ln/>
        </p:spPr>
        <p:txBody>
          <a:bodyPr wrap="square" lIns="25400" tIns="25400" rIns="25400" bIns="25400" rtlCol="0" anchor="t">
            <a:normAutofit/>
          </a:bodyPr>
          <a:lstStyle/>
          <a:p>
            <a:pPr algn="l" indent="0" marL="0">
              <a:buNone/>
            </a:pPr>
            <a:r>
              <a:rPr lang="en-US" sz="2325" dirty="0">
                <a:solidFill>
                  <a:srgbClr val="F5F3EF"/>
                </a:solidFill>
                <a:latin typeface="Arial" pitchFamily="34" charset="0"/>
                <a:ea typeface="Arial" pitchFamily="34" charset="-122"/>
                <a:cs typeface="Arial" pitchFamily="34" charset="-120"/>
              </a:rPr>
              <a:t>Gota a gota</a:t>
            </a:r>
            <a:endParaRPr lang="en-US" sz="2325" dirty="0"/>
          </a:p>
        </p:txBody>
      </p:sp>
      <p:sp>
        <p:nvSpPr>
          <p:cNvPr id="18" name="Shape 16"/>
          <p:cNvSpPr/>
          <p:nvPr/>
        </p:nvSpPr>
        <p:spPr>
          <a:xfrm>
            <a:off x="5353050" y="5789265"/>
            <a:ext cx="9486900" cy="514350"/>
          </a:xfrm>
          <a:prstGeom prst="rect">
            <a:avLst/>
          </a:prstGeom>
          <a:solidFill>
            <a:srgbClr val="242B36"/>
          </a:solidFill>
          <a:ln/>
        </p:spPr>
      </p:sp>
      <p:sp>
        <p:nvSpPr>
          <p:cNvPr id="19" name="Shape 17"/>
          <p:cNvSpPr/>
          <p:nvPr/>
        </p:nvSpPr>
        <p:spPr>
          <a:xfrm>
            <a:off x="5353050" y="5789265"/>
            <a:ext cx="9486900" cy="514350"/>
          </a:xfrm>
          <a:prstGeom prst="rect">
            <a:avLst/>
          </a:prstGeom>
          <a:solidFill>
            <a:srgbClr val="D0512D"/>
          </a:solidFill>
          <a:ln/>
        </p:spPr>
      </p:sp>
      <p:sp>
        <p:nvSpPr>
          <p:cNvPr id="20" name="Text 18"/>
          <p:cNvSpPr/>
          <p:nvPr/>
        </p:nvSpPr>
        <p:spPr>
          <a:xfrm>
            <a:off x="15068550" y="5674965"/>
            <a:ext cx="2171700" cy="781050"/>
          </a:xfrm>
          <a:prstGeom prst="rect">
            <a:avLst/>
          </a:prstGeom>
          <a:noFill/>
          <a:ln/>
        </p:spPr>
        <p:txBody>
          <a:bodyPr wrap="square" lIns="25400" tIns="25400" rIns="25400" bIns="25400" rtlCol="0" anchor="t">
            <a:normAutofit/>
          </a:bodyPr>
          <a:lstStyle/>
          <a:p>
            <a:pPr algn="r" indent="0" marL="0">
              <a:buNone/>
            </a:pPr>
            <a:r>
              <a:rPr lang="en-US" sz="2550" b="1" dirty="0">
                <a:solidFill>
                  <a:srgbClr val="E2A684"/>
                </a:solidFill>
                <a:latin typeface="Arial" pitchFamily="34" charset="0"/>
                <a:ea typeface="Arial" pitchFamily="34" charset="-122"/>
                <a:cs typeface="Arial" pitchFamily="34" charset="-120"/>
              </a:rPr>
              <a:t>200-800% E.A.</a:t>
            </a:r>
            <a:endParaRPr lang="en-US" sz="2550" dirty="0"/>
          </a:p>
        </p:txBody>
      </p:sp>
      <p:sp>
        <p:nvSpPr>
          <p:cNvPr id="21" name="Text 19"/>
          <p:cNvSpPr/>
          <p:nvPr/>
        </p:nvSpPr>
        <p:spPr>
          <a:xfrm>
            <a:off x="1047750" y="6837015"/>
            <a:ext cx="14716125"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C9CDD4"/>
                </a:solidFill>
                <a:latin typeface="Arial" pitchFamily="34" charset="0"/>
                <a:ea typeface="Arial" pitchFamily="34" charset="-122"/>
                <a:cs typeface="Arial" pitchFamily="34" charset="-120"/>
              </a:rPr>
              <a:t>Las cadenas y natilleras completan el cuadro: cuestan menos, pero no generan historial, no garantizan liquidez en emergencias y exponen el capital al incumplimiento de un tercero.</a:t>
            </a:r>
            <a:endParaRPr lang="en-US" sz="21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B5623C"/>
                </a:solidFill>
                <a:latin typeface="Courier New" pitchFamily="34" charset="0"/>
                <a:ea typeface="Courier New" pitchFamily="34" charset="-122"/>
                <a:cs typeface="Courier New" pitchFamily="34" charset="-120"/>
              </a:rPr>
              <a:t>CONSECUENCIAS DE LA INACCIÓN</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17191D"/>
                </a:solidFill>
                <a:latin typeface="Arial" pitchFamily="34" charset="0"/>
                <a:ea typeface="Arial" pitchFamily="34" charset="-122"/>
                <a:cs typeface="Arial" pitchFamily="34" charset="-120"/>
              </a:rPr>
              <a:t>Qué pasa si nadie lo resuelve</a:t>
            </a:r>
            <a:endParaRPr lang="en-US" sz="4500" dirty="0"/>
          </a:p>
        </p:txBody>
      </p:sp>
      <p:sp>
        <p:nvSpPr>
          <p:cNvPr id="4" name="Text 2"/>
          <p:cNvSpPr/>
          <p:nvPr/>
        </p:nvSpPr>
        <p:spPr>
          <a:xfrm>
            <a:off x="1047750" y="2369790"/>
            <a:ext cx="1990725"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D7278"/>
                </a:solidFill>
                <a:latin typeface="Courier New" pitchFamily="34" charset="0"/>
                <a:ea typeface="Courier New" pitchFamily="34" charset="-122"/>
                <a:cs typeface="Courier New" pitchFamily="34" charset="-120"/>
              </a:rPr>
              <a:t>NIVEL</a:t>
            </a:r>
            <a:endParaRPr lang="en-US" sz="1800" dirty="0"/>
          </a:p>
        </p:txBody>
      </p:sp>
      <p:sp>
        <p:nvSpPr>
          <p:cNvPr id="5" name="Text 3"/>
          <p:cNvSpPr/>
          <p:nvPr/>
        </p:nvSpPr>
        <p:spPr>
          <a:xfrm>
            <a:off x="3352800" y="2369790"/>
            <a:ext cx="6404863"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D7278"/>
                </a:solidFill>
                <a:latin typeface="Courier New" pitchFamily="34" charset="0"/>
                <a:ea typeface="Courier New" pitchFamily="34" charset="-122"/>
                <a:cs typeface="Courier New" pitchFamily="34" charset="-120"/>
              </a:rPr>
              <a:t>SITUACIÓN ACTUAL</a:t>
            </a:r>
            <a:endParaRPr lang="en-US" sz="1800" dirty="0"/>
          </a:p>
        </p:txBody>
      </p:sp>
      <p:sp>
        <p:nvSpPr>
          <p:cNvPr id="6" name="Text 4"/>
          <p:cNvSpPr/>
          <p:nvPr/>
        </p:nvSpPr>
        <p:spPr>
          <a:xfrm>
            <a:off x="9670703" y="2369790"/>
            <a:ext cx="8326502"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D7278"/>
                </a:solidFill>
                <a:latin typeface="Courier New" pitchFamily="34" charset="0"/>
                <a:ea typeface="Courier New" pitchFamily="34" charset="-122"/>
                <a:cs typeface="Courier New" pitchFamily="34" charset="-120"/>
              </a:rPr>
              <a:t>CONSECUENCIA</a:t>
            </a:r>
            <a:endParaRPr lang="en-US" sz="1800" dirty="0"/>
          </a:p>
        </p:txBody>
      </p:sp>
      <p:sp>
        <p:nvSpPr>
          <p:cNvPr id="7" name="Shape 5"/>
          <p:cNvSpPr/>
          <p:nvPr/>
        </p:nvSpPr>
        <p:spPr>
          <a:xfrm>
            <a:off x="1047750" y="2998440"/>
            <a:ext cx="1809750" cy="19050"/>
          </a:xfrm>
          <a:prstGeom prst="rect">
            <a:avLst/>
          </a:prstGeom>
          <a:solidFill>
            <a:srgbClr val="17191D"/>
          </a:solidFill>
          <a:ln/>
        </p:spPr>
      </p:sp>
      <p:sp>
        <p:nvSpPr>
          <p:cNvPr id="8" name="Text 6"/>
          <p:cNvSpPr/>
          <p:nvPr/>
        </p:nvSpPr>
        <p:spPr>
          <a:xfrm>
            <a:off x="1047750" y="3246090"/>
            <a:ext cx="18859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7191D"/>
                </a:solidFill>
                <a:latin typeface="Arial" pitchFamily="34" charset="0"/>
                <a:ea typeface="Arial" pitchFamily="34" charset="-122"/>
                <a:cs typeface="Arial" pitchFamily="34" charset="-120"/>
              </a:rPr>
              <a:t>País</a:t>
            </a:r>
            <a:endParaRPr lang="en-US" sz="2550" dirty="0"/>
          </a:p>
        </p:txBody>
      </p:sp>
      <p:sp>
        <p:nvSpPr>
          <p:cNvPr id="9" name="Shape 7"/>
          <p:cNvSpPr/>
          <p:nvPr/>
        </p:nvSpPr>
        <p:spPr>
          <a:xfrm>
            <a:off x="3352800" y="2998440"/>
            <a:ext cx="5822603" cy="19050"/>
          </a:xfrm>
          <a:prstGeom prst="rect">
            <a:avLst/>
          </a:prstGeom>
          <a:solidFill>
            <a:srgbClr val="17191D"/>
          </a:solidFill>
          <a:ln/>
        </p:spPr>
      </p:sp>
      <p:sp>
        <p:nvSpPr>
          <p:cNvPr id="10" name="Text 8"/>
          <p:cNvSpPr/>
          <p:nvPr/>
        </p:nvSpPr>
        <p:spPr>
          <a:xfrm>
            <a:off x="3352800" y="3246090"/>
            <a:ext cx="5997281"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42464D"/>
                </a:solidFill>
                <a:latin typeface="Arial" pitchFamily="34" charset="0"/>
                <a:ea typeface="Arial" pitchFamily="34" charset="-122"/>
                <a:cs typeface="Arial" pitchFamily="34" charset="-120"/>
              </a:rPr>
              <a:t>13 millones de independientes sostienen el consumo interno y la reactivación regional.</a:t>
            </a:r>
            <a:endParaRPr lang="en-US" sz="2175" dirty="0"/>
          </a:p>
        </p:txBody>
      </p:sp>
      <p:sp>
        <p:nvSpPr>
          <p:cNvPr id="11" name="Shape 9"/>
          <p:cNvSpPr/>
          <p:nvPr/>
        </p:nvSpPr>
        <p:spPr>
          <a:xfrm>
            <a:off x="9670703" y="2998440"/>
            <a:ext cx="7569547" cy="19050"/>
          </a:xfrm>
          <a:prstGeom prst="rect">
            <a:avLst/>
          </a:prstGeom>
          <a:solidFill>
            <a:srgbClr val="17191D"/>
          </a:solidFill>
          <a:ln/>
        </p:spPr>
      </p:sp>
      <p:sp>
        <p:nvSpPr>
          <p:cNvPr id="12" name="Text 10"/>
          <p:cNvSpPr/>
          <p:nvPr/>
        </p:nvSpPr>
        <p:spPr>
          <a:xfrm>
            <a:off x="9670703" y="3246090"/>
            <a:ext cx="7796634" cy="1207591"/>
          </a:xfrm>
          <a:prstGeom prst="rect">
            <a:avLst/>
          </a:prstGeom>
          <a:noFill/>
          <a:ln/>
        </p:spPr>
        <p:txBody>
          <a:bodyPr wrap="square" lIns="25400" tIns="25400" rIns="25400" bIns="25400" rtlCol="0" anchor="t">
            <a:normAutofit/>
          </a:bodyPr>
          <a:lstStyle/>
          <a:p>
            <a:pPr algn="l" indent="0" marL="0">
              <a:lnSpc>
                <a:spcPct val="123030"/>
              </a:lnSpc>
              <a:buNone/>
            </a:pPr>
            <a:r>
              <a:rPr lang="en-US" sz="2175" b="1" dirty="0">
                <a:solidFill>
                  <a:srgbClr val="17191D"/>
                </a:solidFill>
                <a:latin typeface="Arial" pitchFamily="34" charset="0"/>
                <a:ea typeface="Arial" pitchFamily="34" charset="-122"/>
                <a:cs typeface="Arial" pitchFamily="34" charset="-120"/>
              </a:rPr>
              <a:t>Expansión del gota a gota: </a:t>
            </a:r>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millones de micronegocios financiándose a más del 500% E.A., alimentando economías ilegales y violencia.</a:t>
            </a:r>
            <a:endParaRPr lang="en-US" sz="2175" dirty="0"/>
          </a:p>
        </p:txBody>
      </p:sp>
      <p:sp>
        <p:nvSpPr>
          <p:cNvPr id="13" name="Shape 11"/>
          <p:cNvSpPr/>
          <p:nvPr/>
        </p:nvSpPr>
        <p:spPr>
          <a:xfrm>
            <a:off x="1047750" y="4739432"/>
            <a:ext cx="1809750" cy="19050"/>
          </a:xfrm>
          <a:prstGeom prst="rect">
            <a:avLst/>
          </a:prstGeom>
          <a:solidFill>
            <a:srgbClr val="D7D3CB"/>
          </a:solidFill>
          <a:ln/>
        </p:spPr>
      </p:sp>
      <p:sp>
        <p:nvSpPr>
          <p:cNvPr id="14" name="Text 12"/>
          <p:cNvSpPr/>
          <p:nvPr/>
        </p:nvSpPr>
        <p:spPr>
          <a:xfrm>
            <a:off x="1047750" y="4987082"/>
            <a:ext cx="1885950" cy="781050"/>
          </a:xfrm>
          <a:prstGeom prst="rect">
            <a:avLst/>
          </a:prstGeom>
          <a:noFill/>
          <a:ln/>
        </p:spPr>
        <p:txBody>
          <a:bodyPr wrap="square" lIns="25400" tIns="25400" rIns="25400" bIns="25400" rtlCol="0" anchor="t">
            <a:normAutofit/>
          </a:bodyPr>
          <a:lstStyle/>
          <a:p>
            <a:pPr algn="l" indent="0" marL="0">
              <a:buNone/>
            </a:pPr>
            <a:r>
              <a:rPr lang="en-US" sz="2550" b="1" dirty="0">
                <a:solidFill>
                  <a:srgbClr val="17191D"/>
                </a:solidFill>
                <a:latin typeface="Arial" pitchFamily="34" charset="0"/>
                <a:ea typeface="Arial" pitchFamily="34" charset="-122"/>
                <a:cs typeface="Arial" pitchFamily="34" charset="-120"/>
              </a:rPr>
              <a:t>Banca y fintechs</a:t>
            </a:r>
            <a:endParaRPr lang="en-US" sz="2550" dirty="0"/>
          </a:p>
        </p:txBody>
      </p:sp>
      <p:sp>
        <p:nvSpPr>
          <p:cNvPr id="15" name="Shape 13"/>
          <p:cNvSpPr/>
          <p:nvPr/>
        </p:nvSpPr>
        <p:spPr>
          <a:xfrm>
            <a:off x="3352800" y="4739432"/>
            <a:ext cx="5822603" cy="19050"/>
          </a:xfrm>
          <a:prstGeom prst="rect">
            <a:avLst/>
          </a:prstGeom>
          <a:solidFill>
            <a:srgbClr val="D7D3CB"/>
          </a:solidFill>
          <a:ln/>
        </p:spPr>
      </p:sp>
      <p:sp>
        <p:nvSpPr>
          <p:cNvPr id="16" name="Text 14"/>
          <p:cNvSpPr/>
          <p:nvPr/>
        </p:nvSpPr>
        <p:spPr>
          <a:xfrm>
            <a:off x="3352800" y="4987082"/>
            <a:ext cx="5997281"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42464D"/>
                </a:solidFill>
                <a:latin typeface="Arial" pitchFamily="34" charset="0"/>
                <a:ea typeface="Arial" pitchFamily="34" charset="-122"/>
                <a:cs typeface="Arial" pitchFamily="34" charset="-120"/>
              </a:rPr>
              <a:t>La industria satura los mismos 6 millones de asalariados bancarizados.</a:t>
            </a:r>
            <a:endParaRPr lang="en-US" sz="2175" dirty="0"/>
          </a:p>
        </p:txBody>
      </p:sp>
      <p:sp>
        <p:nvSpPr>
          <p:cNvPr id="17" name="Shape 15"/>
          <p:cNvSpPr/>
          <p:nvPr/>
        </p:nvSpPr>
        <p:spPr>
          <a:xfrm>
            <a:off x="9670703" y="4739432"/>
            <a:ext cx="7569547" cy="19050"/>
          </a:xfrm>
          <a:prstGeom prst="rect">
            <a:avLst/>
          </a:prstGeom>
          <a:solidFill>
            <a:srgbClr val="D7D3CB"/>
          </a:solidFill>
          <a:ln/>
        </p:spPr>
      </p:sp>
      <p:sp>
        <p:nvSpPr>
          <p:cNvPr id="18" name="Text 16"/>
          <p:cNvSpPr/>
          <p:nvPr/>
        </p:nvSpPr>
        <p:spPr>
          <a:xfrm>
            <a:off x="9670703" y="4987082"/>
            <a:ext cx="7796634" cy="820936"/>
          </a:xfrm>
          <a:prstGeom prst="rect">
            <a:avLst/>
          </a:prstGeom>
          <a:noFill/>
          <a:ln/>
        </p:spPr>
        <p:txBody>
          <a:bodyPr wrap="square" lIns="25400" tIns="25400" rIns="25400" bIns="25400" rtlCol="0" anchor="t">
            <a:normAutofit/>
          </a:bodyPr>
          <a:lstStyle/>
          <a:p>
            <a:pPr algn="l" indent="0" marL="0">
              <a:lnSpc>
                <a:spcPct val="123030"/>
              </a:lnSpc>
              <a:buNone/>
            </a:pPr>
            <a:r>
              <a:rPr lang="en-US" sz="2175" b="1" dirty="0">
                <a:solidFill>
                  <a:srgbClr val="17191D"/>
                </a:solidFill>
                <a:latin typeface="Arial" pitchFamily="34" charset="0"/>
                <a:ea typeface="Arial" pitchFamily="34" charset="-122"/>
                <a:cs typeface="Arial" pitchFamily="34" charset="-120"/>
              </a:rPr>
              <a:t>Estancamiento y canibalización: </a:t>
            </a:r>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guerra de precios por el mismo cliente o pérdidas millonarias por prestar a ciegas.</a:t>
            </a:r>
            <a:endParaRPr lang="en-US" sz="2175" dirty="0"/>
          </a:p>
        </p:txBody>
      </p:sp>
      <p:sp>
        <p:nvSpPr>
          <p:cNvPr id="19" name="Shape 17"/>
          <p:cNvSpPr/>
          <p:nvPr/>
        </p:nvSpPr>
        <p:spPr>
          <a:xfrm>
            <a:off x="1047750" y="6093768"/>
            <a:ext cx="1809750" cy="19050"/>
          </a:xfrm>
          <a:prstGeom prst="rect">
            <a:avLst/>
          </a:prstGeom>
          <a:solidFill>
            <a:srgbClr val="D7D3CB"/>
          </a:solidFill>
          <a:ln/>
        </p:spPr>
      </p:sp>
      <p:sp>
        <p:nvSpPr>
          <p:cNvPr id="20" name="Text 18"/>
          <p:cNvSpPr/>
          <p:nvPr/>
        </p:nvSpPr>
        <p:spPr>
          <a:xfrm>
            <a:off x="1047750" y="6341418"/>
            <a:ext cx="1885950" cy="409575"/>
          </a:xfrm>
          <a:prstGeom prst="rect">
            <a:avLst/>
          </a:prstGeom>
          <a:noFill/>
          <a:ln/>
        </p:spPr>
        <p:txBody>
          <a:bodyPr wrap="square" lIns="25400" tIns="25400" rIns="25400" bIns="25400" rtlCol="0" anchor="t">
            <a:normAutofit/>
          </a:bodyPr>
          <a:lstStyle/>
          <a:p>
            <a:pPr algn="l" indent="0" marL="0">
              <a:buNone/>
            </a:pPr>
            <a:r>
              <a:rPr lang="en-US" sz="2550" b="1" dirty="0">
                <a:solidFill>
                  <a:srgbClr val="17191D"/>
                </a:solidFill>
                <a:latin typeface="Arial" pitchFamily="34" charset="0"/>
                <a:ea typeface="Arial" pitchFamily="34" charset="-122"/>
                <a:cs typeface="Arial" pitchFamily="34" charset="-120"/>
              </a:rPr>
              <a:t>Micronegocio</a:t>
            </a:r>
            <a:endParaRPr lang="en-US" sz="2550" dirty="0"/>
          </a:p>
        </p:txBody>
      </p:sp>
      <p:sp>
        <p:nvSpPr>
          <p:cNvPr id="21" name="Shape 19"/>
          <p:cNvSpPr/>
          <p:nvPr/>
        </p:nvSpPr>
        <p:spPr>
          <a:xfrm>
            <a:off x="3352800" y="6093768"/>
            <a:ext cx="5822603" cy="19050"/>
          </a:xfrm>
          <a:prstGeom prst="rect">
            <a:avLst/>
          </a:prstGeom>
          <a:solidFill>
            <a:srgbClr val="D7D3CB"/>
          </a:solidFill>
          <a:ln/>
        </p:spPr>
      </p:sp>
      <p:sp>
        <p:nvSpPr>
          <p:cNvPr id="22" name="Text 20"/>
          <p:cNvSpPr/>
          <p:nvPr/>
        </p:nvSpPr>
        <p:spPr>
          <a:xfrm>
            <a:off x="3352800" y="6341418"/>
            <a:ext cx="5997281"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42464D"/>
                </a:solidFill>
                <a:latin typeface="Arial" pitchFamily="34" charset="0"/>
                <a:ea typeface="Arial" pitchFamily="34" charset="-122"/>
                <a:cs typeface="Arial" pitchFamily="34" charset="-120"/>
              </a:rPr>
              <a:t>El 92% de las unidades productivas depende de su propio capital de trabajo.</a:t>
            </a:r>
            <a:endParaRPr lang="en-US" sz="2175" dirty="0"/>
          </a:p>
        </p:txBody>
      </p:sp>
      <p:sp>
        <p:nvSpPr>
          <p:cNvPr id="23" name="Shape 21"/>
          <p:cNvSpPr/>
          <p:nvPr/>
        </p:nvSpPr>
        <p:spPr>
          <a:xfrm>
            <a:off x="9670703" y="6093768"/>
            <a:ext cx="7569547" cy="19050"/>
          </a:xfrm>
          <a:prstGeom prst="rect">
            <a:avLst/>
          </a:prstGeom>
          <a:solidFill>
            <a:srgbClr val="D7D3CB"/>
          </a:solidFill>
          <a:ln/>
        </p:spPr>
      </p:sp>
      <p:sp>
        <p:nvSpPr>
          <p:cNvPr id="24" name="Text 22"/>
          <p:cNvSpPr/>
          <p:nvPr/>
        </p:nvSpPr>
        <p:spPr>
          <a:xfrm>
            <a:off x="9670703" y="6341418"/>
            <a:ext cx="7796634" cy="1207591"/>
          </a:xfrm>
          <a:prstGeom prst="rect">
            <a:avLst/>
          </a:prstGeom>
          <a:noFill/>
          <a:ln/>
        </p:spPr>
        <p:txBody>
          <a:bodyPr wrap="square" lIns="25400" tIns="25400" rIns="25400" bIns="25400" rtlCol="0" anchor="t">
            <a:normAutofit/>
          </a:bodyPr>
          <a:lstStyle/>
          <a:p>
            <a:pPr algn="l" indent="0" marL="0">
              <a:lnSpc>
                <a:spcPct val="123030"/>
              </a:lnSpc>
              <a:buNone/>
            </a:pPr>
            <a:r>
              <a:rPr lang="en-US" sz="2175" b="1" dirty="0">
                <a:solidFill>
                  <a:srgbClr val="17191D"/>
                </a:solidFill>
                <a:latin typeface="Arial" pitchFamily="34" charset="0"/>
                <a:ea typeface="Arial" pitchFamily="34" charset="-122"/>
                <a:cs typeface="Arial" pitchFamily="34" charset="-120"/>
              </a:rPr>
              <a:t>Muerte prematura: </a:t>
            </a:r>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sin reposición de inventario ni activos productivos, se perpetúan trampas de pobreza intergeneracional.</a:t>
            </a:r>
            <a:endParaRPr lang="en-US" sz="21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820400" y="6785670"/>
            <a:ext cx="6705600" cy="3158430"/>
          </a:xfrm>
          <a:prstGeom prst="rect">
            <a:avLst/>
          </a:prstGeom>
          <a:noFill/>
          <a:ln/>
        </p:spPr>
        <p:txBody>
          <a:bodyPr wrap="square" lIns="25400" tIns="25400" rIns="25400" bIns="25400" rtlCol="0" anchor="t">
            <a:normAutofit/>
          </a:bodyPr>
          <a:lstStyle/>
          <a:p>
            <a:pPr algn="r" indent="0" marL="0">
              <a:lnSpc>
                <a:spcPct val="67826"/>
              </a:lnSpc>
              <a:buNone/>
            </a:pPr>
            <a:r>
              <a:rPr lang="en-US" sz="31500" b="1" spc="-1260" kern="0" dirty="0">
                <a:solidFill>
                  <a:srgbClr val="1D2530"/>
                </a:solidFill>
                <a:latin typeface="Arial" pitchFamily="34" charset="0"/>
                <a:ea typeface="Arial" pitchFamily="34" charset="-122"/>
                <a:cs typeface="Arial" pitchFamily="34" charset="-120"/>
              </a:rPr>
              <a:t>02</a:t>
            </a:r>
            <a:endParaRPr lang="en-US" sz="31500" dirty="0"/>
          </a:p>
        </p:txBody>
      </p:sp>
      <p:sp>
        <p:nvSpPr>
          <p:cNvPr id="3" name="Shape 1"/>
          <p:cNvSpPr/>
          <p:nvPr/>
        </p:nvSpPr>
        <p:spPr>
          <a:xfrm>
            <a:off x="0" y="0"/>
            <a:ext cx="171450" cy="10287000"/>
          </a:xfrm>
          <a:prstGeom prst="rect">
            <a:avLst/>
          </a:prstGeom>
          <a:solidFill>
            <a:srgbClr val="B5623C"/>
          </a:solidFill>
          <a:ln/>
        </p:spPr>
      </p:sp>
      <p:sp>
        <p:nvSpPr>
          <p:cNvPr id="4" name="Text 2"/>
          <p:cNvSpPr/>
          <p:nvPr/>
        </p:nvSpPr>
        <p:spPr>
          <a:xfrm>
            <a:off x="1047750" y="4025205"/>
            <a:ext cx="178117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E2A684"/>
                </a:solidFill>
                <a:latin typeface="Courier New" pitchFamily="34" charset="0"/>
                <a:ea typeface="Courier New" pitchFamily="34" charset="-122"/>
                <a:cs typeface="Courier New" pitchFamily="34" charset="-120"/>
              </a:rPr>
              <a:t>ACTO 2</a:t>
            </a:r>
            <a:endParaRPr lang="en-US" sz="1950" dirty="0"/>
          </a:p>
        </p:txBody>
      </p:sp>
      <p:sp>
        <p:nvSpPr>
          <p:cNvPr id="5" name="Text 3"/>
          <p:cNvSpPr/>
          <p:nvPr/>
        </p:nvSpPr>
        <p:spPr>
          <a:xfrm>
            <a:off x="1047750" y="4615755"/>
            <a:ext cx="16240125" cy="998190"/>
          </a:xfrm>
          <a:prstGeom prst="rect">
            <a:avLst/>
          </a:prstGeom>
          <a:noFill/>
          <a:ln/>
        </p:spPr>
        <p:txBody>
          <a:bodyPr wrap="square" lIns="25400" tIns="25400" rIns="25400" bIns="25400" rtlCol="0" anchor="t">
            <a:normAutofit/>
          </a:bodyPr>
          <a:lstStyle/>
          <a:p>
            <a:pPr algn="l" indent="0" marL="0">
              <a:lnSpc>
                <a:spcPct val="91636"/>
              </a:lnSpc>
              <a:buNone/>
            </a:pPr>
            <a:r>
              <a:rPr lang="en-US" sz="7200" b="1" dirty="0">
                <a:solidFill>
                  <a:srgbClr val="F5F3EF"/>
                </a:solidFill>
                <a:latin typeface="Arial" pitchFamily="34" charset="0"/>
                <a:ea typeface="Arial" pitchFamily="34" charset="-122"/>
                <a:cs typeface="Arial" pitchFamily="34" charset="-120"/>
              </a:rPr>
              <a:t>El problema no era el solicitante</a:t>
            </a:r>
            <a:endParaRPr lang="en-US" sz="7200" dirty="0"/>
          </a:p>
        </p:txBody>
      </p:sp>
      <p:sp>
        <p:nvSpPr>
          <p:cNvPr id="6" name="Text 4"/>
          <p:cNvSpPr/>
          <p:nvPr/>
        </p:nvSpPr>
        <p:spPr>
          <a:xfrm>
            <a:off x="1047750" y="5842546"/>
            <a:ext cx="13620750" cy="457200"/>
          </a:xfrm>
          <a:prstGeom prst="rect">
            <a:avLst/>
          </a:prstGeom>
          <a:noFill/>
          <a:ln/>
        </p:spPr>
        <p:txBody>
          <a:bodyPr wrap="square" lIns="25400" tIns="25400" rIns="25400" bIns="25400" rtlCol="0" anchor="t">
            <a:normAutofit/>
          </a:bodyPr>
          <a:lstStyle/>
          <a:p>
            <a:pPr algn="l" indent="0" marL="0">
              <a:buNone/>
            </a:pPr>
            <a:r>
              <a:rPr lang="en-US" sz="2550" dirty="0">
                <a:solidFill>
                  <a:srgbClr val="C9CDD4"/>
                </a:solidFill>
                <a:latin typeface="Arial" pitchFamily="34" charset="0"/>
                <a:ea typeface="Arial" pitchFamily="34" charset="-122"/>
                <a:cs typeface="Arial" pitchFamily="34" charset="-120"/>
              </a:rPr>
              <a:t>Reencuadre del problema según Bianchi &amp; Verganti (2021).</a:t>
            </a:r>
            <a:endParaRPr lang="en-US" sz="2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REENCUADRE DEL PROBLEMA</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17191D"/>
                </a:solidFill>
                <a:latin typeface="Arial" pitchFamily="34" charset="0"/>
                <a:ea typeface="Arial" pitchFamily="34" charset="-122"/>
                <a:cs typeface="Arial" pitchFamily="34" charset="-120"/>
              </a:rPr>
              <a:t>Del castigo por ausencia a la medición por evidencia</a:t>
            </a:r>
            <a:endParaRPr lang="en-US" sz="4500" dirty="0"/>
          </a:p>
        </p:txBody>
      </p:sp>
      <p:sp>
        <p:nvSpPr>
          <p:cNvPr id="4" name="Shape 2"/>
          <p:cNvSpPr/>
          <p:nvPr/>
        </p:nvSpPr>
        <p:spPr>
          <a:xfrm>
            <a:off x="1047750" y="2369790"/>
            <a:ext cx="7848600" cy="3045619"/>
          </a:xfrm>
          <a:prstGeom prst="rect">
            <a:avLst/>
          </a:prstGeom>
          <a:solidFill>
            <a:srgbClr val="E8E4DC"/>
          </a:solidFill>
          <a:ln/>
        </p:spPr>
      </p:sp>
      <p:sp>
        <p:nvSpPr>
          <p:cNvPr id="5" name="Text 3"/>
          <p:cNvSpPr/>
          <p:nvPr/>
        </p:nvSpPr>
        <p:spPr>
          <a:xfrm>
            <a:off x="1447800" y="2769840"/>
            <a:ext cx="775335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6D7278"/>
                </a:solidFill>
                <a:latin typeface="Courier New" pitchFamily="34" charset="0"/>
                <a:ea typeface="Courier New" pitchFamily="34" charset="-122"/>
                <a:cs typeface="Courier New" pitchFamily="34" charset="-120"/>
              </a:rPr>
              <a:t>PROBLEMA VISIBLE TRADICIONAL</a:t>
            </a:r>
            <a:endParaRPr lang="en-US" sz="1800" dirty="0"/>
          </a:p>
        </p:txBody>
      </p:sp>
      <p:sp>
        <p:nvSpPr>
          <p:cNvPr id="6" name="Text 4"/>
          <p:cNvSpPr/>
          <p:nvPr/>
        </p:nvSpPr>
        <p:spPr>
          <a:xfrm>
            <a:off x="1447800" y="3265140"/>
            <a:ext cx="7259955" cy="1322189"/>
          </a:xfrm>
          <a:prstGeom prst="rect">
            <a:avLst/>
          </a:prstGeom>
          <a:noFill/>
          <a:ln/>
        </p:spPr>
        <p:txBody>
          <a:bodyPr wrap="square" lIns="25400" tIns="25400" rIns="25400" bIns="25400" rtlCol="0" anchor="t">
            <a:normAutofit/>
          </a:bodyPr>
          <a:lstStyle/>
          <a:p>
            <a:pPr algn="l" indent="0" marL="0">
              <a:lnSpc>
                <a:spcPct val="124861"/>
              </a:lnSpc>
              <a:buNone/>
            </a:pPr>
            <a:r>
              <a:rPr lang="en-US" sz="2325" dirty="0">
                <a:solidFill>
                  <a:srgbClr val="2C2F35"/>
                </a:solidFill>
                <a:latin typeface="Arial" pitchFamily="34" charset="0"/>
                <a:ea typeface="Arial" pitchFamily="34" charset="-122"/>
                <a:cs typeface="Arial" pitchFamily="34" charset="-120"/>
              </a:rPr>
              <a:t>«Los independientes son intrínsecamente riesgosos: no tienen estabilidad laboral, no certifican nómina y su historial crediticio está fragmentado.»</a:t>
            </a:r>
            <a:endParaRPr lang="en-US" sz="2325" dirty="0"/>
          </a:p>
        </p:txBody>
      </p:sp>
      <p:sp>
        <p:nvSpPr>
          <p:cNvPr id="7" name="Shape 5"/>
          <p:cNvSpPr/>
          <p:nvPr/>
        </p:nvSpPr>
        <p:spPr>
          <a:xfrm>
            <a:off x="9391650" y="2369790"/>
            <a:ext cx="7848600" cy="3045619"/>
          </a:xfrm>
          <a:prstGeom prst="rect">
            <a:avLst/>
          </a:prstGeom>
          <a:solidFill>
            <a:srgbClr val="14181F"/>
          </a:solidFill>
          <a:ln/>
        </p:spPr>
      </p:sp>
      <p:sp>
        <p:nvSpPr>
          <p:cNvPr id="8" name="Text 6"/>
          <p:cNvSpPr/>
          <p:nvPr/>
        </p:nvSpPr>
        <p:spPr>
          <a:xfrm>
            <a:off x="9791700" y="2769840"/>
            <a:ext cx="7753350"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7FA3CA"/>
                </a:solidFill>
                <a:latin typeface="Courier New" pitchFamily="34" charset="0"/>
                <a:ea typeface="Courier New" pitchFamily="34" charset="-122"/>
                <a:cs typeface="Courier New" pitchFamily="34" charset="-120"/>
              </a:rPr>
              <a:t>REENCUADRE STATCREDIT AI</a:t>
            </a:r>
            <a:endParaRPr lang="en-US" sz="1800" dirty="0"/>
          </a:p>
        </p:txBody>
      </p:sp>
      <p:sp>
        <p:nvSpPr>
          <p:cNvPr id="9" name="Text 7"/>
          <p:cNvSpPr/>
          <p:nvPr/>
        </p:nvSpPr>
        <p:spPr>
          <a:xfrm>
            <a:off x="9791700" y="3265140"/>
            <a:ext cx="7259955" cy="1750219"/>
          </a:xfrm>
          <a:prstGeom prst="rect">
            <a:avLst/>
          </a:prstGeom>
          <a:noFill/>
          <a:ln/>
        </p:spPr>
        <p:txBody>
          <a:bodyPr wrap="square" lIns="25400" tIns="25400" rIns="25400" bIns="25400" rtlCol="0" anchor="t">
            <a:normAutofit/>
          </a:bodyPr>
          <a:lstStyle/>
          <a:p>
            <a:pPr algn="l" indent="0" marL="0">
              <a:lnSpc>
                <a:spcPct val="124861"/>
              </a:lnSpc>
              <a:buNone/>
            </a:pPr>
            <a:r>
              <a:rPr lang="en-US" sz="2325" dirty="0">
                <a:solidFill>
                  <a:srgbClr val="F5F3EF"/>
                </a:solidFill>
                <a:latin typeface="Arial" pitchFamily="34" charset="0"/>
                <a:ea typeface="Arial" pitchFamily="34" charset="-122"/>
                <a:cs typeface="Arial" pitchFamily="34" charset="-120"/>
              </a:rPr>
              <a:t>«Existe una vasta población de independientes solventes y predecibles; el scoring tradicional confunde la falta de datos contractuales con la certeza de impago.»</a:t>
            </a:r>
            <a:endParaRPr lang="en-US" sz="2325" dirty="0"/>
          </a:p>
        </p:txBody>
      </p:sp>
      <p:sp>
        <p:nvSpPr>
          <p:cNvPr id="10" name="Shape 8"/>
          <p:cNvSpPr/>
          <p:nvPr/>
        </p:nvSpPr>
        <p:spPr>
          <a:xfrm>
            <a:off x="1047750" y="5910709"/>
            <a:ext cx="57150" cy="990600"/>
          </a:xfrm>
          <a:prstGeom prst="rect">
            <a:avLst/>
          </a:prstGeom>
          <a:solidFill>
            <a:srgbClr val="B5623C"/>
          </a:solidFill>
          <a:ln/>
        </p:spPr>
      </p:sp>
      <p:sp>
        <p:nvSpPr>
          <p:cNvPr id="11" name="Text 9"/>
          <p:cNvSpPr/>
          <p:nvPr/>
        </p:nvSpPr>
        <p:spPr>
          <a:xfrm>
            <a:off x="1447800" y="5910709"/>
            <a:ext cx="14924341" cy="1028700"/>
          </a:xfrm>
          <a:prstGeom prst="rect">
            <a:avLst/>
          </a:prstGeom>
          <a:noFill/>
          <a:ln/>
        </p:spPr>
        <p:txBody>
          <a:bodyPr wrap="square" lIns="25400" tIns="25400" rIns="25400" bIns="25400" rtlCol="0" anchor="t">
            <a:normAutofit/>
          </a:bodyPr>
          <a:lstStyle/>
          <a:p>
            <a:pPr algn="l" indent="0" marL="0">
              <a:lnSpc>
                <a:spcPct val="115556"/>
              </a:lnSpc>
              <a:buNone/>
            </a:pPr>
            <a:r>
              <a:rPr lang="en-US" sz="3000" dirty="0">
                <a:solidFill>
                  <a:srgbClr val="17191D"/>
                </a:solidFill>
                <a:latin typeface="Arial" pitchFamily="34" charset="0"/>
                <a:ea typeface="Arial" pitchFamily="34" charset="-122"/>
                <a:cs typeface="Arial" pitchFamily="34" charset="-120"/>
              </a:rPr>
              <a:t>“No buscamos cambiar quién puede acceder al crédito; buscamos cambiar la forma en que se mide quién puede pagarlo.”</a:t>
            </a: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57250" y="704850"/>
            <a:ext cx="182308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2A684"/>
                </a:solidFill>
                <a:latin typeface="Courier New" pitchFamily="34" charset="0"/>
                <a:ea typeface="Courier New" pitchFamily="34" charset="-122"/>
                <a:cs typeface="Courier New" pitchFamily="34" charset="-120"/>
              </a:rPr>
              <a:t>LOS 4 MOVIMIENTOS DE DISEÑO DE PROBLEMAS · BIANCHI &amp; VERGANTI, 2021</a:t>
            </a:r>
            <a:endParaRPr lang="en-US" sz="1800" dirty="0"/>
          </a:p>
        </p:txBody>
      </p:sp>
      <p:sp>
        <p:nvSpPr>
          <p:cNvPr id="3" name="Text 1"/>
          <p:cNvSpPr/>
          <p:nvPr/>
        </p:nvSpPr>
        <p:spPr>
          <a:xfrm>
            <a:off x="857250" y="1162050"/>
            <a:ext cx="18230850" cy="593527"/>
          </a:xfrm>
          <a:prstGeom prst="rect">
            <a:avLst/>
          </a:prstGeom>
          <a:noFill/>
          <a:ln/>
        </p:spPr>
        <p:txBody>
          <a:bodyPr wrap="square" lIns="25400" tIns="25400" rIns="25400" bIns="25400" rtlCol="0" anchor="t">
            <a:normAutofit/>
          </a:bodyPr>
          <a:lstStyle/>
          <a:p>
            <a:pPr algn="l" indent="0" marL="0">
              <a:lnSpc>
                <a:spcPct val="94065"/>
              </a:lnSpc>
              <a:buNone/>
            </a:pPr>
            <a:r>
              <a:rPr lang="en-US" sz="4050" b="1" dirty="0">
                <a:solidFill>
                  <a:srgbClr val="F5F3EF"/>
                </a:solidFill>
                <a:latin typeface="Arial" pitchFamily="34" charset="0"/>
                <a:ea typeface="Arial" pitchFamily="34" charset="-122"/>
                <a:cs typeface="Arial" pitchFamily="34" charset="-120"/>
              </a:rPr>
              <a:t>Cómo diseñamos el problema, no solo la solución</a:t>
            </a:r>
            <a:endParaRPr lang="en-US" sz="4050" dirty="0"/>
          </a:p>
        </p:txBody>
      </p:sp>
      <p:sp>
        <p:nvSpPr>
          <p:cNvPr id="4" name="Shape 2"/>
          <p:cNvSpPr/>
          <p:nvPr/>
        </p:nvSpPr>
        <p:spPr>
          <a:xfrm>
            <a:off x="857250" y="2098477"/>
            <a:ext cx="8153400" cy="3656112"/>
          </a:xfrm>
          <a:prstGeom prst="rect">
            <a:avLst/>
          </a:prstGeom>
          <a:solidFill>
            <a:srgbClr val="1D232C"/>
          </a:solidFill>
          <a:ln/>
        </p:spPr>
      </p:sp>
      <p:sp>
        <p:nvSpPr>
          <p:cNvPr id="5" name="Shape 3"/>
          <p:cNvSpPr/>
          <p:nvPr/>
        </p:nvSpPr>
        <p:spPr>
          <a:xfrm>
            <a:off x="857250" y="2098477"/>
            <a:ext cx="8153400" cy="47625"/>
          </a:xfrm>
          <a:prstGeom prst="rect">
            <a:avLst/>
          </a:prstGeom>
          <a:solidFill>
            <a:srgbClr val="B5623C"/>
          </a:solidFill>
          <a:ln/>
        </p:spPr>
      </p:sp>
      <p:sp>
        <p:nvSpPr>
          <p:cNvPr id="6" name="Text 4"/>
          <p:cNvSpPr/>
          <p:nvPr/>
        </p:nvSpPr>
        <p:spPr>
          <a:xfrm>
            <a:off x="1181100" y="2431852"/>
            <a:ext cx="82562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2A684"/>
                </a:solidFill>
                <a:latin typeface="Courier New" pitchFamily="34" charset="0"/>
                <a:ea typeface="Courier New" pitchFamily="34" charset="-122"/>
                <a:cs typeface="Courier New" pitchFamily="34" charset="-120"/>
              </a:rPr>
              <a:t>01 · Frame / Reframing</a:t>
            </a:r>
            <a:endParaRPr lang="en-US" sz="1800" dirty="0"/>
          </a:p>
        </p:txBody>
      </p:sp>
      <p:sp>
        <p:nvSpPr>
          <p:cNvPr id="7" name="Text 5"/>
          <p:cNvSpPr/>
          <p:nvPr/>
        </p:nvSpPr>
        <p:spPr>
          <a:xfrm>
            <a:off x="1181100" y="2870002"/>
            <a:ext cx="7730871" cy="782836"/>
          </a:xfrm>
          <a:prstGeom prst="rect">
            <a:avLst/>
          </a:prstGeom>
          <a:noFill/>
          <a:ln/>
        </p:spPr>
        <p:txBody>
          <a:bodyPr wrap="square" lIns="25400" tIns="25400" rIns="25400" bIns="25400" rtlCol="0" anchor="t">
            <a:normAutofit/>
          </a:bodyPr>
          <a:lstStyle/>
          <a:p>
            <a:pPr algn="l" indent="0" marL="0">
              <a:lnSpc>
                <a:spcPct val="100256"/>
              </a:lnSpc>
              <a:buNone/>
            </a:pPr>
            <a:r>
              <a:rPr lang="en-US" sz="2550" b="1" dirty="0">
                <a:solidFill>
                  <a:srgbClr val="F5F3EF"/>
                </a:solidFill>
                <a:latin typeface="Arial" pitchFamily="34" charset="0"/>
                <a:ea typeface="Arial" pitchFamily="34" charset="-122"/>
                <a:cs typeface="Arial" pitchFamily="34" charset="-120"/>
              </a:rPr>
              <a:t>Del castigo por ausencia a la medición por evidencia</a:t>
            </a:r>
            <a:endParaRPr lang="en-US" sz="2550" dirty="0"/>
          </a:p>
        </p:txBody>
      </p:sp>
      <p:sp>
        <p:nvSpPr>
          <p:cNvPr id="8" name="Text 6"/>
          <p:cNvSpPr/>
          <p:nvPr/>
        </p:nvSpPr>
        <p:spPr>
          <a:xfrm>
            <a:off x="1181100" y="3748087"/>
            <a:ext cx="7730871" cy="1118146"/>
          </a:xfrm>
          <a:prstGeom prst="rect">
            <a:avLst/>
          </a:prstGeom>
          <a:noFill/>
          <a:ln/>
        </p:spPr>
        <p:txBody>
          <a:bodyPr wrap="square" lIns="25400" tIns="25400" rIns="25400" bIns="25400" rtlCol="0" anchor="t">
            <a:normAutofit/>
          </a:bodyPr>
          <a:lstStyle/>
          <a:p>
            <a:pPr algn="l" indent="0" marL="0">
              <a:lnSpc>
                <a:spcPct val="121935"/>
              </a:lnSpc>
              <a:buNone/>
            </a:pPr>
            <a:r>
              <a:rPr lang="en-US" sz="2025" dirty="0">
                <a:solidFill>
                  <a:srgbClr val="C9CDD4"/>
                </a:solidFill>
                <a:latin typeface="Arial" pitchFamily="34" charset="0"/>
                <a:ea typeface="Arial" pitchFamily="34" charset="-122"/>
                <a:cs typeface="Arial" pitchFamily="34" charset="-120"/>
              </a:rPr>
              <a:t>No inventamos un problema nuevo: le dimos un marco distinto al mismo hecho. El sistema ve “sin historial = riesgo”; StatCredit ve “actividad transaccional no leída = activo de repago”.</a:t>
            </a:r>
            <a:endParaRPr lang="en-US" sz="2025" dirty="0"/>
          </a:p>
        </p:txBody>
      </p:sp>
      <p:sp>
        <p:nvSpPr>
          <p:cNvPr id="9" name="Shape 7"/>
          <p:cNvSpPr/>
          <p:nvPr/>
        </p:nvSpPr>
        <p:spPr>
          <a:xfrm>
            <a:off x="9277350" y="2098477"/>
            <a:ext cx="8153400" cy="3656112"/>
          </a:xfrm>
          <a:prstGeom prst="rect">
            <a:avLst/>
          </a:prstGeom>
          <a:solidFill>
            <a:srgbClr val="1D232C"/>
          </a:solidFill>
          <a:ln/>
        </p:spPr>
      </p:sp>
      <p:sp>
        <p:nvSpPr>
          <p:cNvPr id="10" name="Shape 8"/>
          <p:cNvSpPr/>
          <p:nvPr/>
        </p:nvSpPr>
        <p:spPr>
          <a:xfrm>
            <a:off x="9277350" y="2098477"/>
            <a:ext cx="8153400" cy="47625"/>
          </a:xfrm>
          <a:prstGeom prst="rect">
            <a:avLst/>
          </a:prstGeom>
          <a:solidFill>
            <a:srgbClr val="B5623C"/>
          </a:solidFill>
          <a:ln/>
        </p:spPr>
      </p:sp>
      <p:sp>
        <p:nvSpPr>
          <p:cNvPr id="11" name="Text 9"/>
          <p:cNvSpPr/>
          <p:nvPr/>
        </p:nvSpPr>
        <p:spPr>
          <a:xfrm>
            <a:off x="9601200" y="2431852"/>
            <a:ext cx="82562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2A684"/>
                </a:solidFill>
                <a:latin typeface="Courier New" pitchFamily="34" charset="0"/>
                <a:ea typeface="Courier New" pitchFamily="34" charset="-122"/>
                <a:cs typeface="Courier New" pitchFamily="34" charset="-120"/>
              </a:rPr>
              <a:t>02 · Expansión del problema</a:t>
            </a:r>
            <a:endParaRPr lang="en-US" sz="1800" dirty="0"/>
          </a:p>
        </p:txBody>
      </p:sp>
      <p:sp>
        <p:nvSpPr>
          <p:cNvPr id="12" name="Text 10"/>
          <p:cNvSpPr/>
          <p:nvPr/>
        </p:nvSpPr>
        <p:spPr>
          <a:xfrm>
            <a:off x="9601200" y="2870002"/>
            <a:ext cx="8256270" cy="410468"/>
          </a:xfrm>
          <a:prstGeom prst="rect">
            <a:avLst/>
          </a:prstGeom>
          <a:noFill/>
          <a:ln/>
        </p:spPr>
        <p:txBody>
          <a:bodyPr wrap="square" lIns="25400" tIns="25400" rIns="25400" bIns="25400" rtlCol="0" anchor="t">
            <a:normAutofit/>
          </a:bodyPr>
          <a:lstStyle/>
          <a:p>
            <a:pPr algn="l" indent="0" marL="0">
              <a:lnSpc>
                <a:spcPct val="100256"/>
              </a:lnSpc>
              <a:buNone/>
            </a:pPr>
            <a:r>
              <a:rPr lang="en-US" sz="2550" b="1" dirty="0">
                <a:solidFill>
                  <a:srgbClr val="F5F3EF"/>
                </a:solidFill>
                <a:latin typeface="Arial" pitchFamily="34" charset="0"/>
                <a:ea typeface="Arial" pitchFamily="34" charset="-122"/>
                <a:cs typeface="Arial" pitchFamily="34" charset="-120"/>
              </a:rPr>
              <a:t>Sumar a los actores que quedaban fuera</a:t>
            </a:r>
            <a:endParaRPr lang="en-US" sz="2550" dirty="0"/>
          </a:p>
        </p:txBody>
      </p:sp>
      <p:sp>
        <p:nvSpPr>
          <p:cNvPr id="13" name="Text 11"/>
          <p:cNvSpPr/>
          <p:nvPr/>
        </p:nvSpPr>
        <p:spPr>
          <a:xfrm>
            <a:off x="9601200" y="3375720"/>
            <a:ext cx="7730871" cy="1838176"/>
          </a:xfrm>
          <a:prstGeom prst="rect">
            <a:avLst/>
          </a:prstGeom>
          <a:noFill/>
          <a:ln/>
        </p:spPr>
        <p:txBody>
          <a:bodyPr wrap="square" lIns="25400" tIns="25400" rIns="25400" bIns="25400" rtlCol="0" anchor="t">
            <a:normAutofit/>
          </a:bodyPr>
          <a:lstStyle/>
          <a:p>
            <a:pPr algn="l" indent="0" marL="0">
              <a:lnSpc>
                <a:spcPct val="121935"/>
              </a:lnSpc>
              <a:buNone/>
            </a:pPr>
            <a:r>
              <a:rPr lang="en-US" sz="2025" dirty="0">
                <a:solidFill>
                  <a:srgbClr val="C9CDD4"/>
                </a:solidFill>
                <a:latin typeface="Arial" pitchFamily="34" charset="0"/>
                <a:ea typeface="Arial" pitchFamily="34" charset="-122"/>
                <a:cs typeface="Arial" pitchFamily="34" charset="-120"/>
              </a:rPr>
              <a:t>El scoring tradicional solo mira al banco y al buró. Expandimos el marco para incluir a quienes ya generan la evidencia todos los días: billeteras digitales, facturación electrónica DIAN y los propios proveedores que ya “califican” informalmente a estos negocios por su comportamiento de pago.</a:t>
            </a:r>
            <a:endParaRPr lang="en-US" sz="2025" dirty="0"/>
          </a:p>
        </p:txBody>
      </p:sp>
      <p:sp>
        <p:nvSpPr>
          <p:cNvPr id="14" name="Shape 12"/>
          <p:cNvSpPr/>
          <p:nvPr/>
        </p:nvSpPr>
        <p:spPr>
          <a:xfrm>
            <a:off x="857250" y="6021288"/>
            <a:ext cx="8153400" cy="3656112"/>
          </a:xfrm>
          <a:prstGeom prst="rect">
            <a:avLst/>
          </a:prstGeom>
          <a:solidFill>
            <a:srgbClr val="1D232C"/>
          </a:solidFill>
          <a:ln/>
        </p:spPr>
      </p:sp>
      <p:sp>
        <p:nvSpPr>
          <p:cNvPr id="15" name="Shape 13"/>
          <p:cNvSpPr/>
          <p:nvPr/>
        </p:nvSpPr>
        <p:spPr>
          <a:xfrm>
            <a:off x="857250" y="6021288"/>
            <a:ext cx="8153400" cy="47625"/>
          </a:xfrm>
          <a:prstGeom prst="rect">
            <a:avLst/>
          </a:prstGeom>
          <a:solidFill>
            <a:srgbClr val="B5623C"/>
          </a:solidFill>
          <a:ln/>
        </p:spPr>
      </p:sp>
      <p:sp>
        <p:nvSpPr>
          <p:cNvPr id="16" name="Text 14"/>
          <p:cNvSpPr/>
          <p:nvPr/>
        </p:nvSpPr>
        <p:spPr>
          <a:xfrm>
            <a:off x="1181100" y="6354663"/>
            <a:ext cx="82562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2A684"/>
                </a:solidFill>
                <a:latin typeface="Courier New" pitchFamily="34" charset="0"/>
                <a:ea typeface="Courier New" pitchFamily="34" charset="-122"/>
                <a:cs typeface="Courier New" pitchFamily="34" charset="-120"/>
              </a:rPr>
              <a:t>03 · Elevación</a:t>
            </a:r>
            <a:endParaRPr lang="en-US" sz="1800" dirty="0"/>
          </a:p>
        </p:txBody>
      </p:sp>
      <p:sp>
        <p:nvSpPr>
          <p:cNvPr id="17" name="Text 15"/>
          <p:cNvSpPr/>
          <p:nvPr/>
        </p:nvSpPr>
        <p:spPr>
          <a:xfrm>
            <a:off x="1181100" y="6792813"/>
            <a:ext cx="8256270" cy="410468"/>
          </a:xfrm>
          <a:prstGeom prst="rect">
            <a:avLst/>
          </a:prstGeom>
          <a:noFill/>
          <a:ln/>
        </p:spPr>
        <p:txBody>
          <a:bodyPr wrap="square" lIns="25400" tIns="25400" rIns="25400" bIns="25400" rtlCol="0" anchor="t">
            <a:normAutofit/>
          </a:bodyPr>
          <a:lstStyle/>
          <a:p>
            <a:pPr algn="l" indent="0" marL="0">
              <a:lnSpc>
                <a:spcPct val="100256"/>
              </a:lnSpc>
              <a:buNone/>
            </a:pPr>
            <a:r>
              <a:rPr lang="en-US" sz="2550" b="1" dirty="0">
                <a:solidFill>
                  <a:srgbClr val="F5F3EF"/>
                </a:solidFill>
                <a:latin typeface="Arial" pitchFamily="34" charset="0"/>
                <a:ea typeface="Arial" pitchFamily="34" charset="-122"/>
                <a:cs typeface="Arial" pitchFamily="34" charset="-120"/>
              </a:rPr>
              <a:t>Por qué importa, no solo qué falla</a:t>
            </a:r>
            <a:endParaRPr lang="en-US" sz="2550" dirty="0"/>
          </a:p>
        </p:txBody>
      </p:sp>
      <p:sp>
        <p:nvSpPr>
          <p:cNvPr id="18" name="Text 16"/>
          <p:cNvSpPr/>
          <p:nvPr/>
        </p:nvSpPr>
        <p:spPr>
          <a:xfrm>
            <a:off x="1181100" y="7298531"/>
            <a:ext cx="7730871" cy="1838176"/>
          </a:xfrm>
          <a:prstGeom prst="rect">
            <a:avLst/>
          </a:prstGeom>
          <a:noFill/>
          <a:ln/>
        </p:spPr>
        <p:txBody>
          <a:bodyPr wrap="square" lIns="25400" tIns="25400" rIns="25400" bIns="25400" rtlCol="0" anchor="t">
            <a:normAutofit/>
          </a:bodyPr>
          <a:lstStyle/>
          <a:p>
            <a:pPr algn="l" indent="0" marL="0">
              <a:lnSpc>
                <a:spcPct val="121935"/>
              </a:lnSpc>
              <a:buNone/>
            </a:pPr>
            <a:r>
              <a:rPr lang="en-US" sz="2025" dirty="0">
                <a:solidFill>
                  <a:srgbClr val="C9CDD4"/>
                </a:solidFill>
                <a:latin typeface="Arial" pitchFamily="34" charset="0"/>
                <a:ea typeface="Arial" pitchFamily="34" charset="-122"/>
                <a:cs typeface="Arial" pitchFamily="34" charset="-120"/>
              </a:rPr>
              <a:t>Un score → acceso a crédito formal → capital de trabajo → un micronegocio que no cierra → una familia que no depende del gota a gota. La cadena de “por qués” lleva de un problema técnico (falta de historial) a un valor humano: dignidad económica y protección frente a la usura.</a:t>
            </a:r>
            <a:endParaRPr lang="en-US" sz="2025" dirty="0"/>
          </a:p>
        </p:txBody>
      </p:sp>
      <p:sp>
        <p:nvSpPr>
          <p:cNvPr id="19" name="Shape 17"/>
          <p:cNvSpPr/>
          <p:nvPr/>
        </p:nvSpPr>
        <p:spPr>
          <a:xfrm>
            <a:off x="9277350" y="6021288"/>
            <a:ext cx="8153400" cy="3656112"/>
          </a:xfrm>
          <a:prstGeom prst="rect">
            <a:avLst/>
          </a:prstGeom>
          <a:solidFill>
            <a:srgbClr val="1D232C"/>
          </a:solidFill>
          <a:ln/>
        </p:spPr>
      </p:sp>
      <p:sp>
        <p:nvSpPr>
          <p:cNvPr id="20" name="Shape 18"/>
          <p:cNvSpPr/>
          <p:nvPr/>
        </p:nvSpPr>
        <p:spPr>
          <a:xfrm>
            <a:off x="9277350" y="6021288"/>
            <a:ext cx="8153400" cy="47625"/>
          </a:xfrm>
          <a:prstGeom prst="rect">
            <a:avLst/>
          </a:prstGeom>
          <a:solidFill>
            <a:srgbClr val="B5623C"/>
          </a:solidFill>
          <a:ln/>
        </p:spPr>
      </p:sp>
      <p:sp>
        <p:nvSpPr>
          <p:cNvPr id="21" name="Text 19"/>
          <p:cNvSpPr/>
          <p:nvPr/>
        </p:nvSpPr>
        <p:spPr>
          <a:xfrm>
            <a:off x="9601200" y="6354663"/>
            <a:ext cx="825627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E2A684"/>
                </a:solidFill>
                <a:latin typeface="Courier New" pitchFamily="34" charset="0"/>
                <a:ea typeface="Courier New" pitchFamily="34" charset="-122"/>
                <a:cs typeface="Courier New" pitchFamily="34" charset="-120"/>
              </a:rPr>
              <a:t>04 · Saltos especulativos</a:t>
            </a:r>
            <a:endParaRPr lang="en-US" sz="1800" dirty="0"/>
          </a:p>
        </p:txBody>
      </p:sp>
      <p:sp>
        <p:nvSpPr>
          <p:cNvPr id="22" name="Text 20"/>
          <p:cNvSpPr/>
          <p:nvPr/>
        </p:nvSpPr>
        <p:spPr>
          <a:xfrm>
            <a:off x="9601200" y="6792813"/>
            <a:ext cx="7730871" cy="782836"/>
          </a:xfrm>
          <a:prstGeom prst="rect">
            <a:avLst/>
          </a:prstGeom>
          <a:noFill/>
          <a:ln/>
        </p:spPr>
        <p:txBody>
          <a:bodyPr wrap="square" lIns="25400" tIns="25400" rIns="25400" bIns="25400" rtlCol="0" anchor="t">
            <a:normAutofit/>
          </a:bodyPr>
          <a:lstStyle/>
          <a:p>
            <a:pPr algn="l" indent="0" marL="0">
              <a:lnSpc>
                <a:spcPct val="100256"/>
              </a:lnSpc>
              <a:buNone/>
            </a:pPr>
            <a:r>
              <a:rPr lang="en-US" sz="2550" b="1" dirty="0">
                <a:solidFill>
                  <a:srgbClr val="F5F3EF"/>
                </a:solidFill>
                <a:latin typeface="Arial" pitchFamily="34" charset="0"/>
                <a:ea typeface="Arial" pitchFamily="34" charset="-122"/>
                <a:cs typeface="Arial" pitchFamily="34" charset="-120"/>
              </a:rPr>
              <a:t>Combinar expansión y elevación para imaginar el frame nuevo</a:t>
            </a:r>
            <a:endParaRPr lang="en-US" sz="2550" dirty="0"/>
          </a:p>
        </p:txBody>
      </p:sp>
      <p:sp>
        <p:nvSpPr>
          <p:cNvPr id="23" name="Text 21"/>
          <p:cNvSpPr/>
          <p:nvPr/>
        </p:nvSpPr>
        <p:spPr>
          <a:xfrm>
            <a:off x="9601200" y="7670899"/>
            <a:ext cx="7730871" cy="1478161"/>
          </a:xfrm>
          <a:prstGeom prst="rect">
            <a:avLst/>
          </a:prstGeom>
          <a:noFill/>
          <a:ln/>
        </p:spPr>
        <p:txBody>
          <a:bodyPr wrap="square" lIns="25400" tIns="25400" rIns="25400" bIns="25400" rtlCol="0" anchor="t">
            <a:normAutofit/>
          </a:bodyPr>
          <a:lstStyle/>
          <a:p>
            <a:pPr algn="l" indent="0" marL="0">
              <a:lnSpc>
                <a:spcPct val="121935"/>
              </a:lnSpc>
              <a:buNone/>
            </a:pPr>
            <a:r>
              <a:rPr lang="en-US" sz="2025" dirty="0">
                <a:solidFill>
                  <a:srgbClr val="C9CDD4"/>
                </a:solidFill>
                <a:latin typeface="Arial" pitchFamily="34" charset="0"/>
                <a:ea typeface="Arial" pitchFamily="34" charset="-122"/>
                <a:cs typeface="Arial" pitchFamily="34" charset="-120"/>
              </a:rPr>
              <a:t>¿Y si el crédito del futuro no depende de tener un jefe, sino de tener clientes recurrentes? StatCredit especula un mundo donde el historial transaccional cotidiano reemplaza gradualmente la nómina como el proxy universal de estabilidad de ingreso.</a:t>
            </a:r>
            <a:endParaRPr lang="en-US" sz="2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CRITERIO 02 EN DETALLE</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17191D"/>
                </a:solidFill>
                <a:latin typeface="Arial" pitchFamily="34" charset="0"/>
                <a:ea typeface="Arial" pitchFamily="34" charset="-122"/>
                <a:cs typeface="Arial" pitchFamily="34" charset="-120"/>
              </a:rPr>
              <a:t>Tres axiomas que no resisten los datos</a:t>
            </a:r>
            <a:endParaRPr lang="en-US" sz="4500" dirty="0"/>
          </a:p>
        </p:txBody>
      </p:sp>
      <p:sp>
        <p:nvSpPr>
          <p:cNvPr id="4" name="Shape 2"/>
          <p:cNvSpPr/>
          <p:nvPr/>
        </p:nvSpPr>
        <p:spPr>
          <a:xfrm>
            <a:off x="1047750" y="2369790"/>
            <a:ext cx="16192500" cy="19050"/>
          </a:xfrm>
          <a:prstGeom prst="rect">
            <a:avLst/>
          </a:prstGeom>
          <a:solidFill>
            <a:srgbClr val="17191D"/>
          </a:solidFill>
          <a:ln/>
        </p:spPr>
      </p:sp>
      <p:sp>
        <p:nvSpPr>
          <p:cNvPr id="5" name="Text 3"/>
          <p:cNvSpPr/>
          <p:nvPr/>
        </p:nvSpPr>
        <p:spPr>
          <a:xfrm>
            <a:off x="1047750" y="2693640"/>
            <a:ext cx="7483456" cy="891480"/>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17191D"/>
                </a:solidFill>
                <a:latin typeface="Arial" pitchFamily="34" charset="0"/>
                <a:ea typeface="Arial" pitchFamily="34" charset="-122"/>
                <a:cs typeface="Arial" pitchFamily="34" charset="-120"/>
              </a:rPr>
              <a:t>“Solo un contrato laboral indefinido garantiza la persistencia del ingreso.”</a:t>
            </a:r>
            <a:endParaRPr lang="en-US" sz="2400" dirty="0"/>
          </a:p>
        </p:txBody>
      </p:sp>
      <p:sp>
        <p:nvSpPr>
          <p:cNvPr id="6" name="Text 4"/>
          <p:cNvSpPr/>
          <p:nvPr/>
        </p:nvSpPr>
        <p:spPr>
          <a:xfrm>
            <a:off x="8884741" y="2693640"/>
            <a:ext cx="8606021" cy="891480"/>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42464D"/>
                </a:solidFill>
                <a:latin typeface="Arial" pitchFamily="34" charset="0"/>
                <a:ea typeface="Arial" pitchFamily="34" charset="-122"/>
                <a:cs typeface="Arial" pitchFamily="34" charset="-120"/>
              </a:rPr>
              <a:t>La rotación laboral formal en Colombia es alta y una desvinculación extingue el 100% de la fuente de repago en un solo evento.</a:t>
            </a:r>
            <a:endParaRPr lang="en-US" sz="2175" dirty="0"/>
          </a:p>
        </p:txBody>
      </p:sp>
      <p:sp>
        <p:nvSpPr>
          <p:cNvPr id="7" name="Shape 5"/>
          <p:cNvSpPr/>
          <p:nvPr/>
        </p:nvSpPr>
        <p:spPr>
          <a:xfrm>
            <a:off x="1047750" y="3851821"/>
            <a:ext cx="16192500" cy="19050"/>
          </a:xfrm>
          <a:prstGeom prst="rect">
            <a:avLst/>
          </a:prstGeom>
          <a:solidFill>
            <a:srgbClr val="D7D3CB"/>
          </a:solidFill>
          <a:ln/>
        </p:spPr>
      </p:sp>
      <p:sp>
        <p:nvSpPr>
          <p:cNvPr id="8" name="Text 6"/>
          <p:cNvSpPr/>
          <p:nvPr/>
        </p:nvSpPr>
        <p:spPr>
          <a:xfrm>
            <a:off x="1047750" y="4175671"/>
            <a:ext cx="7483456" cy="1198066"/>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17191D"/>
                </a:solidFill>
                <a:latin typeface="Arial" pitchFamily="34" charset="0"/>
                <a:ea typeface="Arial" pitchFamily="34" charset="-122"/>
                <a:cs typeface="Arial" pitchFamily="34" charset="-120"/>
              </a:rPr>
              <a:t>“Quien no está en el buró carece de reputación financiera.”</a:t>
            </a:r>
            <a:endParaRPr lang="en-US" sz="2400" dirty="0"/>
          </a:p>
        </p:txBody>
      </p:sp>
      <p:sp>
        <p:nvSpPr>
          <p:cNvPr id="9" name="Text 7"/>
          <p:cNvSpPr/>
          <p:nvPr/>
        </p:nvSpPr>
        <p:spPr>
          <a:xfrm>
            <a:off x="8884741" y="4175671"/>
            <a:ext cx="8606021" cy="1198066"/>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42464D"/>
                </a:solidFill>
                <a:latin typeface="Arial" pitchFamily="34" charset="0"/>
                <a:ea typeface="Arial" pitchFamily="34" charset="-122"/>
                <a:cs typeface="Arial" pitchFamily="34" charset="-120"/>
              </a:rPr>
              <a:t>Los micronegocios operan con crédito comercial de proveedores mayoristas, donde registran cumplimientos impecables no reportados.</a:t>
            </a:r>
            <a:endParaRPr lang="en-US" sz="2175" dirty="0"/>
          </a:p>
        </p:txBody>
      </p:sp>
      <p:sp>
        <p:nvSpPr>
          <p:cNvPr id="10" name="Shape 8"/>
          <p:cNvSpPr/>
          <p:nvPr/>
        </p:nvSpPr>
        <p:spPr>
          <a:xfrm>
            <a:off x="1047750" y="7042398"/>
            <a:ext cx="16192500" cy="19050"/>
          </a:xfrm>
          <a:prstGeom prst="rect">
            <a:avLst/>
          </a:prstGeom>
          <a:solidFill>
            <a:srgbClr val="D7D3CB"/>
          </a:solidFill>
          <a:ln/>
        </p:spPr>
      </p:sp>
      <p:sp>
        <p:nvSpPr>
          <p:cNvPr id="11" name="Shape 9"/>
          <p:cNvSpPr/>
          <p:nvPr/>
        </p:nvSpPr>
        <p:spPr>
          <a:xfrm>
            <a:off x="1047750" y="5640437"/>
            <a:ext cx="16192500" cy="19050"/>
          </a:xfrm>
          <a:prstGeom prst="rect">
            <a:avLst/>
          </a:prstGeom>
          <a:solidFill>
            <a:srgbClr val="D7D3CB"/>
          </a:solidFill>
          <a:ln/>
        </p:spPr>
      </p:sp>
      <p:sp>
        <p:nvSpPr>
          <p:cNvPr id="12" name="Text 10"/>
          <p:cNvSpPr/>
          <p:nvPr/>
        </p:nvSpPr>
        <p:spPr>
          <a:xfrm>
            <a:off x="1047750" y="5964287"/>
            <a:ext cx="7483456" cy="811411"/>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17191D"/>
                </a:solidFill>
                <a:latin typeface="Arial" pitchFamily="34" charset="0"/>
                <a:ea typeface="Arial" pitchFamily="34" charset="-122"/>
                <a:cs typeface="Arial" pitchFamily="34" charset="-120"/>
              </a:rPr>
              <a:t>“La regresión logística tradicional es suficiente.”</a:t>
            </a:r>
            <a:endParaRPr lang="en-US" sz="2400" dirty="0"/>
          </a:p>
        </p:txBody>
      </p:sp>
      <p:sp>
        <p:nvSpPr>
          <p:cNvPr id="13" name="Text 11"/>
          <p:cNvSpPr/>
          <p:nvPr/>
        </p:nvSpPr>
        <p:spPr>
          <a:xfrm>
            <a:off x="8884741" y="5964287"/>
            <a:ext cx="8606021"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42464D"/>
                </a:solidFill>
                <a:latin typeface="Arial" pitchFamily="34" charset="0"/>
                <a:ea typeface="Arial" pitchFamily="34" charset="-122"/>
                <a:cs typeface="Arial" pitchFamily="34" charset="-120"/>
              </a:rPr>
              <a:t>El riesgo del independiente es no lineal y estacional: exige arquitecturas bayesianas e inferencia causal, no reglas de corte.</a:t>
            </a:r>
            <a:endParaRPr lang="en-US" sz="21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820400" y="6785670"/>
            <a:ext cx="6705600" cy="3158430"/>
          </a:xfrm>
          <a:prstGeom prst="rect">
            <a:avLst/>
          </a:prstGeom>
          <a:noFill/>
          <a:ln/>
        </p:spPr>
        <p:txBody>
          <a:bodyPr wrap="square" lIns="25400" tIns="25400" rIns="25400" bIns="25400" rtlCol="0" anchor="t">
            <a:normAutofit/>
          </a:bodyPr>
          <a:lstStyle/>
          <a:p>
            <a:pPr algn="r" indent="0" marL="0">
              <a:lnSpc>
                <a:spcPct val="67826"/>
              </a:lnSpc>
              <a:buNone/>
            </a:pPr>
            <a:r>
              <a:rPr lang="en-US" sz="31500" b="1" spc="-1260" kern="0" dirty="0">
                <a:solidFill>
                  <a:srgbClr val="1D2530"/>
                </a:solidFill>
                <a:latin typeface="Arial" pitchFamily="34" charset="0"/>
                <a:ea typeface="Arial" pitchFamily="34" charset="-122"/>
                <a:cs typeface="Arial" pitchFamily="34" charset="-120"/>
              </a:rPr>
              <a:t>03</a:t>
            </a:r>
            <a:endParaRPr lang="en-US" sz="31500" dirty="0"/>
          </a:p>
        </p:txBody>
      </p:sp>
      <p:sp>
        <p:nvSpPr>
          <p:cNvPr id="3" name="Shape 1"/>
          <p:cNvSpPr/>
          <p:nvPr/>
        </p:nvSpPr>
        <p:spPr>
          <a:xfrm>
            <a:off x="0" y="0"/>
            <a:ext cx="171450" cy="10287000"/>
          </a:xfrm>
          <a:prstGeom prst="rect">
            <a:avLst/>
          </a:prstGeom>
          <a:solidFill>
            <a:srgbClr val="B5623C"/>
          </a:solidFill>
          <a:ln/>
        </p:spPr>
      </p:sp>
      <p:sp>
        <p:nvSpPr>
          <p:cNvPr id="4" name="Text 2"/>
          <p:cNvSpPr/>
          <p:nvPr/>
        </p:nvSpPr>
        <p:spPr>
          <a:xfrm>
            <a:off x="1047750" y="4025205"/>
            <a:ext cx="178117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E2A684"/>
                </a:solidFill>
                <a:latin typeface="Courier New" pitchFamily="34" charset="0"/>
                <a:ea typeface="Courier New" pitchFamily="34" charset="-122"/>
                <a:cs typeface="Courier New" pitchFamily="34" charset="-120"/>
              </a:rPr>
              <a:t>ACTO 3</a:t>
            </a:r>
            <a:endParaRPr lang="en-US" sz="1950" dirty="0"/>
          </a:p>
        </p:txBody>
      </p:sp>
      <p:sp>
        <p:nvSpPr>
          <p:cNvPr id="5" name="Text 3"/>
          <p:cNvSpPr/>
          <p:nvPr/>
        </p:nvSpPr>
        <p:spPr>
          <a:xfrm>
            <a:off x="1047750" y="4615755"/>
            <a:ext cx="16240125" cy="998190"/>
          </a:xfrm>
          <a:prstGeom prst="rect">
            <a:avLst/>
          </a:prstGeom>
          <a:noFill/>
          <a:ln/>
        </p:spPr>
        <p:txBody>
          <a:bodyPr wrap="square" lIns="25400" tIns="25400" rIns="25400" bIns="25400" rtlCol="0" anchor="t">
            <a:normAutofit/>
          </a:bodyPr>
          <a:lstStyle/>
          <a:p>
            <a:pPr algn="l" indent="0" marL="0">
              <a:lnSpc>
                <a:spcPct val="91636"/>
              </a:lnSpc>
              <a:buNone/>
            </a:pPr>
            <a:r>
              <a:rPr lang="en-US" sz="7200" b="1" dirty="0">
                <a:solidFill>
                  <a:srgbClr val="F5F3EF"/>
                </a:solidFill>
                <a:latin typeface="Arial" pitchFamily="34" charset="0"/>
                <a:ea typeface="Arial" pitchFamily="34" charset="-122"/>
                <a:cs typeface="Arial" pitchFamily="34" charset="-120"/>
              </a:rPr>
              <a:t>Anatomía de un rechazo</a:t>
            </a:r>
            <a:endParaRPr lang="en-US" sz="7200" dirty="0"/>
          </a:p>
        </p:txBody>
      </p:sp>
      <p:sp>
        <p:nvSpPr>
          <p:cNvPr id="6" name="Text 4"/>
          <p:cNvSpPr/>
          <p:nvPr/>
        </p:nvSpPr>
        <p:spPr>
          <a:xfrm>
            <a:off x="1047750" y="5842546"/>
            <a:ext cx="13620750" cy="457200"/>
          </a:xfrm>
          <a:prstGeom prst="rect">
            <a:avLst/>
          </a:prstGeom>
          <a:noFill/>
          <a:ln/>
        </p:spPr>
        <p:txBody>
          <a:bodyPr wrap="square" lIns="25400" tIns="25400" rIns="25400" bIns="25400" rtlCol="0" anchor="t">
            <a:normAutofit/>
          </a:bodyPr>
          <a:lstStyle/>
          <a:p>
            <a:pPr algn="l" indent="0" marL="0">
              <a:buNone/>
            </a:pPr>
            <a:r>
              <a:rPr lang="en-US" sz="2550" dirty="0">
                <a:solidFill>
                  <a:srgbClr val="C9CDD4"/>
                </a:solidFill>
                <a:latin typeface="Arial" pitchFamily="34" charset="0"/>
                <a:ea typeface="Arial" pitchFamily="34" charset="-122"/>
                <a:cs typeface="Arial" pitchFamily="34" charset="-120"/>
              </a:rPr>
              <a:t>Diagrama de espina de pescado: cuatro familias de causas detrás del mismo efecto.</a:t>
            </a:r>
            <a:endParaRPr lang="en-US" sz="2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666750"/>
            <a:ext cx="1844040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ISHIKAWA</a:t>
            </a:r>
            <a:endParaRPr lang="en-US" sz="1800" dirty="0"/>
          </a:p>
        </p:txBody>
      </p:sp>
      <p:sp>
        <p:nvSpPr>
          <p:cNvPr id="3" name="Text 1"/>
          <p:cNvSpPr/>
          <p:nvPr/>
        </p:nvSpPr>
        <p:spPr>
          <a:xfrm>
            <a:off x="762000" y="1104900"/>
            <a:ext cx="18440400" cy="593527"/>
          </a:xfrm>
          <a:prstGeom prst="rect">
            <a:avLst/>
          </a:prstGeom>
          <a:noFill/>
          <a:ln/>
        </p:spPr>
        <p:txBody>
          <a:bodyPr wrap="square" lIns="25400" tIns="25400" rIns="25400" bIns="25400" rtlCol="0" anchor="t">
            <a:normAutofit/>
          </a:bodyPr>
          <a:lstStyle/>
          <a:p>
            <a:pPr algn="l" indent="0" marL="0">
              <a:lnSpc>
                <a:spcPct val="94065"/>
              </a:lnSpc>
              <a:buNone/>
            </a:pPr>
            <a:r>
              <a:rPr lang="en-US" sz="4050" b="1" dirty="0">
                <a:solidFill>
                  <a:srgbClr val="17191D"/>
                </a:solidFill>
                <a:latin typeface="Arial" pitchFamily="34" charset="0"/>
                <a:ea typeface="Arial" pitchFamily="34" charset="-122"/>
                <a:cs typeface="Arial" pitchFamily="34" charset="-120"/>
              </a:rPr>
              <a:t>Cuatro familias de causas, un solo efecto</a:t>
            </a:r>
            <a:endParaRPr lang="en-US" sz="4050" dirty="0"/>
          </a:p>
        </p:txBody>
      </p:sp>
      <p:sp>
        <p:nvSpPr>
          <p:cNvPr id="4" name="Shape 2"/>
          <p:cNvSpPr/>
          <p:nvPr/>
        </p:nvSpPr>
        <p:spPr>
          <a:xfrm>
            <a:off x="762000" y="5546527"/>
            <a:ext cx="13525500" cy="47625"/>
          </a:xfrm>
          <a:prstGeom prst="rect">
            <a:avLst/>
          </a:prstGeom>
          <a:solidFill>
            <a:srgbClr val="17191D"/>
          </a:solidFill>
          <a:ln/>
        </p:spPr>
      </p:sp>
      <p:sp>
        <p:nvSpPr>
          <p:cNvPr id="5" name="Shape 3"/>
          <p:cNvSpPr/>
          <p:nvPr/>
        </p:nvSpPr>
        <p:spPr>
          <a:xfrm>
            <a:off x="14287500" y="4536877"/>
            <a:ext cx="3619500" cy="2388394"/>
          </a:xfrm>
          <a:prstGeom prst="rect">
            <a:avLst/>
          </a:prstGeom>
          <a:solidFill>
            <a:srgbClr val="14181F"/>
          </a:solidFill>
          <a:ln/>
        </p:spPr>
      </p:sp>
      <p:sp>
        <p:nvSpPr>
          <p:cNvPr id="6" name="Text 4"/>
          <p:cNvSpPr/>
          <p:nvPr/>
        </p:nvSpPr>
        <p:spPr>
          <a:xfrm>
            <a:off x="14573250" y="4803577"/>
            <a:ext cx="335280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FA3CA"/>
                </a:solidFill>
                <a:latin typeface="Courier New" pitchFamily="34" charset="0"/>
                <a:ea typeface="Courier New" pitchFamily="34" charset="-122"/>
                <a:cs typeface="Courier New" pitchFamily="34" charset="-120"/>
              </a:rPr>
              <a:t>Problema central</a:t>
            </a:r>
            <a:endParaRPr lang="en-US" sz="1800" dirty="0"/>
          </a:p>
        </p:txBody>
      </p:sp>
      <p:sp>
        <p:nvSpPr>
          <p:cNvPr id="7" name="Text 5"/>
          <p:cNvSpPr/>
          <p:nvPr/>
        </p:nvSpPr>
        <p:spPr>
          <a:xfrm>
            <a:off x="14573250" y="5222677"/>
            <a:ext cx="3139440" cy="1473994"/>
          </a:xfrm>
          <a:prstGeom prst="rect">
            <a:avLst/>
          </a:prstGeom>
          <a:noFill/>
          <a:ln/>
        </p:spPr>
        <p:txBody>
          <a:bodyPr wrap="square" lIns="25400" tIns="25400" rIns="25400" bIns="25400" rtlCol="0" anchor="t">
            <a:normAutofit/>
          </a:bodyPr>
          <a:lstStyle/>
          <a:p>
            <a:pPr algn="l" indent="0" marL="0">
              <a:lnSpc>
                <a:spcPct val="114242"/>
              </a:lnSpc>
              <a:buNone/>
            </a:pPr>
            <a:r>
              <a:rPr lang="en-US" sz="2175" dirty="0">
                <a:solidFill>
                  <a:srgbClr val="F5F3EF"/>
                </a:solidFill>
                <a:latin typeface="Arial" pitchFamily="34" charset="0"/>
                <a:ea typeface="Arial" pitchFamily="34" charset="-122"/>
                <a:cs typeface="Arial" pitchFamily="34" charset="-120"/>
              </a:rPr>
              <a:t>Exclusión y sobrecosto de crédito para el independiente solvente en Colombia</a:t>
            </a:r>
            <a:endParaRPr lang="en-US" sz="2175" dirty="0"/>
          </a:p>
        </p:txBody>
      </p:sp>
      <p:sp>
        <p:nvSpPr>
          <p:cNvPr id="8" name="Shape 6"/>
          <p:cNvSpPr/>
          <p:nvPr/>
        </p:nvSpPr>
        <p:spPr>
          <a:xfrm rot="1320001">
            <a:off x="3892462" y="4170835"/>
            <a:ext cx="47625" cy="1457325"/>
          </a:xfrm>
          <a:prstGeom prst="rect">
            <a:avLst/>
          </a:prstGeom>
          <a:solidFill>
            <a:srgbClr val="17191D"/>
          </a:solidFill>
          <a:ln/>
        </p:spPr>
      </p:sp>
      <p:sp>
        <p:nvSpPr>
          <p:cNvPr id="9" name="Text 7"/>
          <p:cNvSpPr/>
          <p:nvPr/>
        </p:nvSpPr>
        <p:spPr>
          <a:xfrm>
            <a:off x="1905000" y="1831777"/>
            <a:ext cx="4610100"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3D6B9E"/>
                </a:solidFill>
                <a:latin typeface="Arial" pitchFamily="34" charset="0"/>
                <a:ea typeface="Arial" pitchFamily="34" charset="-122"/>
                <a:cs typeface="Arial" pitchFamily="34" charset="-120"/>
              </a:rPr>
              <a:t>Datos y conectividad</a:t>
            </a:r>
            <a:endParaRPr lang="en-US" sz="2325" dirty="0"/>
          </a:p>
        </p:txBody>
      </p:sp>
      <p:sp>
        <p:nvSpPr>
          <p:cNvPr id="10" name="Text 8"/>
          <p:cNvSpPr/>
          <p:nvPr/>
        </p:nvSpPr>
        <p:spPr>
          <a:xfrm>
            <a:off x="1905000" y="2288977"/>
            <a:ext cx="4610100" cy="372368"/>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Dispersión transaccional en efectivo</a:t>
            </a:r>
            <a:endParaRPr lang="en-US" sz="2025" dirty="0"/>
          </a:p>
        </p:txBody>
      </p:sp>
      <p:sp>
        <p:nvSpPr>
          <p:cNvPr id="11" name="Text 9"/>
          <p:cNvSpPr/>
          <p:nvPr/>
        </p:nvSpPr>
        <p:spPr>
          <a:xfrm>
            <a:off x="1905000" y="2737545"/>
            <a:ext cx="4610100" cy="372368"/>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Silos de información cerrados</a:t>
            </a:r>
            <a:endParaRPr lang="en-US" sz="2025" dirty="0"/>
          </a:p>
        </p:txBody>
      </p:sp>
      <p:sp>
        <p:nvSpPr>
          <p:cNvPr id="12" name="Text 10"/>
          <p:cNvSpPr/>
          <p:nvPr/>
        </p:nvSpPr>
        <p:spPr>
          <a:xfrm>
            <a:off x="1905000" y="3186113"/>
            <a:ext cx="4316730"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Falta de estandarización Open Finance</a:t>
            </a:r>
            <a:endParaRPr lang="en-US" sz="2025" dirty="0"/>
          </a:p>
        </p:txBody>
      </p:sp>
      <p:sp>
        <p:nvSpPr>
          <p:cNvPr id="13" name="Shape 11"/>
          <p:cNvSpPr/>
          <p:nvPr/>
        </p:nvSpPr>
        <p:spPr>
          <a:xfrm rot="1320001">
            <a:off x="9416962" y="4170835"/>
            <a:ext cx="47625" cy="1457325"/>
          </a:xfrm>
          <a:prstGeom prst="rect">
            <a:avLst/>
          </a:prstGeom>
          <a:solidFill>
            <a:srgbClr val="17191D"/>
          </a:solidFill>
          <a:ln/>
        </p:spPr>
      </p:sp>
      <p:sp>
        <p:nvSpPr>
          <p:cNvPr id="14" name="Text 12"/>
          <p:cNvSpPr/>
          <p:nvPr/>
        </p:nvSpPr>
        <p:spPr>
          <a:xfrm>
            <a:off x="7429500" y="1831777"/>
            <a:ext cx="4610100"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3D6B9E"/>
                </a:solidFill>
                <a:latin typeface="Arial" pitchFamily="34" charset="0"/>
                <a:ea typeface="Arial" pitchFamily="34" charset="-122"/>
                <a:cs typeface="Arial" pitchFamily="34" charset="-120"/>
              </a:rPr>
              <a:t>Metodologías y algoritmos</a:t>
            </a:r>
            <a:endParaRPr lang="en-US" sz="2325" dirty="0"/>
          </a:p>
        </p:txBody>
      </p:sp>
      <p:sp>
        <p:nvSpPr>
          <p:cNvPr id="15" name="Text 13"/>
          <p:cNvSpPr/>
          <p:nvPr/>
        </p:nvSpPr>
        <p:spPr>
          <a:xfrm>
            <a:off x="7429500" y="2288977"/>
            <a:ext cx="4316730"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Modelos logísticos lineales anacrónicos</a:t>
            </a:r>
            <a:endParaRPr lang="en-US" sz="2025" dirty="0"/>
          </a:p>
        </p:txBody>
      </p:sp>
      <p:sp>
        <p:nvSpPr>
          <p:cNvPr id="16" name="Text 14"/>
          <p:cNvSpPr/>
          <p:nvPr/>
        </p:nvSpPr>
        <p:spPr>
          <a:xfrm>
            <a:off x="7429500" y="3071813"/>
            <a:ext cx="4316730"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Dependencia absoluta de burós clásicos</a:t>
            </a:r>
            <a:endParaRPr lang="en-US" sz="2025" dirty="0"/>
          </a:p>
        </p:txBody>
      </p:sp>
      <p:sp>
        <p:nvSpPr>
          <p:cNvPr id="17" name="Text 15"/>
          <p:cNvSpPr/>
          <p:nvPr/>
        </p:nvSpPr>
        <p:spPr>
          <a:xfrm>
            <a:off x="7429500" y="3854648"/>
            <a:ext cx="4316730"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Sin métricas de variabilidad estacional</a:t>
            </a:r>
            <a:endParaRPr lang="en-US" sz="2025" dirty="0"/>
          </a:p>
        </p:txBody>
      </p:sp>
      <p:sp>
        <p:nvSpPr>
          <p:cNvPr id="18" name="Shape 16"/>
          <p:cNvSpPr/>
          <p:nvPr/>
        </p:nvSpPr>
        <p:spPr>
          <a:xfrm rot="-1320001">
            <a:off x="3892462" y="5493468"/>
            <a:ext cx="47625" cy="1457325"/>
          </a:xfrm>
          <a:prstGeom prst="rect">
            <a:avLst/>
          </a:prstGeom>
          <a:solidFill>
            <a:srgbClr val="17191D"/>
          </a:solidFill>
          <a:ln/>
        </p:spPr>
      </p:sp>
      <p:sp>
        <p:nvSpPr>
          <p:cNvPr id="19" name="Text 17"/>
          <p:cNvSpPr/>
          <p:nvPr/>
        </p:nvSpPr>
        <p:spPr>
          <a:xfrm>
            <a:off x="1905000" y="7070527"/>
            <a:ext cx="4610100"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B5623C"/>
                </a:solidFill>
                <a:latin typeface="Arial" pitchFamily="34" charset="0"/>
                <a:ea typeface="Arial" pitchFamily="34" charset="-122"/>
                <a:cs typeface="Arial" pitchFamily="34" charset="-120"/>
              </a:rPr>
              <a:t>Cultura y aversión al riesgo</a:t>
            </a:r>
            <a:endParaRPr lang="en-US" sz="2325" dirty="0"/>
          </a:p>
        </p:txBody>
      </p:sp>
      <p:sp>
        <p:nvSpPr>
          <p:cNvPr id="20" name="Text 18"/>
          <p:cNvSpPr/>
          <p:nvPr/>
        </p:nvSpPr>
        <p:spPr>
          <a:xfrm>
            <a:off x="1905000" y="7527727"/>
            <a:ext cx="4610100" cy="372368"/>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Sesgo cognitivo: asalariado = seguro</a:t>
            </a:r>
            <a:endParaRPr lang="en-US" sz="2025" dirty="0"/>
          </a:p>
        </p:txBody>
      </p:sp>
      <p:sp>
        <p:nvSpPr>
          <p:cNvPr id="21" name="Text 19"/>
          <p:cNvSpPr/>
          <p:nvPr/>
        </p:nvSpPr>
        <p:spPr>
          <a:xfrm>
            <a:off x="1905000" y="7976295"/>
            <a:ext cx="4316730"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Desconfianza histórica al independiente</a:t>
            </a:r>
            <a:endParaRPr lang="en-US" sz="2025" dirty="0"/>
          </a:p>
        </p:txBody>
      </p:sp>
      <p:sp>
        <p:nvSpPr>
          <p:cNvPr id="22" name="Text 20"/>
          <p:cNvSpPr/>
          <p:nvPr/>
        </p:nvSpPr>
        <p:spPr>
          <a:xfrm>
            <a:off x="1905000" y="8759130"/>
            <a:ext cx="4316730"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Aversión del oficial de crédito a auditar</a:t>
            </a:r>
            <a:endParaRPr lang="en-US" sz="2025" dirty="0"/>
          </a:p>
        </p:txBody>
      </p:sp>
      <p:sp>
        <p:nvSpPr>
          <p:cNvPr id="23" name="Shape 21"/>
          <p:cNvSpPr/>
          <p:nvPr/>
        </p:nvSpPr>
        <p:spPr>
          <a:xfrm rot="-1320001">
            <a:off x="9416962" y="5493468"/>
            <a:ext cx="47625" cy="1457325"/>
          </a:xfrm>
          <a:prstGeom prst="rect">
            <a:avLst/>
          </a:prstGeom>
          <a:solidFill>
            <a:srgbClr val="17191D"/>
          </a:solidFill>
          <a:ln/>
        </p:spPr>
      </p:sp>
      <p:sp>
        <p:nvSpPr>
          <p:cNvPr id="24" name="Text 22"/>
          <p:cNvSpPr/>
          <p:nvPr/>
        </p:nvSpPr>
        <p:spPr>
          <a:xfrm>
            <a:off x="7429500" y="7070527"/>
            <a:ext cx="4610100" cy="381000"/>
          </a:xfrm>
          <a:prstGeom prst="rect">
            <a:avLst/>
          </a:prstGeom>
          <a:noFill/>
          <a:ln/>
        </p:spPr>
        <p:txBody>
          <a:bodyPr wrap="square" lIns="25400" tIns="25400" rIns="25400" bIns="25400" rtlCol="0" anchor="t">
            <a:normAutofit/>
          </a:bodyPr>
          <a:lstStyle/>
          <a:p>
            <a:pPr algn="l" indent="0" marL="0">
              <a:buNone/>
            </a:pPr>
            <a:r>
              <a:rPr lang="en-US" sz="2325" b="1" dirty="0">
                <a:solidFill>
                  <a:srgbClr val="B5623C"/>
                </a:solidFill>
                <a:latin typeface="Arial" pitchFamily="34" charset="0"/>
                <a:ea typeface="Arial" pitchFamily="34" charset="-122"/>
                <a:cs typeface="Arial" pitchFamily="34" charset="-120"/>
              </a:rPr>
              <a:t>Regulación y producto rígido</a:t>
            </a:r>
            <a:endParaRPr lang="en-US" sz="2325" dirty="0"/>
          </a:p>
        </p:txBody>
      </p:sp>
      <p:sp>
        <p:nvSpPr>
          <p:cNvPr id="25" name="Text 23"/>
          <p:cNvSpPr/>
          <p:nvPr/>
        </p:nvSpPr>
        <p:spPr>
          <a:xfrm>
            <a:off x="7429500" y="7527727"/>
            <a:ext cx="4316730"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Miedo a sanciones de la SFC por “caja negra”</a:t>
            </a:r>
            <a:endParaRPr lang="en-US" sz="2025" dirty="0"/>
          </a:p>
        </p:txBody>
      </p:sp>
      <p:sp>
        <p:nvSpPr>
          <p:cNvPr id="26" name="Text 24"/>
          <p:cNvSpPr/>
          <p:nvPr/>
        </p:nvSpPr>
        <p:spPr>
          <a:xfrm>
            <a:off x="7429500" y="8310562"/>
            <a:ext cx="4316730"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Políticas de crédito estándar no adaptativas</a:t>
            </a:r>
            <a:endParaRPr lang="en-US" sz="2025" dirty="0"/>
          </a:p>
        </p:txBody>
      </p:sp>
      <p:sp>
        <p:nvSpPr>
          <p:cNvPr id="27" name="Text 25"/>
          <p:cNvSpPr/>
          <p:nvPr/>
        </p:nvSpPr>
        <p:spPr>
          <a:xfrm>
            <a:off x="7429500" y="9093398"/>
            <a:ext cx="4610100" cy="372368"/>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42464D"/>
                </a:solidFill>
                <a:latin typeface="Arial" pitchFamily="34" charset="0"/>
                <a:ea typeface="Arial" pitchFamily="34" charset="-122"/>
                <a:cs typeface="Arial" pitchFamily="34" charset="-120"/>
              </a:rPr>
              <a:t>Inflexibilidad en amortizaciones</a:t>
            </a:r>
            <a:endParaRPr lang="en-US" sz="20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CAUSAS DURAS · INFRAESTRUCTURA Y MODELADO</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17191D"/>
                </a:solidFill>
                <a:latin typeface="Arial" pitchFamily="34" charset="0"/>
                <a:ea typeface="Arial" pitchFamily="34" charset="-122"/>
                <a:cs typeface="Arial" pitchFamily="34" charset="-120"/>
              </a:rPr>
              <a:t>Lo que falla en la máquina</a:t>
            </a:r>
            <a:endParaRPr lang="en-US" sz="4500" dirty="0"/>
          </a:p>
        </p:txBody>
      </p:sp>
      <p:sp>
        <p:nvSpPr>
          <p:cNvPr id="4" name="Shape 2"/>
          <p:cNvSpPr/>
          <p:nvPr/>
        </p:nvSpPr>
        <p:spPr>
          <a:xfrm>
            <a:off x="1047750" y="2369790"/>
            <a:ext cx="5168801" cy="3622774"/>
          </a:xfrm>
          <a:prstGeom prst="rect">
            <a:avLst/>
          </a:prstGeom>
          <a:solidFill>
            <a:srgbClr val="E8E4DC"/>
          </a:solidFill>
          <a:ln/>
        </p:spPr>
      </p:sp>
      <p:sp>
        <p:nvSpPr>
          <p:cNvPr id="5" name="Text 3"/>
          <p:cNvSpPr/>
          <p:nvPr/>
        </p:nvSpPr>
        <p:spPr>
          <a:xfrm>
            <a:off x="1371600" y="2712690"/>
            <a:ext cx="4973211"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5623C"/>
                </a:solidFill>
                <a:latin typeface="Courier New" pitchFamily="34" charset="0"/>
                <a:ea typeface="Courier New" pitchFamily="34" charset="-122"/>
                <a:cs typeface="Courier New" pitchFamily="34" charset="-120"/>
              </a:rPr>
              <a:t>01</a:t>
            </a:r>
            <a:endParaRPr lang="en-US" sz="1950" dirty="0"/>
          </a:p>
        </p:txBody>
      </p:sp>
      <p:sp>
        <p:nvSpPr>
          <p:cNvPr id="6" name="Text 4"/>
          <p:cNvSpPr/>
          <p:nvPr/>
        </p:nvSpPr>
        <p:spPr>
          <a:xfrm>
            <a:off x="1371600" y="3207990"/>
            <a:ext cx="4656734" cy="81528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17191D"/>
                </a:solidFill>
                <a:latin typeface="Arial" pitchFamily="34" charset="0"/>
                <a:ea typeface="Arial" pitchFamily="34" charset="-122"/>
                <a:cs typeface="Arial" pitchFamily="34" charset="-120"/>
              </a:rPr>
              <a:t>Modelos estadísticos anacrónicos</a:t>
            </a:r>
            <a:endParaRPr lang="en-US" sz="2550" dirty="0"/>
          </a:p>
        </p:txBody>
      </p:sp>
      <p:sp>
        <p:nvSpPr>
          <p:cNvPr id="7" name="Text 5"/>
          <p:cNvSpPr/>
          <p:nvPr/>
        </p:nvSpPr>
        <p:spPr>
          <a:xfrm>
            <a:off x="1371600" y="4156621"/>
            <a:ext cx="4656734" cy="1531144"/>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2464D"/>
                </a:solidFill>
                <a:latin typeface="Arial" pitchFamily="34" charset="0"/>
                <a:ea typeface="Arial" pitchFamily="34" charset="-122"/>
                <a:cs typeface="Arial" pitchFamily="34" charset="-120"/>
              </a:rPr>
              <a:t>Los scores lineales colapsan ante ingresos variables: leen la estacionalidad normal de un negocio como deterioro financiero.</a:t>
            </a:r>
            <a:endParaRPr lang="en-US" sz="2100" dirty="0"/>
          </a:p>
        </p:txBody>
      </p:sp>
      <p:sp>
        <p:nvSpPr>
          <p:cNvPr id="8" name="Shape 6"/>
          <p:cNvSpPr/>
          <p:nvPr/>
        </p:nvSpPr>
        <p:spPr>
          <a:xfrm>
            <a:off x="6559451" y="2369790"/>
            <a:ext cx="5168950" cy="3622774"/>
          </a:xfrm>
          <a:prstGeom prst="rect">
            <a:avLst/>
          </a:prstGeom>
          <a:solidFill>
            <a:srgbClr val="E8E4DC"/>
          </a:solidFill>
          <a:ln/>
        </p:spPr>
      </p:sp>
      <p:sp>
        <p:nvSpPr>
          <p:cNvPr id="9" name="Text 7"/>
          <p:cNvSpPr/>
          <p:nvPr/>
        </p:nvSpPr>
        <p:spPr>
          <a:xfrm>
            <a:off x="6883301" y="2712690"/>
            <a:ext cx="4973375"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5623C"/>
                </a:solidFill>
                <a:latin typeface="Courier New" pitchFamily="34" charset="0"/>
                <a:ea typeface="Courier New" pitchFamily="34" charset="-122"/>
                <a:cs typeface="Courier New" pitchFamily="34" charset="-120"/>
              </a:rPr>
              <a:t>02</a:t>
            </a:r>
            <a:endParaRPr lang="en-US" sz="1950" dirty="0"/>
          </a:p>
        </p:txBody>
      </p:sp>
      <p:sp>
        <p:nvSpPr>
          <p:cNvPr id="10" name="Text 8"/>
          <p:cNvSpPr/>
          <p:nvPr/>
        </p:nvSpPr>
        <p:spPr>
          <a:xfrm>
            <a:off x="6883301" y="3207990"/>
            <a:ext cx="4973375" cy="42669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17191D"/>
                </a:solidFill>
                <a:latin typeface="Arial" pitchFamily="34" charset="0"/>
                <a:ea typeface="Arial" pitchFamily="34" charset="-122"/>
                <a:cs typeface="Arial" pitchFamily="34" charset="-120"/>
              </a:rPr>
              <a:t>Fragmentación y silos de datos</a:t>
            </a:r>
            <a:endParaRPr lang="en-US" sz="2550" dirty="0"/>
          </a:p>
        </p:txBody>
      </p:sp>
      <p:sp>
        <p:nvSpPr>
          <p:cNvPr id="11" name="Text 9"/>
          <p:cNvSpPr/>
          <p:nvPr/>
        </p:nvSpPr>
        <p:spPr>
          <a:xfrm>
            <a:off x="6883301" y="3768030"/>
            <a:ext cx="4656887" cy="1531144"/>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2464D"/>
                </a:solidFill>
                <a:latin typeface="Arial" pitchFamily="34" charset="0"/>
                <a:ea typeface="Arial" pitchFamily="34" charset="-122"/>
                <a:cs typeface="Arial" pitchFamily="34" charset="-120"/>
              </a:rPr>
              <a:t>Facturas DIAN, billeteras y pagos a distribuidores existen, pero dispersos, desestructurados y sin ingesta automatizada.</a:t>
            </a:r>
            <a:endParaRPr lang="en-US" sz="2100" dirty="0"/>
          </a:p>
        </p:txBody>
      </p:sp>
      <p:sp>
        <p:nvSpPr>
          <p:cNvPr id="12" name="Shape 10"/>
          <p:cNvSpPr/>
          <p:nvPr/>
        </p:nvSpPr>
        <p:spPr>
          <a:xfrm>
            <a:off x="12071300" y="2369790"/>
            <a:ext cx="5168950" cy="3622774"/>
          </a:xfrm>
          <a:prstGeom prst="rect">
            <a:avLst/>
          </a:prstGeom>
          <a:solidFill>
            <a:srgbClr val="E8E4DC"/>
          </a:solidFill>
          <a:ln/>
        </p:spPr>
      </p:sp>
      <p:sp>
        <p:nvSpPr>
          <p:cNvPr id="13" name="Text 11"/>
          <p:cNvSpPr/>
          <p:nvPr/>
        </p:nvSpPr>
        <p:spPr>
          <a:xfrm>
            <a:off x="12395150" y="2712690"/>
            <a:ext cx="4973375" cy="361950"/>
          </a:xfrm>
          <a:prstGeom prst="rect">
            <a:avLst/>
          </a:prstGeom>
          <a:noFill/>
          <a:ln/>
        </p:spPr>
        <p:txBody>
          <a:bodyPr wrap="square" lIns="25400" tIns="25400" rIns="25400" bIns="25400" rtlCol="0" anchor="t">
            <a:normAutofit/>
          </a:bodyPr>
          <a:lstStyle/>
          <a:p>
            <a:pPr algn="l" indent="0" marL="0">
              <a:buNone/>
            </a:pPr>
            <a:r>
              <a:rPr lang="en-US" sz="1950" dirty="0">
                <a:solidFill>
                  <a:srgbClr val="B5623C"/>
                </a:solidFill>
                <a:latin typeface="Courier New" pitchFamily="34" charset="0"/>
                <a:ea typeface="Courier New" pitchFamily="34" charset="-122"/>
                <a:cs typeface="Courier New" pitchFamily="34" charset="-120"/>
              </a:rPr>
              <a:t>03</a:t>
            </a:r>
            <a:endParaRPr lang="en-US" sz="1950" dirty="0"/>
          </a:p>
        </p:txBody>
      </p:sp>
      <p:sp>
        <p:nvSpPr>
          <p:cNvPr id="14" name="Text 12"/>
          <p:cNvSpPr/>
          <p:nvPr/>
        </p:nvSpPr>
        <p:spPr>
          <a:xfrm>
            <a:off x="12395150" y="3207990"/>
            <a:ext cx="4656887" cy="815280"/>
          </a:xfrm>
          <a:prstGeom prst="rect">
            <a:avLst/>
          </a:prstGeom>
          <a:noFill/>
          <a:ln/>
        </p:spPr>
        <p:txBody>
          <a:bodyPr wrap="square" lIns="25400" tIns="25400" rIns="25400" bIns="25400" rtlCol="0" anchor="t">
            <a:normAutofit/>
          </a:bodyPr>
          <a:lstStyle/>
          <a:p>
            <a:pPr algn="l" indent="0" marL="0">
              <a:lnSpc>
                <a:spcPct val="104615"/>
              </a:lnSpc>
              <a:buNone/>
            </a:pPr>
            <a:r>
              <a:rPr lang="en-US" sz="2550" b="1" dirty="0">
                <a:solidFill>
                  <a:srgbClr val="17191D"/>
                </a:solidFill>
                <a:latin typeface="Arial" pitchFamily="34" charset="0"/>
                <a:ea typeface="Arial" pitchFamily="34" charset="-122"/>
                <a:cs typeface="Arial" pitchFamily="34" charset="-120"/>
              </a:rPr>
              <a:t>Sin inferencia causal en producción</a:t>
            </a:r>
            <a:endParaRPr lang="en-US" sz="2550" dirty="0"/>
          </a:p>
        </p:txBody>
      </p:sp>
      <p:sp>
        <p:nvSpPr>
          <p:cNvPr id="15" name="Text 13"/>
          <p:cNvSpPr/>
          <p:nvPr/>
        </p:nvSpPr>
        <p:spPr>
          <a:xfrm>
            <a:off x="12395150" y="4156621"/>
            <a:ext cx="4656887" cy="1531144"/>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2464D"/>
                </a:solidFill>
                <a:latin typeface="Arial" pitchFamily="34" charset="0"/>
                <a:ea typeface="Arial" pitchFamily="34" charset="-122"/>
                <a:cs typeface="Arial" pitchFamily="34" charset="-120"/>
              </a:rPr>
              <a:t>La analítica es puramente correlacional: confunde el código postal o un cambio temporal de actividad con riesgo intrínseco.</a:t>
            </a:r>
            <a:endParaRPr lang="en-US" sz="2100" dirty="0"/>
          </a:p>
        </p:txBody>
      </p:sp>
      <p:sp>
        <p:nvSpPr>
          <p:cNvPr id="16" name="Text 14"/>
          <p:cNvSpPr/>
          <p:nvPr/>
        </p:nvSpPr>
        <p:spPr>
          <a:xfrm>
            <a:off x="1047750" y="7515671"/>
            <a:ext cx="10713339" cy="839093"/>
          </a:xfrm>
          <a:prstGeom prst="rect">
            <a:avLst/>
          </a:prstGeom>
          <a:noFill/>
          <a:ln/>
        </p:spPr>
        <p:txBody>
          <a:bodyPr wrap="square" lIns="25400" tIns="25400" rIns="25400" bIns="25400" rtlCol="0" anchor="t">
            <a:normAutofit/>
          </a:bodyPr>
          <a:lstStyle/>
          <a:p>
            <a:pPr algn="l" indent="0" marL="0">
              <a:lnSpc>
                <a:spcPct val="127424"/>
              </a:lnSpc>
              <a:buNone/>
            </a:pPr>
            <a:r>
              <a:rPr lang="en-US" sz="2175" dirty="0">
                <a:solidFill>
                  <a:srgbClr val="42464D"/>
                </a:solidFill>
                <a:latin typeface="Arial" pitchFamily="34" charset="0"/>
                <a:ea typeface="Arial" pitchFamily="34" charset="-122"/>
                <a:cs typeface="Arial" pitchFamily="34" charset="-120"/>
              </a:rPr>
              <a:t>El mismo ingreso anual, leído con dos instrumentos distintos: el modelo lineal ve seis meses de deterioro donde hay un ciclo comercial normal.</a:t>
            </a:r>
            <a:endParaRPr lang="en-US" sz="21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FA3CA"/>
                </a:solidFill>
                <a:latin typeface="Courier New" pitchFamily="34" charset="0"/>
                <a:ea typeface="Courier New" pitchFamily="34" charset="-122"/>
                <a:cs typeface="Courier New" pitchFamily="34" charset="-120"/>
              </a:rPr>
              <a:t>CAUSAS BLANDAS · CULTURA E INSTITUCIÓN</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F5F3EF"/>
                </a:solidFill>
                <a:latin typeface="Arial" pitchFamily="34" charset="0"/>
                <a:ea typeface="Arial" pitchFamily="34" charset="-122"/>
                <a:cs typeface="Arial" pitchFamily="34" charset="-120"/>
              </a:rPr>
              <a:t>Lo que falla en las personas</a:t>
            </a:r>
            <a:endParaRPr lang="en-US" sz="4500" dirty="0"/>
          </a:p>
        </p:txBody>
      </p:sp>
      <p:sp>
        <p:nvSpPr>
          <p:cNvPr id="4" name="Shape 2"/>
          <p:cNvSpPr/>
          <p:nvPr/>
        </p:nvSpPr>
        <p:spPr>
          <a:xfrm>
            <a:off x="1047750" y="2369790"/>
            <a:ext cx="16192500" cy="19050"/>
          </a:xfrm>
          <a:prstGeom prst="rect">
            <a:avLst/>
          </a:prstGeom>
          <a:solidFill>
            <a:srgbClr val="2C3340"/>
          </a:solidFill>
          <a:ln/>
        </p:spPr>
      </p:sp>
      <p:sp>
        <p:nvSpPr>
          <p:cNvPr id="5" name="Text 3"/>
          <p:cNvSpPr/>
          <p:nvPr/>
        </p:nvSpPr>
        <p:spPr>
          <a:xfrm>
            <a:off x="1047750" y="2712690"/>
            <a:ext cx="6582093" cy="1239589"/>
          </a:xfrm>
          <a:prstGeom prst="rect">
            <a:avLst/>
          </a:prstGeom>
          <a:noFill/>
          <a:ln/>
        </p:spPr>
        <p:txBody>
          <a:bodyPr wrap="square" lIns="25400" tIns="25400" rIns="25400" bIns="25400" rtlCol="0" anchor="t">
            <a:normAutofit/>
          </a:bodyPr>
          <a:lstStyle/>
          <a:p>
            <a:pPr algn="l" indent="0" marL="0">
              <a:lnSpc>
                <a:spcPct val="102857"/>
              </a:lnSpc>
              <a:buNone/>
            </a:pPr>
            <a:r>
              <a:rPr lang="en-US" sz="2700" b="1" dirty="0">
                <a:solidFill>
                  <a:srgbClr val="F5F3EF"/>
                </a:solidFill>
                <a:latin typeface="Arial" pitchFamily="34" charset="0"/>
                <a:ea typeface="Arial" pitchFamily="34" charset="-122"/>
                <a:cs typeface="Arial" pitchFamily="34" charset="-120"/>
              </a:rPr>
              <a:t>Sesgo institucional del empleo formal</a:t>
            </a:r>
            <a:endParaRPr lang="en-US" sz="2700" dirty="0"/>
          </a:p>
        </p:txBody>
      </p:sp>
      <p:sp>
        <p:nvSpPr>
          <p:cNvPr id="6" name="Text 4"/>
          <p:cNvSpPr/>
          <p:nvPr/>
        </p:nvSpPr>
        <p:spPr>
          <a:xfrm>
            <a:off x="8009632" y="2712690"/>
            <a:ext cx="9507537" cy="1239589"/>
          </a:xfrm>
          <a:prstGeom prst="rect">
            <a:avLst/>
          </a:prstGeom>
          <a:noFill/>
          <a:ln/>
        </p:spPr>
        <p:txBody>
          <a:bodyPr wrap="square" lIns="25400" tIns="25400" rIns="25400" bIns="25400" rtlCol="0" anchor="t">
            <a:normAutofit/>
          </a:bodyPr>
          <a:lstStyle/>
          <a:p>
            <a:pPr algn="l" indent="0" marL="0">
              <a:lnSpc>
                <a:spcPct val="127424"/>
              </a:lnSpc>
              <a:buNone/>
            </a:pPr>
            <a:r>
              <a:rPr lang="en-US" sz="2175" dirty="0">
                <a:solidFill>
                  <a:srgbClr val="C9CDD4"/>
                </a:solidFill>
                <a:latin typeface="Arial" pitchFamily="34" charset="0"/>
                <a:ea typeface="Arial" pitchFamily="34" charset="-122"/>
                <a:cs typeface="Arial" pitchFamily="34" charset="-120"/>
              </a:rPr>
              <a:t>La cultura crediticia fue concebida bajo el ideal del empleado de nómina estable. Todo perfil que se aparte de ese arquetipo se percibe como sospechoso.</a:t>
            </a:r>
            <a:endParaRPr lang="en-US" sz="2175" dirty="0"/>
          </a:p>
        </p:txBody>
      </p:sp>
      <p:sp>
        <p:nvSpPr>
          <p:cNvPr id="7" name="Shape 5"/>
          <p:cNvSpPr/>
          <p:nvPr/>
        </p:nvSpPr>
        <p:spPr>
          <a:xfrm>
            <a:off x="1047750" y="4238030"/>
            <a:ext cx="16192500" cy="19050"/>
          </a:xfrm>
          <a:prstGeom prst="rect">
            <a:avLst/>
          </a:prstGeom>
          <a:solidFill>
            <a:srgbClr val="2C3340"/>
          </a:solidFill>
          <a:ln/>
        </p:spPr>
      </p:sp>
      <p:sp>
        <p:nvSpPr>
          <p:cNvPr id="8" name="Text 6"/>
          <p:cNvSpPr/>
          <p:nvPr/>
        </p:nvSpPr>
        <p:spPr>
          <a:xfrm>
            <a:off x="1047750" y="4580930"/>
            <a:ext cx="6582093" cy="839093"/>
          </a:xfrm>
          <a:prstGeom prst="rect">
            <a:avLst/>
          </a:prstGeom>
          <a:noFill/>
          <a:ln/>
        </p:spPr>
        <p:txBody>
          <a:bodyPr wrap="square" lIns="25400" tIns="25400" rIns="25400" bIns="25400" rtlCol="0" anchor="t">
            <a:normAutofit/>
          </a:bodyPr>
          <a:lstStyle/>
          <a:p>
            <a:pPr algn="l" indent="0" marL="0">
              <a:lnSpc>
                <a:spcPct val="102857"/>
              </a:lnSpc>
              <a:buNone/>
            </a:pPr>
            <a:r>
              <a:rPr lang="en-US" sz="2700" b="1" dirty="0">
                <a:solidFill>
                  <a:srgbClr val="F5F3EF"/>
                </a:solidFill>
                <a:latin typeface="Arial" pitchFamily="34" charset="0"/>
                <a:ea typeface="Arial" pitchFamily="34" charset="-122"/>
                <a:cs typeface="Arial" pitchFamily="34" charset="-120"/>
              </a:rPr>
              <a:t>Aversión regulatoria del comité</a:t>
            </a:r>
            <a:endParaRPr lang="en-US" sz="2700" dirty="0"/>
          </a:p>
        </p:txBody>
      </p:sp>
      <p:sp>
        <p:nvSpPr>
          <p:cNvPr id="9" name="Text 7"/>
          <p:cNvSpPr/>
          <p:nvPr/>
        </p:nvSpPr>
        <p:spPr>
          <a:xfrm>
            <a:off x="8009632" y="4580930"/>
            <a:ext cx="9507537" cy="839093"/>
          </a:xfrm>
          <a:prstGeom prst="rect">
            <a:avLst/>
          </a:prstGeom>
          <a:noFill/>
          <a:ln/>
        </p:spPr>
        <p:txBody>
          <a:bodyPr wrap="square" lIns="25400" tIns="25400" rIns="25400" bIns="25400" rtlCol="0" anchor="t">
            <a:normAutofit/>
          </a:bodyPr>
          <a:lstStyle/>
          <a:p>
            <a:pPr algn="l" indent="0" marL="0">
              <a:lnSpc>
                <a:spcPct val="127424"/>
              </a:lnSpc>
              <a:buNone/>
            </a:pPr>
            <a:r>
              <a:rPr lang="en-US" sz="2175" dirty="0">
                <a:solidFill>
                  <a:srgbClr val="C9CDD4"/>
                </a:solidFill>
                <a:latin typeface="Arial" pitchFamily="34" charset="0"/>
                <a:ea typeface="Arial" pitchFamily="34" charset="-122"/>
                <a:cs typeface="Arial" pitchFamily="34" charset="-120"/>
              </a:rPr>
              <a:t>Los comités prefieren rechazar créditos rentables antes que justificar un algoritmo no convencional ante una auditoría de la Superintendencia.</a:t>
            </a:r>
            <a:endParaRPr lang="en-US" sz="2175" dirty="0"/>
          </a:p>
        </p:txBody>
      </p:sp>
      <p:sp>
        <p:nvSpPr>
          <p:cNvPr id="10" name="Shape 8"/>
          <p:cNvSpPr/>
          <p:nvPr/>
        </p:nvSpPr>
        <p:spPr>
          <a:xfrm>
            <a:off x="1047750" y="7173516"/>
            <a:ext cx="16192500" cy="19050"/>
          </a:xfrm>
          <a:prstGeom prst="rect">
            <a:avLst/>
          </a:prstGeom>
          <a:solidFill>
            <a:srgbClr val="2C3340"/>
          </a:solidFill>
          <a:ln/>
        </p:spPr>
      </p:sp>
      <p:sp>
        <p:nvSpPr>
          <p:cNvPr id="11" name="Shape 9"/>
          <p:cNvSpPr/>
          <p:nvPr/>
        </p:nvSpPr>
        <p:spPr>
          <a:xfrm>
            <a:off x="1047750" y="5705773"/>
            <a:ext cx="16192500" cy="19050"/>
          </a:xfrm>
          <a:prstGeom prst="rect">
            <a:avLst/>
          </a:prstGeom>
          <a:solidFill>
            <a:srgbClr val="2C3340"/>
          </a:solidFill>
          <a:ln/>
        </p:spPr>
      </p:sp>
      <p:sp>
        <p:nvSpPr>
          <p:cNvPr id="12" name="Text 10"/>
          <p:cNvSpPr/>
          <p:nvPr/>
        </p:nvSpPr>
        <p:spPr>
          <a:xfrm>
            <a:off x="1047750" y="6048673"/>
            <a:ext cx="6582093" cy="839093"/>
          </a:xfrm>
          <a:prstGeom prst="rect">
            <a:avLst/>
          </a:prstGeom>
          <a:noFill/>
          <a:ln/>
        </p:spPr>
        <p:txBody>
          <a:bodyPr wrap="square" lIns="25400" tIns="25400" rIns="25400" bIns="25400" rtlCol="0" anchor="t">
            <a:normAutofit/>
          </a:bodyPr>
          <a:lstStyle/>
          <a:p>
            <a:pPr algn="l" indent="0" marL="0">
              <a:lnSpc>
                <a:spcPct val="102857"/>
              </a:lnSpc>
              <a:buNone/>
            </a:pPr>
            <a:r>
              <a:rPr lang="en-US" sz="2700" b="1" dirty="0">
                <a:solidFill>
                  <a:srgbClr val="F5F3EF"/>
                </a:solidFill>
                <a:latin typeface="Arial" pitchFamily="34" charset="0"/>
                <a:ea typeface="Arial" pitchFamily="34" charset="-122"/>
                <a:cs typeface="Arial" pitchFamily="34" charset="-120"/>
              </a:rPr>
              <a:t>Fricción psicológica del solicitante</a:t>
            </a:r>
            <a:endParaRPr lang="en-US" sz="2700" dirty="0"/>
          </a:p>
        </p:txBody>
      </p:sp>
      <p:sp>
        <p:nvSpPr>
          <p:cNvPr id="13" name="Text 11"/>
          <p:cNvSpPr/>
          <p:nvPr/>
        </p:nvSpPr>
        <p:spPr>
          <a:xfrm>
            <a:off x="8009632" y="6048673"/>
            <a:ext cx="9507537" cy="839093"/>
          </a:xfrm>
          <a:prstGeom prst="rect">
            <a:avLst/>
          </a:prstGeom>
          <a:noFill/>
          <a:ln/>
        </p:spPr>
        <p:txBody>
          <a:bodyPr wrap="square" lIns="25400" tIns="25400" rIns="25400" bIns="25400" rtlCol="0" anchor="t">
            <a:normAutofit/>
          </a:bodyPr>
          <a:lstStyle/>
          <a:p>
            <a:pPr algn="l" indent="0" marL="0">
              <a:lnSpc>
                <a:spcPct val="127424"/>
              </a:lnSpc>
              <a:buNone/>
            </a:pPr>
            <a:r>
              <a:rPr lang="en-US" sz="2175" dirty="0">
                <a:solidFill>
                  <a:srgbClr val="C9CDD4"/>
                </a:solidFill>
                <a:latin typeface="Arial" pitchFamily="34" charset="0"/>
                <a:ea typeface="Arial" pitchFamily="34" charset="-122"/>
                <a:cs typeface="Arial" pitchFamily="34" charset="-120"/>
              </a:rPr>
              <a:t>Agotado de adjuntar decenas de soportes y ser rechazado, el independiente abandona el canal formal y migra a soluciones informales.</a:t>
            </a:r>
            <a:endParaRPr lang="en-US" sz="21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820400" y="6785670"/>
            <a:ext cx="6705600" cy="3158430"/>
          </a:xfrm>
          <a:prstGeom prst="rect">
            <a:avLst/>
          </a:prstGeom>
          <a:noFill/>
          <a:ln/>
        </p:spPr>
        <p:txBody>
          <a:bodyPr wrap="square" lIns="25400" tIns="25400" rIns="25400" bIns="25400" rtlCol="0" anchor="t">
            <a:normAutofit/>
          </a:bodyPr>
          <a:lstStyle/>
          <a:p>
            <a:pPr algn="r" indent="0" marL="0">
              <a:lnSpc>
                <a:spcPct val="67826"/>
              </a:lnSpc>
              <a:buNone/>
            </a:pPr>
            <a:r>
              <a:rPr lang="en-US" sz="31500" b="1" spc="-1260" kern="0" dirty="0">
                <a:solidFill>
                  <a:srgbClr val="1D2530"/>
                </a:solidFill>
                <a:latin typeface="Arial" pitchFamily="34" charset="0"/>
                <a:ea typeface="Arial" pitchFamily="34" charset="-122"/>
                <a:cs typeface="Arial" pitchFamily="34" charset="-120"/>
              </a:rPr>
              <a:t>04</a:t>
            </a:r>
            <a:endParaRPr lang="en-US" sz="31500" dirty="0"/>
          </a:p>
        </p:txBody>
      </p:sp>
      <p:sp>
        <p:nvSpPr>
          <p:cNvPr id="3" name="Shape 1"/>
          <p:cNvSpPr/>
          <p:nvPr/>
        </p:nvSpPr>
        <p:spPr>
          <a:xfrm>
            <a:off x="0" y="0"/>
            <a:ext cx="171450" cy="10287000"/>
          </a:xfrm>
          <a:prstGeom prst="rect">
            <a:avLst/>
          </a:prstGeom>
          <a:solidFill>
            <a:srgbClr val="B5623C"/>
          </a:solidFill>
          <a:ln/>
        </p:spPr>
      </p:sp>
      <p:sp>
        <p:nvSpPr>
          <p:cNvPr id="4" name="Text 2"/>
          <p:cNvSpPr/>
          <p:nvPr/>
        </p:nvSpPr>
        <p:spPr>
          <a:xfrm>
            <a:off x="1047750" y="4025205"/>
            <a:ext cx="178117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E2A684"/>
                </a:solidFill>
                <a:latin typeface="Courier New" pitchFamily="34" charset="0"/>
                <a:ea typeface="Courier New" pitchFamily="34" charset="-122"/>
                <a:cs typeface="Courier New" pitchFamily="34" charset="-120"/>
              </a:rPr>
              <a:t>ACTO 4</a:t>
            </a:r>
            <a:endParaRPr lang="en-US" sz="1950" dirty="0"/>
          </a:p>
        </p:txBody>
      </p:sp>
      <p:sp>
        <p:nvSpPr>
          <p:cNvPr id="5" name="Text 3"/>
          <p:cNvSpPr/>
          <p:nvPr/>
        </p:nvSpPr>
        <p:spPr>
          <a:xfrm>
            <a:off x="1047750" y="4615755"/>
            <a:ext cx="16240125" cy="998190"/>
          </a:xfrm>
          <a:prstGeom prst="rect">
            <a:avLst/>
          </a:prstGeom>
          <a:noFill/>
          <a:ln/>
        </p:spPr>
        <p:txBody>
          <a:bodyPr wrap="square" lIns="25400" tIns="25400" rIns="25400" bIns="25400" rtlCol="0" anchor="t">
            <a:normAutofit/>
          </a:bodyPr>
          <a:lstStyle/>
          <a:p>
            <a:pPr algn="l" indent="0" marL="0">
              <a:lnSpc>
                <a:spcPct val="91636"/>
              </a:lnSpc>
              <a:buNone/>
            </a:pPr>
            <a:r>
              <a:rPr lang="en-US" sz="7200" b="1" dirty="0">
                <a:solidFill>
                  <a:srgbClr val="F5F3EF"/>
                </a:solidFill>
                <a:latin typeface="Arial" pitchFamily="34" charset="0"/>
                <a:ea typeface="Arial" pitchFamily="34" charset="-122"/>
                <a:cs typeface="Arial" pitchFamily="34" charset="-120"/>
              </a:rPr>
              <a:t>Tres preguntas antes de construir</a:t>
            </a:r>
            <a:endParaRPr lang="en-US" sz="7200" dirty="0"/>
          </a:p>
        </p:txBody>
      </p:sp>
      <p:sp>
        <p:nvSpPr>
          <p:cNvPr id="6" name="Text 4"/>
          <p:cNvSpPr/>
          <p:nvPr/>
        </p:nvSpPr>
        <p:spPr>
          <a:xfrm>
            <a:off x="1047750" y="5842546"/>
            <a:ext cx="13620750" cy="457200"/>
          </a:xfrm>
          <a:prstGeom prst="rect">
            <a:avLst/>
          </a:prstGeom>
          <a:noFill/>
          <a:ln/>
        </p:spPr>
        <p:txBody>
          <a:bodyPr wrap="square" lIns="25400" tIns="25400" rIns="25400" bIns="25400" rtlCol="0" anchor="t">
            <a:normAutofit/>
          </a:bodyPr>
          <a:lstStyle/>
          <a:p>
            <a:pPr algn="l" indent="0" marL="0">
              <a:buNone/>
            </a:pPr>
            <a:r>
              <a:rPr lang="en-US" sz="2550" dirty="0">
                <a:solidFill>
                  <a:srgbClr val="C9CDD4"/>
                </a:solidFill>
                <a:latin typeface="Arial" pitchFamily="34" charset="0"/>
                <a:ea typeface="Arial" pitchFamily="34" charset="-122"/>
                <a:cs typeface="Arial" pitchFamily="34" charset="-120"/>
              </a:rPr>
              <a:t>Qué hacen los clientes hoy · por qué es difícil · qué tipo de mercado es.</a:t>
            </a:r>
            <a:endParaRPr lang="en-US" sz="2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PREGUNTA 01</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17191D"/>
                </a:solidFill>
                <a:latin typeface="Arial" pitchFamily="34" charset="0"/>
                <a:ea typeface="Arial" pitchFamily="34" charset="-122"/>
                <a:cs typeface="Arial" pitchFamily="34" charset="-120"/>
              </a:rPr>
              <a:t>¿Qué hacen los clientes hoy?</a:t>
            </a:r>
            <a:endParaRPr lang="en-US" sz="4500" dirty="0"/>
          </a:p>
        </p:txBody>
      </p:sp>
      <p:sp>
        <p:nvSpPr>
          <p:cNvPr id="4" name="Shape 2"/>
          <p:cNvSpPr/>
          <p:nvPr/>
        </p:nvSpPr>
        <p:spPr>
          <a:xfrm>
            <a:off x="1047750" y="2331690"/>
            <a:ext cx="7848600" cy="19050"/>
          </a:xfrm>
          <a:prstGeom prst="rect">
            <a:avLst/>
          </a:prstGeom>
          <a:solidFill>
            <a:srgbClr val="17191D"/>
          </a:solidFill>
          <a:ln/>
        </p:spPr>
      </p:sp>
      <p:sp>
        <p:nvSpPr>
          <p:cNvPr id="5" name="Text 3"/>
          <p:cNvSpPr/>
          <p:nvPr/>
        </p:nvSpPr>
        <p:spPr>
          <a:xfrm>
            <a:off x="1047750" y="2579340"/>
            <a:ext cx="2160687" cy="1605558"/>
          </a:xfrm>
          <a:prstGeom prst="rect">
            <a:avLst/>
          </a:prstGeom>
          <a:noFill/>
          <a:ln/>
        </p:spPr>
        <p:txBody>
          <a:bodyPr wrap="none" lIns="25400" tIns="25400" rIns="25400" bIns="25400" rtlCol="0" anchor="t">
            <a:normAutofit/>
          </a:bodyPr>
          <a:lstStyle/>
          <a:p>
            <a:pPr algn="l" indent="0" marL="0">
              <a:lnSpc>
                <a:spcPct val="87273"/>
              </a:lnSpc>
              <a:buNone/>
            </a:pPr>
            <a:r>
              <a:rPr lang="en-US" sz="3600" b="1" dirty="0">
                <a:solidFill>
                  <a:srgbClr val="B5623C"/>
                </a:solidFill>
                <a:latin typeface="Arial" pitchFamily="34" charset="0"/>
                <a:ea typeface="Arial" pitchFamily="34" charset="-122"/>
                <a:cs typeface="Arial" pitchFamily="34" charset="-120"/>
              </a:rPr>
              <a:t>200-800%</a:t>
            </a:r>
            <a:endParaRPr lang="en-US" sz="3600" dirty="0"/>
          </a:p>
        </p:txBody>
      </p:sp>
      <p:sp>
        <p:nvSpPr>
          <p:cNvPr id="6" name="Text 4"/>
          <p:cNvSpPr/>
          <p:nvPr/>
        </p:nvSpPr>
        <p:spPr>
          <a:xfrm>
            <a:off x="3398937" y="2579340"/>
            <a:ext cx="6047155"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17191D"/>
                </a:solidFill>
                <a:latin typeface="Arial" pitchFamily="34" charset="0"/>
                <a:ea typeface="Arial" pitchFamily="34" charset="-122"/>
                <a:cs typeface="Arial" pitchFamily="34" charset="-120"/>
              </a:rPr>
              <a:t>Gota a gota</a:t>
            </a:r>
            <a:endParaRPr lang="en-US" sz="2400" dirty="0"/>
          </a:p>
        </p:txBody>
      </p:sp>
      <p:sp>
        <p:nvSpPr>
          <p:cNvPr id="7" name="Text 5"/>
          <p:cNvSpPr/>
          <p:nvPr/>
        </p:nvSpPr>
        <p:spPr>
          <a:xfrm>
            <a:off x="3398937" y="3027015"/>
            <a:ext cx="5662336" cy="1157883"/>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2464D"/>
                </a:solidFill>
                <a:latin typeface="Arial" pitchFamily="34" charset="0"/>
                <a:ea typeface="Arial" pitchFamily="34" charset="-122"/>
                <a:cs typeface="Arial" pitchFamily="34" charset="-120"/>
              </a:rPr>
              <a:t>Préstamos diarios a tasas efectivas de tres dígitos, cobrados con coacción física o psicológica.</a:t>
            </a:r>
            <a:endParaRPr lang="en-US" sz="2100" dirty="0"/>
          </a:p>
        </p:txBody>
      </p:sp>
      <p:sp>
        <p:nvSpPr>
          <p:cNvPr id="8" name="Shape 6"/>
          <p:cNvSpPr/>
          <p:nvPr/>
        </p:nvSpPr>
        <p:spPr>
          <a:xfrm>
            <a:off x="9391650" y="2331690"/>
            <a:ext cx="7848600" cy="19050"/>
          </a:xfrm>
          <a:prstGeom prst="rect">
            <a:avLst/>
          </a:prstGeom>
          <a:solidFill>
            <a:srgbClr val="17191D"/>
          </a:solidFill>
          <a:ln/>
        </p:spPr>
      </p:sp>
      <p:sp>
        <p:nvSpPr>
          <p:cNvPr id="9" name="Text 7"/>
          <p:cNvSpPr/>
          <p:nvPr/>
        </p:nvSpPr>
        <p:spPr>
          <a:xfrm>
            <a:off x="9391650" y="2579340"/>
            <a:ext cx="330547" cy="1605558"/>
          </a:xfrm>
          <a:prstGeom prst="rect">
            <a:avLst/>
          </a:prstGeom>
          <a:noFill/>
          <a:ln/>
        </p:spPr>
        <p:txBody>
          <a:bodyPr wrap="none" lIns="25400" tIns="25400" rIns="25400" bIns="25400" rtlCol="0" anchor="t">
            <a:normAutofit/>
          </a:bodyPr>
          <a:lstStyle/>
          <a:p>
            <a:pPr algn="l" indent="0" marL="0">
              <a:lnSpc>
                <a:spcPct val="87273"/>
              </a:lnSpc>
              <a:buNone/>
            </a:pPr>
            <a:r>
              <a:rPr lang="en-US" sz="3600" b="1" dirty="0">
                <a:solidFill>
                  <a:srgbClr val="B5623C"/>
                </a:solidFill>
                <a:latin typeface="Arial" pitchFamily="34" charset="0"/>
                <a:ea typeface="Arial" pitchFamily="34" charset="-122"/>
                <a:cs typeface="Arial" pitchFamily="34" charset="-120"/>
              </a:rPr>
              <a:t>0</a:t>
            </a:r>
            <a:endParaRPr lang="en-US" sz="3600" dirty="0"/>
          </a:p>
        </p:txBody>
      </p:sp>
      <p:sp>
        <p:nvSpPr>
          <p:cNvPr id="10" name="Text 8"/>
          <p:cNvSpPr/>
          <p:nvPr/>
        </p:nvSpPr>
        <p:spPr>
          <a:xfrm>
            <a:off x="9912697" y="2579340"/>
            <a:ext cx="8060308"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17191D"/>
                </a:solidFill>
                <a:latin typeface="Arial" pitchFamily="34" charset="0"/>
                <a:ea typeface="Arial" pitchFamily="34" charset="-122"/>
                <a:cs typeface="Arial" pitchFamily="34" charset="-120"/>
              </a:rPr>
              <a:t>Cadenas y natilleras</a:t>
            </a:r>
            <a:endParaRPr lang="en-US" sz="2400" dirty="0"/>
          </a:p>
        </p:txBody>
      </p:sp>
      <p:sp>
        <p:nvSpPr>
          <p:cNvPr id="11" name="Text 9"/>
          <p:cNvSpPr/>
          <p:nvPr/>
        </p:nvSpPr>
        <p:spPr>
          <a:xfrm>
            <a:off x="9912697" y="3027015"/>
            <a:ext cx="7547379"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2464D"/>
                </a:solidFill>
                <a:latin typeface="Arial" pitchFamily="34" charset="0"/>
                <a:ea typeface="Arial" pitchFamily="34" charset="-122"/>
                <a:cs typeface="Arial" pitchFamily="34" charset="-120"/>
              </a:rPr>
              <a:t>No generan historial formal, no garantizan liquidez en emergencias y arriesgan el capital si un miembro incumple.</a:t>
            </a:r>
            <a:endParaRPr lang="en-US" sz="2100" dirty="0"/>
          </a:p>
        </p:txBody>
      </p:sp>
      <p:sp>
        <p:nvSpPr>
          <p:cNvPr id="12" name="Shape 10"/>
          <p:cNvSpPr/>
          <p:nvPr/>
        </p:nvSpPr>
        <p:spPr>
          <a:xfrm>
            <a:off x="1047750" y="4470648"/>
            <a:ext cx="7848600" cy="19050"/>
          </a:xfrm>
          <a:prstGeom prst="rect">
            <a:avLst/>
          </a:prstGeom>
          <a:solidFill>
            <a:srgbClr val="D7D3CB"/>
          </a:solidFill>
          <a:ln/>
        </p:spPr>
      </p:sp>
      <p:sp>
        <p:nvSpPr>
          <p:cNvPr id="13" name="Text 11"/>
          <p:cNvSpPr/>
          <p:nvPr/>
        </p:nvSpPr>
        <p:spPr>
          <a:xfrm>
            <a:off x="1047750" y="4718298"/>
            <a:ext cx="1397794" cy="1605558"/>
          </a:xfrm>
          <a:prstGeom prst="rect">
            <a:avLst/>
          </a:prstGeom>
          <a:noFill/>
          <a:ln/>
        </p:spPr>
        <p:txBody>
          <a:bodyPr wrap="none" lIns="25400" tIns="25400" rIns="25400" bIns="25400" rtlCol="0" anchor="t">
            <a:normAutofit/>
          </a:bodyPr>
          <a:lstStyle/>
          <a:p>
            <a:pPr algn="l" indent="0" marL="0">
              <a:lnSpc>
                <a:spcPct val="87273"/>
              </a:lnSpc>
              <a:buNone/>
            </a:pPr>
            <a:r>
              <a:rPr lang="en-US" sz="3600" b="1" dirty="0">
                <a:solidFill>
                  <a:srgbClr val="B5623C"/>
                </a:solidFill>
                <a:latin typeface="Arial" pitchFamily="34" charset="0"/>
                <a:ea typeface="Arial" pitchFamily="34" charset="-122"/>
                <a:cs typeface="Arial" pitchFamily="34" charset="-120"/>
              </a:rPr>
              <a:t>5-12%</a:t>
            </a:r>
            <a:endParaRPr lang="en-US" sz="3600" dirty="0"/>
          </a:p>
        </p:txBody>
      </p:sp>
      <p:sp>
        <p:nvSpPr>
          <p:cNvPr id="14" name="Text 12"/>
          <p:cNvSpPr/>
          <p:nvPr/>
        </p:nvSpPr>
        <p:spPr>
          <a:xfrm>
            <a:off x="2636044" y="4718298"/>
            <a:ext cx="6886337"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17191D"/>
                </a:solidFill>
                <a:latin typeface="Arial" pitchFamily="34" charset="0"/>
                <a:ea typeface="Arial" pitchFamily="34" charset="-122"/>
                <a:cs typeface="Arial" pitchFamily="34" charset="-120"/>
              </a:rPr>
              <a:t>Financiación con proveedores</a:t>
            </a:r>
            <a:endParaRPr lang="en-US" sz="2400" dirty="0"/>
          </a:p>
        </p:txBody>
      </p:sp>
      <p:sp>
        <p:nvSpPr>
          <p:cNvPr id="15" name="Text 13"/>
          <p:cNvSpPr/>
          <p:nvPr/>
        </p:nvSpPr>
        <p:spPr>
          <a:xfrm>
            <a:off x="2636044" y="5165973"/>
            <a:ext cx="6448115" cy="1157883"/>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2464D"/>
                </a:solidFill>
                <a:latin typeface="Arial" pitchFamily="34" charset="0"/>
                <a:ea typeface="Arial" pitchFamily="34" charset="-122"/>
                <a:cs typeface="Arial" pitchFamily="34" charset="-120"/>
              </a:rPr>
              <a:t>Postergan pagos a mayoristas perdiendo descuentos por pronto pago: un costo implícito mensual.</a:t>
            </a:r>
            <a:endParaRPr lang="en-US" sz="2100" dirty="0"/>
          </a:p>
        </p:txBody>
      </p:sp>
      <p:sp>
        <p:nvSpPr>
          <p:cNvPr id="16" name="Shape 14"/>
          <p:cNvSpPr/>
          <p:nvPr/>
        </p:nvSpPr>
        <p:spPr>
          <a:xfrm>
            <a:off x="9391650" y="4470648"/>
            <a:ext cx="7848600" cy="19050"/>
          </a:xfrm>
          <a:prstGeom prst="rect">
            <a:avLst/>
          </a:prstGeom>
          <a:solidFill>
            <a:srgbClr val="D7D3CB"/>
          </a:solidFill>
          <a:ln/>
        </p:spPr>
      </p:sp>
      <p:sp>
        <p:nvSpPr>
          <p:cNvPr id="17" name="Text 15"/>
          <p:cNvSpPr/>
          <p:nvPr/>
        </p:nvSpPr>
        <p:spPr>
          <a:xfrm>
            <a:off x="9391650" y="4718298"/>
            <a:ext cx="1359694" cy="1605558"/>
          </a:xfrm>
          <a:prstGeom prst="rect">
            <a:avLst/>
          </a:prstGeom>
          <a:noFill/>
          <a:ln/>
        </p:spPr>
        <p:txBody>
          <a:bodyPr wrap="none" lIns="25400" tIns="25400" rIns="25400" bIns="25400" rtlCol="0" anchor="t">
            <a:normAutofit/>
          </a:bodyPr>
          <a:lstStyle/>
          <a:p>
            <a:pPr algn="l" indent="0" marL="0">
              <a:lnSpc>
                <a:spcPct val="87273"/>
              </a:lnSpc>
              <a:buNone/>
            </a:pPr>
            <a:r>
              <a:rPr lang="en-US" sz="3600" b="1" dirty="0">
                <a:solidFill>
                  <a:srgbClr val="B5623C"/>
                </a:solidFill>
                <a:latin typeface="Arial" pitchFamily="34" charset="0"/>
                <a:ea typeface="Arial" pitchFamily="34" charset="-122"/>
                <a:cs typeface="Arial" pitchFamily="34" charset="-120"/>
              </a:rPr>
              <a:t>&lt;$1 M</a:t>
            </a:r>
            <a:endParaRPr lang="en-US" sz="3600" dirty="0"/>
          </a:p>
        </p:txBody>
      </p:sp>
      <p:sp>
        <p:nvSpPr>
          <p:cNvPr id="18" name="Text 16"/>
          <p:cNvSpPr/>
          <p:nvPr/>
        </p:nvSpPr>
        <p:spPr>
          <a:xfrm>
            <a:off x="10941844" y="4718298"/>
            <a:ext cx="6928247" cy="390525"/>
          </a:xfrm>
          <a:prstGeom prst="rect">
            <a:avLst/>
          </a:prstGeom>
          <a:noFill/>
          <a:ln/>
        </p:spPr>
        <p:txBody>
          <a:bodyPr wrap="square" lIns="25400" tIns="25400" rIns="25400" bIns="25400" rtlCol="0" anchor="t">
            <a:normAutofit/>
          </a:bodyPr>
          <a:lstStyle/>
          <a:p>
            <a:pPr algn="l" indent="0" marL="0">
              <a:buNone/>
            </a:pPr>
            <a:r>
              <a:rPr lang="en-US" sz="2400" b="1" dirty="0">
                <a:solidFill>
                  <a:srgbClr val="17191D"/>
                </a:solidFill>
                <a:latin typeface="Arial" pitchFamily="34" charset="0"/>
                <a:ea typeface="Arial" pitchFamily="34" charset="-122"/>
                <a:cs typeface="Arial" pitchFamily="34" charset="-120"/>
              </a:rPr>
              <a:t>Tarjeta de cupo marginal</a:t>
            </a:r>
            <a:endParaRPr lang="en-US" sz="2400" dirty="0"/>
          </a:p>
        </p:txBody>
      </p:sp>
      <p:sp>
        <p:nvSpPr>
          <p:cNvPr id="19" name="Text 17"/>
          <p:cNvSpPr/>
          <p:nvPr/>
        </p:nvSpPr>
        <p:spPr>
          <a:xfrm>
            <a:off x="10941844" y="5165973"/>
            <a:ext cx="6487358"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42464D"/>
                </a:solidFill>
                <a:latin typeface="Arial" pitchFamily="34" charset="0"/>
                <a:ea typeface="Arial" pitchFamily="34" charset="-122"/>
                <a:cs typeface="Arial" pitchFamily="34" charset="-120"/>
              </a:rPr>
              <a:t>Los pocos que acceden quedan atados a cupos mínimos y pagan la tasa máxima de usura permitida.</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7FA3CA"/>
                </a:solidFill>
                <a:latin typeface="Courier New" pitchFamily="34" charset="0"/>
                <a:ea typeface="Courier New" pitchFamily="34" charset="-122"/>
                <a:cs typeface="Courier New" pitchFamily="34" charset="-120"/>
              </a:rPr>
              <a:t>PREGUNTA 02</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F5F3EF"/>
                </a:solidFill>
                <a:latin typeface="Arial" pitchFamily="34" charset="0"/>
                <a:ea typeface="Arial" pitchFamily="34" charset="-122"/>
                <a:cs typeface="Arial" pitchFamily="34" charset="-120"/>
              </a:rPr>
              <a:t>¿Por qué el problema es difícil de resolver?</a:t>
            </a:r>
            <a:endParaRPr lang="en-US" sz="4500" dirty="0"/>
          </a:p>
        </p:txBody>
      </p:sp>
      <p:sp>
        <p:nvSpPr>
          <p:cNvPr id="4" name="Shape 2"/>
          <p:cNvSpPr/>
          <p:nvPr/>
        </p:nvSpPr>
        <p:spPr>
          <a:xfrm>
            <a:off x="1047750" y="4510236"/>
            <a:ext cx="5143500" cy="47625"/>
          </a:xfrm>
          <a:prstGeom prst="rect">
            <a:avLst/>
          </a:prstGeom>
          <a:solidFill>
            <a:srgbClr val="7FA3CA"/>
          </a:solidFill>
          <a:ln/>
        </p:spPr>
      </p:sp>
      <p:sp>
        <p:nvSpPr>
          <p:cNvPr id="5" name="Text 3"/>
          <p:cNvSpPr/>
          <p:nvPr/>
        </p:nvSpPr>
        <p:spPr>
          <a:xfrm>
            <a:off x="1047750" y="4805511"/>
            <a:ext cx="5297805" cy="860822"/>
          </a:xfrm>
          <a:prstGeom prst="rect">
            <a:avLst/>
          </a:prstGeom>
          <a:noFill/>
          <a:ln/>
        </p:spPr>
        <p:txBody>
          <a:bodyPr wrap="square" lIns="25400" tIns="25400" rIns="25400" bIns="25400" rtlCol="0" anchor="t">
            <a:normAutofit/>
          </a:bodyPr>
          <a:lstStyle/>
          <a:p>
            <a:pPr algn="l" indent="0" marL="0">
              <a:lnSpc>
                <a:spcPct val="102857"/>
              </a:lnSpc>
              <a:buNone/>
            </a:pPr>
            <a:r>
              <a:rPr lang="en-US" sz="2700" b="1" dirty="0">
                <a:solidFill>
                  <a:srgbClr val="F5F3EF"/>
                </a:solidFill>
                <a:latin typeface="Arial" pitchFamily="34" charset="0"/>
                <a:ea typeface="Arial" pitchFamily="34" charset="-122"/>
                <a:cs typeface="Arial" pitchFamily="34" charset="-120"/>
              </a:rPr>
              <a:t>Heterogeneidad y ruido transaccional</a:t>
            </a:r>
            <a:endParaRPr lang="en-US" sz="2700" dirty="0"/>
          </a:p>
        </p:txBody>
      </p:sp>
      <p:sp>
        <p:nvSpPr>
          <p:cNvPr id="6" name="Text 4"/>
          <p:cNvSpPr/>
          <p:nvPr/>
        </p:nvSpPr>
        <p:spPr>
          <a:xfrm>
            <a:off x="1047750" y="5799683"/>
            <a:ext cx="5297805"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C9CDD4"/>
                </a:solidFill>
                <a:latin typeface="Arial" pitchFamily="34" charset="0"/>
                <a:ea typeface="Arial" pitchFamily="34" charset="-122"/>
                <a:cs typeface="Arial" pitchFamily="34" charset="-120"/>
              </a:rPr>
              <a:t>Frente a dos fechas fijas de nómina, el independiente combina transferencias heterogéneas, efectivo no consolidado, semanas en cero y picos de liquidez.</a:t>
            </a:r>
            <a:endParaRPr lang="en-US" sz="2100" dirty="0"/>
          </a:p>
        </p:txBody>
      </p:sp>
      <p:sp>
        <p:nvSpPr>
          <p:cNvPr id="7" name="Shape 5"/>
          <p:cNvSpPr/>
          <p:nvPr/>
        </p:nvSpPr>
        <p:spPr>
          <a:xfrm>
            <a:off x="6572250" y="4510236"/>
            <a:ext cx="5143500" cy="47625"/>
          </a:xfrm>
          <a:prstGeom prst="rect">
            <a:avLst/>
          </a:prstGeom>
          <a:solidFill>
            <a:srgbClr val="7FA3CA"/>
          </a:solidFill>
          <a:ln/>
        </p:spPr>
      </p:sp>
      <p:sp>
        <p:nvSpPr>
          <p:cNvPr id="8" name="Text 6"/>
          <p:cNvSpPr/>
          <p:nvPr/>
        </p:nvSpPr>
        <p:spPr>
          <a:xfrm>
            <a:off x="6572250" y="4805511"/>
            <a:ext cx="5657850" cy="449461"/>
          </a:xfrm>
          <a:prstGeom prst="rect">
            <a:avLst/>
          </a:prstGeom>
          <a:noFill/>
          <a:ln/>
        </p:spPr>
        <p:txBody>
          <a:bodyPr wrap="square" lIns="25400" tIns="25400" rIns="25400" bIns="25400" rtlCol="0" anchor="t">
            <a:normAutofit/>
          </a:bodyPr>
          <a:lstStyle/>
          <a:p>
            <a:pPr algn="l" indent="0" marL="0">
              <a:lnSpc>
                <a:spcPct val="102857"/>
              </a:lnSpc>
              <a:buNone/>
            </a:pPr>
            <a:r>
              <a:rPr lang="en-US" sz="2700" b="1" dirty="0">
                <a:solidFill>
                  <a:srgbClr val="F5F3EF"/>
                </a:solidFill>
                <a:latin typeface="Arial" pitchFamily="34" charset="0"/>
                <a:ea typeface="Arial" pitchFamily="34" charset="-122"/>
                <a:cs typeface="Arial" pitchFamily="34" charset="-120"/>
              </a:rPr>
              <a:t>El enigma de la caja negra</a:t>
            </a:r>
            <a:endParaRPr lang="en-US" sz="2700" dirty="0"/>
          </a:p>
        </p:txBody>
      </p:sp>
      <p:sp>
        <p:nvSpPr>
          <p:cNvPr id="9" name="Text 7"/>
          <p:cNvSpPr/>
          <p:nvPr/>
        </p:nvSpPr>
        <p:spPr>
          <a:xfrm>
            <a:off x="6572250" y="5388322"/>
            <a:ext cx="5297805"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C9CDD4"/>
                </a:solidFill>
                <a:latin typeface="Arial" pitchFamily="34" charset="0"/>
                <a:ea typeface="Arial" pitchFamily="34" charset="-122"/>
                <a:cs typeface="Arial" pitchFamily="34" charset="-120"/>
              </a:rPr>
              <a:t>Si la fintech usa modelos complejos para leer esa complejidad, enfrenta el veto de auditores y de la SFC por no poder explicar cada decisión.</a:t>
            </a:r>
            <a:endParaRPr lang="en-US" sz="2100" dirty="0"/>
          </a:p>
        </p:txBody>
      </p:sp>
      <p:sp>
        <p:nvSpPr>
          <p:cNvPr id="10" name="Shape 8"/>
          <p:cNvSpPr/>
          <p:nvPr/>
        </p:nvSpPr>
        <p:spPr>
          <a:xfrm>
            <a:off x="12096750" y="4510236"/>
            <a:ext cx="5143500" cy="47625"/>
          </a:xfrm>
          <a:prstGeom prst="rect">
            <a:avLst/>
          </a:prstGeom>
          <a:solidFill>
            <a:srgbClr val="E2A684"/>
          </a:solidFill>
          <a:ln/>
        </p:spPr>
      </p:sp>
      <p:sp>
        <p:nvSpPr>
          <p:cNvPr id="11" name="Text 9"/>
          <p:cNvSpPr/>
          <p:nvPr/>
        </p:nvSpPr>
        <p:spPr>
          <a:xfrm>
            <a:off x="12096750" y="4805511"/>
            <a:ext cx="5657850" cy="449461"/>
          </a:xfrm>
          <a:prstGeom prst="rect">
            <a:avLst/>
          </a:prstGeom>
          <a:noFill/>
          <a:ln/>
        </p:spPr>
        <p:txBody>
          <a:bodyPr wrap="square" lIns="25400" tIns="25400" rIns="25400" bIns="25400" rtlCol="0" anchor="t">
            <a:normAutofit/>
          </a:bodyPr>
          <a:lstStyle/>
          <a:p>
            <a:pPr algn="l" indent="0" marL="0">
              <a:lnSpc>
                <a:spcPct val="102857"/>
              </a:lnSpc>
              <a:buNone/>
            </a:pPr>
            <a:r>
              <a:rPr lang="en-US" sz="2700" b="1" dirty="0">
                <a:solidFill>
                  <a:srgbClr val="F5F3EF"/>
                </a:solidFill>
                <a:latin typeface="Arial" pitchFamily="34" charset="0"/>
                <a:ea typeface="Arial" pitchFamily="34" charset="-122"/>
                <a:cs typeface="Arial" pitchFamily="34" charset="-120"/>
              </a:rPr>
              <a:t>Causalidad frente a correlación</a:t>
            </a:r>
            <a:endParaRPr lang="en-US" sz="2700" dirty="0"/>
          </a:p>
        </p:txBody>
      </p:sp>
      <p:sp>
        <p:nvSpPr>
          <p:cNvPr id="12" name="Text 10"/>
          <p:cNvSpPr/>
          <p:nvPr/>
        </p:nvSpPr>
        <p:spPr>
          <a:xfrm>
            <a:off x="12096750" y="5388322"/>
            <a:ext cx="5297805" cy="1198066"/>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C9CDD4"/>
                </a:solidFill>
                <a:latin typeface="Arial" pitchFamily="34" charset="0"/>
                <a:ea typeface="Arial" pitchFamily="34" charset="-122"/>
                <a:cs typeface="Arial" pitchFamily="34" charset="-120"/>
              </a:rPr>
              <a:t>Sin modelos causales, una caída temporal de saldos por reinversión en inventario es indistinguible de un deterioro del negocio.</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PREGUNTA 03</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17191D"/>
                </a:solidFill>
                <a:latin typeface="Arial" pitchFamily="34" charset="0"/>
                <a:ea typeface="Arial" pitchFamily="34" charset="-122"/>
                <a:cs typeface="Arial" pitchFamily="34" charset="-120"/>
              </a:rPr>
              <a:t>¿Qué tipo de mercado estamos abordando?</a:t>
            </a:r>
            <a:endParaRPr lang="en-US" sz="4500" dirty="0"/>
          </a:p>
        </p:txBody>
      </p:sp>
      <p:sp>
        <p:nvSpPr>
          <p:cNvPr id="4" name="Text 2"/>
          <p:cNvSpPr/>
          <p:nvPr/>
        </p:nvSpPr>
        <p:spPr>
          <a:xfrm>
            <a:off x="1047750" y="2084040"/>
            <a:ext cx="14225588" cy="901005"/>
          </a:xfrm>
          <a:prstGeom prst="rect">
            <a:avLst/>
          </a:prstGeom>
          <a:noFill/>
          <a:ln/>
        </p:spPr>
        <p:txBody>
          <a:bodyPr wrap="square" lIns="25400" tIns="25400" rIns="25400" bIns="25400" rtlCol="0" anchor="t">
            <a:normAutofit/>
          </a:bodyPr>
          <a:lstStyle/>
          <a:p>
            <a:pPr algn="l" indent="0" marL="0">
              <a:lnSpc>
                <a:spcPct val="121081"/>
              </a:lnSpc>
              <a:buNone/>
            </a:pPr>
            <a:r>
              <a:rPr lang="en-US" sz="2400" dirty="0">
                <a:solidFill>
                  <a:srgbClr val="42464D"/>
                </a:solidFill>
                <a:latin typeface="Arial" pitchFamily="34" charset="0"/>
                <a:ea typeface="Arial" pitchFamily="34" charset="-122"/>
                <a:cs typeface="Arial" pitchFamily="34" charset="-120"/>
              </a:rPr>
              <a:t>Un mercado existente pero profundamente mal atendido </a:t>
            </a:r>
            <a:pPr algn="l" indent="0" marL="0">
              <a:lnSpc>
                <a:spcPct val="121081"/>
              </a:lnSpc>
              <a:buNone/>
            </a:pPr>
            <a:r>
              <a:rPr lang="en-US" sz="2400" i="1" dirty="0">
                <a:solidFill>
                  <a:srgbClr val="42464D"/>
                </a:solidFill>
                <a:latin typeface="Arial" pitchFamily="34" charset="0"/>
                <a:ea typeface="Arial" pitchFamily="34" charset="-122"/>
                <a:cs typeface="Arial" pitchFamily="34" charset="-120"/>
              </a:rPr>
              <a:t>(resegmented / underserved) </a:t>
            </a:r>
            <a:pPr algn="l" indent="0" marL="0">
              <a:lnSpc>
                <a:spcPct val="121081"/>
              </a:lnSpc>
              <a:buNone/>
            </a:pPr>
            <a:r>
              <a:rPr lang="en-US" sz="2400" dirty="0">
                <a:solidFill>
                  <a:srgbClr val="42464D"/>
                </a:solidFill>
                <a:latin typeface="Arial" pitchFamily="34" charset="0"/>
                <a:ea typeface="Arial" pitchFamily="34" charset="-122"/>
                <a:cs typeface="Arial" pitchFamily="34" charset="-120"/>
              </a:rPr>
              <a:t>, abordado con un modelo B2B2C SaaS API-first: no prestamos dinero, vendemos el motor de decisión.</a:t>
            </a:r>
            <a:endParaRPr lang="en-US" sz="2400" dirty="0"/>
          </a:p>
        </p:txBody>
      </p:sp>
      <p:sp>
        <p:nvSpPr>
          <p:cNvPr id="5" name="Text 3"/>
          <p:cNvSpPr/>
          <p:nvPr/>
        </p:nvSpPr>
        <p:spPr>
          <a:xfrm>
            <a:off x="1047750" y="3813721"/>
            <a:ext cx="1571625" cy="361950"/>
          </a:xfrm>
          <a:prstGeom prst="rect">
            <a:avLst/>
          </a:prstGeom>
          <a:noFill/>
          <a:ln/>
        </p:spPr>
        <p:txBody>
          <a:bodyPr wrap="square" lIns="25400" tIns="25400" rIns="25400" bIns="25400" rtlCol="0" anchor="t">
            <a:normAutofit/>
          </a:bodyPr>
          <a:lstStyle/>
          <a:p>
            <a:pPr algn="l" indent="0" marL="0">
              <a:buNone/>
            </a:pPr>
            <a:r>
              <a:rPr lang="en-US" sz="1950" dirty="0">
                <a:solidFill>
                  <a:srgbClr val="6D7278"/>
                </a:solidFill>
                <a:latin typeface="Courier New" pitchFamily="34" charset="0"/>
                <a:ea typeface="Courier New" pitchFamily="34" charset="-122"/>
                <a:cs typeface="Courier New" pitchFamily="34" charset="-120"/>
              </a:rPr>
              <a:t>TAM</a:t>
            </a:r>
            <a:endParaRPr lang="en-US" sz="1950" dirty="0"/>
          </a:p>
        </p:txBody>
      </p:sp>
      <p:sp>
        <p:nvSpPr>
          <p:cNvPr id="6" name="Shape 4"/>
          <p:cNvSpPr/>
          <p:nvPr/>
        </p:nvSpPr>
        <p:spPr>
          <a:xfrm>
            <a:off x="2781300" y="3404146"/>
            <a:ext cx="14458950" cy="1143000"/>
          </a:xfrm>
          <a:prstGeom prst="rect">
            <a:avLst/>
          </a:prstGeom>
          <a:solidFill>
            <a:srgbClr val="E8E4DC"/>
          </a:solidFill>
          <a:ln/>
        </p:spPr>
      </p:sp>
      <p:sp>
        <p:nvSpPr>
          <p:cNvPr id="7" name="Shape 5"/>
          <p:cNvSpPr/>
          <p:nvPr/>
        </p:nvSpPr>
        <p:spPr>
          <a:xfrm>
            <a:off x="2781300" y="3404146"/>
            <a:ext cx="14458950" cy="1143000"/>
          </a:xfrm>
          <a:prstGeom prst="rect">
            <a:avLst/>
          </a:prstGeom>
          <a:solidFill>
            <a:srgbClr val="E8E4DC"/>
          </a:solidFill>
          <a:ln/>
        </p:spPr>
      </p:sp>
      <p:sp>
        <p:nvSpPr>
          <p:cNvPr id="8" name="Text 6"/>
          <p:cNvSpPr/>
          <p:nvPr/>
        </p:nvSpPr>
        <p:spPr>
          <a:xfrm>
            <a:off x="3105150" y="3689896"/>
            <a:ext cx="1665759" cy="609600"/>
          </a:xfrm>
          <a:prstGeom prst="rect">
            <a:avLst/>
          </a:prstGeom>
          <a:noFill/>
          <a:ln/>
        </p:spPr>
        <p:txBody>
          <a:bodyPr wrap="none" lIns="25400" tIns="25400" rIns="25400" bIns="25400" rtlCol="0" anchor="t">
            <a:normAutofit/>
          </a:bodyPr>
          <a:lstStyle/>
          <a:p>
            <a:pPr algn="l" indent="0" marL="0">
              <a:buNone/>
            </a:pPr>
            <a:r>
              <a:rPr lang="en-US" sz="3900" b="1" dirty="0">
                <a:solidFill>
                  <a:srgbClr val="17191D"/>
                </a:solidFill>
                <a:latin typeface="Arial" pitchFamily="34" charset="0"/>
                <a:ea typeface="Arial" pitchFamily="34" charset="-122"/>
                <a:cs typeface="Arial" pitchFamily="34" charset="-120"/>
              </a:rPr>
              <a:t>13,2 M</a:t>
            </a:r>
            <a:endParaRPr lang="en-US" sz="3900" dirty="0"/>
          </a:p>
        </p:txBody>
      </p:sp>
      <p:sp>
        <p:nvSpPr>
          <p:cNvPr id="9" name="Text 7"/>
          <p:cNvSpPr/>
          <p:nvPr/>
        </p:nvSpPr>
        <p:spPr>
          <a:xfrm>
            <a:off x="4924276" y="3795564"/>
            <a:ext cx="12240012"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dirty="0">
                <a:solidFill>
                  <a:srgbClr val="42464D"/>
                </a:solidFill>
                <a:latin typeface="Arial" pitchFamily="34" charset="0"/>
                <a:ea typeface="Arial" pitchFamily="34" charset="-122"/>
                <a:cs typeface="Arial" pitchFamily="34" charset="-120"/>
              </a:rPr>
              <a:t>independientes que demandan financiamiento formal · $35 billones COP de cartera potencial</a:t>
            </a:r>
            <a:endParaRPr lang="en-US" sz="2100" dirty="0"/>
          </a:p>
        </p:txBody>
      </p:sp>
      <p:sp>
        <p:nvSpPr>
          <p:cNvPr id="10" name="Text 8"/>
          <p:cNvSpPr/>
          <p:nvPr/>
        </p:nvSpPr>
        <p:spPr>
          <a:xfrm>
            <a:off x="1047750" y="5166271"/>
            <a:ext cx="1571625" cy="361950"/>
          </a:xfrm>
          <a:prstGeom prst="rect">
            <a:avLst/>
          </a:prstGeom>
          <a:noFill/>
          <a:ln/>
        </p:spPr>
        <p:txBody>
          <a:bodyPr wrap="square" lIns="25400" tIns="25400" rIns="25400" bIns="25400" rtlCol="0" anchor="t">
            <a:normAutofit/>
          </a:bodyPr>
          <a:lstStyle/>
          <a:p>
            <a:pPr algn="l" indent="0" marL="0">
              <a:buNone/>
            </a:pPr>
            <a:r>
              <a:rPr lang="en-US" sz="1950" dirty="0">
                <a:solidFill>
                  <a:srgbClr val="6D7278"/>
                </a:solidFill>
                <a:latin typeface="Courier New" pitchFamily="34" charset="0"/>
                <a:ea typeface="Courier New" pitchFamily="34" charset="-122"/>
                <a:cs typeface="Courier New" pitchFamily="34" charset="-120"/>
              </a:rPr>
              <a:t>SAM</a:t>
            </a:r>
            <a:endParaRPr lang="en-US" sz="1950" dirty="0"/>
          </a:p>
        </p:txBody>
      </p:sp>
      <p:sp>
        <p:nvSpPr>
          <p:cNvPr id="11" name="Shape 9"/>
          <p:cNvSpPr/>
          <p:nvPr/>
        </p:nvSpPr>
        <p:spPr>
          <a:xfrm>
            <a:off x="2781300" y="4756696"/>
            <a:ext cx="9612213" cy="1143000"/>
          </a:xfrm>
          <a:prstGeom prst="rect">
            <a:avLst/>
          </a:prstGeom>
          <a:solidFill>
            <a:srgbClr val="B9BCAF"/>
          </a:solidFill>
          <a:ln/>
        </p:spPr>
      </p:sp>
      <p:sp>
        <p:nvSpPr>
          <p:cNvPr id="12" name="Text 10"/>
          <p:cNvSpPr/>
          <p:nvPr/>
        </p:nvSpPr>
        <p:spPr>
          <a:xfrm>
            <a:off x="3105150" y="5042446"/>
            <a:ext cx="1362730" cy="609600"/>
          </a:xfrm>
          <a:prstGeom prst="rect">
            <a:avLst/>
          </a:prstGeom>
          <a:noFill/>
          <a:ln/>
        </p:spPr>
        <p:txBody>
          <a:bodyPr wrap="none" lIns="25400" tIns="25400" rIns="25400" bIns="25400" rtlCol="0" anchor="t">
            <a:normAutofit/>
          </a:bodyPr>
          <a:lstStyle/>
          <a:p>
            <a:pPr algn="l" indent="0" marL="0">
              <a:buNone/>
            </a:pPr>
            <a:r>
              <a:rPr lang="en-US" sz="3900" b="1" dirty="0">
                <a:solidFill>
                  <a:srgbClr val="17191D"/>
                </a:solidFill>
                <a:latin typeface="Arial" pitchFamily="34" charset="0"/>
                <a:ea typeface="Arial" pitchFamily="34" charset="-122"/>
                <a:cs typeface="Arial" pitchFamily="34" charset="-120"/>
              </a:rPr>
              <a:t>4,5 M</a:t>
            </a:r>
            <a:endParaRPr lang="en-US" sz="3900" dirty="0"/>
          </a:p>
        </p:txBody>
      </p:sp>
      <p:sp>
        <p:nvSpPr>
          <p:cNvPr id="13" name="Text 11"/>
          <p:cNvSpPr/>
          <p:nvPr/>
        </p:nvSpPr>
        <p:spPr>
          <a:xfrm>
            <a:off x="4648795" y="4993928"/>
            <a:ext cx="7643494"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2F322C"/>
                </a:solidFill>
                <a:latin typeface="Arial" pitchFamily="34" charset="0"/>
                <a:ea typeface="Arial" pitchFamily="34" charset="-122"/>
                <a:cs typeface="Arial" pitchFamily="34" charset="-120"/>
              </a:rPr>
              <a:t>digitalizados con billeteras o factura electrónica · $12 billones COP</a:t>
            </a:r>
            <a:endParaRPr lang="en-US" sz="2025" dirty="0"/>
          </a:p>
        </p:txBody>
      </p:sp>
      <p:sp>
        <p:nvSpPr>
          <p:cNvPr id="14" name="Text 12"/>
          <p:cNvSpPr/>
          <p:nvPr/>
        </p:nvSpPr>
        <p:spPr>
          <a:xfrm>
            <a:off x="1047750" y="6518821"/>
            <a:ext cx="1571625" cy="361950"/>
          </a:xfrm>
          <a:prstGeom prst="rect">
            <a:avLst/>
          </a:prstGeom>
          <a:noFill/>
          <a:ln/>
        </p:spPr>
        <p:txBody>
          <a:bodyPr wrap="square" lIns="25400" tIns="25400" rIns="25400" bIns="25400" rtlCol="0" anchor="t">
            <a:normAutofit/>
          </a:bodyPr>
          <a:lstStyle/>
          <a:p>
            <a:pPr algn="l" indent="0" marL="0">
              <a:buNone/>
            </a:pPr>
            <a:r>
              <a:rPr lang="en-US" sz="1950" dirty="0">
                <a:solidFill>
                  <a:srgbClr val="6D7278"/>
                </a:solidFill>
                <a:latin typeface="Courier New" pitchFamily="34" charset="0"/>
                <a:ea typeface="Courier New" pitchFamily="34" charset="-122"/>
                <a:cs typeface="Courier New" pitchFamily="34" charset="-120"/>
              </a:rPr>
              <a:t>SOM</a:t>
            </a:r>
            <a:endParaRPr lang="en-US" sz="1950" dirty="0"/>
          </a:p>
        </p:txBody>
      </p:sp>
      <p:sp>
        <p:nvSpPr>
          <p:cNvPr id="15" name="Shape 13"/>
          <p:cNvSpPr/>
          <p:nvPr/>
        </p:nvSpPr>
        <p:spPr>
          <a:xfrm>
            <a:off x="2781300" y="6109246"/>
            <a:ext cx="5563642" cy="1143000"/>
          </a:xfrm>
          <a:prstGeom prst="rect">
            <a:avLst/>
          </a:prstGeom>
          <a:solidFill>
            <a:srgbClr val="14181F"/>
          </a:solidFill>
          <a:ln/>
        </p:spPr>
      </p:sp>
      <p:sp>
        <p:nvSpPr>
          <p:cNvPr id="16" name="Text 14"/>
          <p:cNvSpPr/>
          <p:nvPr/>
        </p:nvSpPr>
        <p:spPr>
          <a:xfrm>
            <a:off x="3105150" y="6394996"/>
            <a:ext cx="1423794" cy="609600"/>
          </a:xfrm>
          <a:prstGeom prst="rect">
            <a:avLst/>
          </a:prstGeom>
          <a:noFill/>
          <a:ln/>
        </p:spPr>
        <p:txBody>
          <a:bodyPr wrap="none" lIns="25400" tIns="25400" rIns="25400" bIns="25400" rtlCol="0" anchor="t">
            <a:normAutofit/>
          </a:bodyPr>
          <a:lstStyle/>
          <a:p>
            <a:pPr algn="l" indent="0" marL="0">
              <a:buNone/>
            </a:pPr>
            <a:r>
              <a:rPr lang="en-US" sz="3900" b="1" dirty="0">
                <a:solidFill>
                  <a:srgbClr val="F5F3EF"/>
                </a:solidFill>
                <a:latin typeface="Arial" pitchFamily="34" charset="0"/>
                <a:ea typeface="Arial" pitchFamily="34" charset="-122"/>
                <a:cs typeface="Arial" pitchFamily="34" charset="-120"/>
              </a:rPr>
              <a:t>450 K</a:t>
            </a:r>
            <a:endParaRPr lang="en-US" sz="3900" dirty="0"/>
          </a:p>
        </p:txBody>
      </p:sp>
      <p:sp>
        <p:nvSpPr>
          <p:cNvPr id="17" name="Text 15"/>
          <p:cNvSpPr/>
          <p:nvPr/>
        </p:nvSpPr>
        <p:spPr>
          <a:xfrm>
            <a:off x="4666208" y="6346478"/>
            <a:ext cx="3455530" cy="706636"/>
          </a:xfrm>
          <a:prstGeom prst="rect">
            <a:avLst/>
          </a:prstGeom>
          <a:noFill/>
          <a:ln/>
        </p:spPr>
        <p:txBody>
          <a:bodyPr wrap="square" lIns="25400" tIns="25400" rIns="25400" bIns="25400" rtlCol="0" anchor="t">
            <a:normAutofit/>
          </a:bodyPr>
          <a:lstStyle/>
          <a:p>
            <a:pPr algn="l" indent="0" marL="0">
              <a:lnSpc>
                <a:spcPct val="113226"/>
              </a:lnSpc>
              <a:buNone/>
            </a:pPr>
            <a:r>
              <a:rPr lang="en-US" sz="2025" dirty="0">
                <a:solidFill>
                  <a:srgbClr val="C9CDD4"/>
                </a:solidFill>
                <a:latin typeface="Arial" pitchFamily="34" charset="0"/>
                <a:ea typeface="Arial" pitchFamily="34" charset="-122"/>
                <a:cs typeface="Arial" pitchFamily="34" charset="-120"/>
              </a:rPr>
              <a:t>scorings mensuales · 15 fintechs en 3 años</a:t>
            </a:r>
            <a:endParaRPr lang="en-US" sz="20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820400" y="6785670"/>
            <a:ext cx="6705600" cy="3158430"/>
          </a:xfrm>
          <a:prstGeom prst="rect">
            <a:avLst/>
          </a:prstGeom>
          <a:noFill/>
          <a:ln/>
        </p:spPr>
        <p:txBody>
          <a:bodyPr wrap="square" lIns="25400" tIns="25400" rIns="25400" bIns="25400" rtlCol="0" anchor="t">
            <a:normAutofit/>
          </a:bodyPr>
          <a:lstStyle/>
          <a:p>
            <a:pPr algn="r" indent="0" marL="0">
              <a:lnSpc>
                <a:spcPct val="67826"/>
              </a:lnSpc>
              <a:buNone/>
            </a:pPr>
            <a:r>
              <a:rPr lang="en-US" sz="31500" b="1" spc="-1260" kern="0" dirty="0">
                <a:solidFill>
                  <a:srgbClr val="1D2530"/>
                </a:solidFill>
                <a:latin typeface="Arial" pitchFamily="34" charset="0"/>
                <a:ea typeface="Arial" pitchFamily="34" charset="-122"/>
                <a:cs typeface="Arial" pitchFamily="34" charset="-120"/>
              </a:rPr>
              <a:t>05</a:t>
            </a:r>
            <a:endParaRPr lang="en-US" sz="31500" dirty="0"/>
          </a:p>
        </p:txBody>
      </p:sp>
      <p:sp>
        <p:nvSpPr>
          <p:cNvPr id="3" name="Shape 1"/>
          <p:cNvSpPr/>
          <p:nvPr/>
        </p:nvSpPr>
        <p:spPr>
          <a:xfrm>
            <a:off x="0" y="0"/>
            <a:ext cx="171450" cy="10287000"/>
          </a:xfrm>
          <a:prstGeom prst="rect">
            <a:avLst/>
          </a:prstGeom>
          <a:solidFill>
            <a:srgbClr val="B5623C"/>
          </a:solidFill>
          <a:ln/>
        </p:spPr>
      </p:sp>
      <p:sp>
        <p:nvSpPr>
          <p:cNvPr id="4" name="Text 2"/>
          <p:cNvSpPr/>
          <p:nvPr/>
        </p:nvSpPr>
        <p:spPr>
          <a:xfrm>
            <a:off x="1047750" y="4025205"/>
            <a:ext cx="17811750"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E2A684"/>
                </a:solidFill>
                <a:latin typeface="Courier New" pitchFamily="34" charset="0"/>
                <a:ea typeface="Courier New" pitchFamily="34" charset="-122"/>
                <a:cs typeface="Courier New" pitchFamily="34" charset="-120"/>
              </a:rPr>
              <a:t>ACTO 5</a:t>
            </a:r>
            <a:endParaRPr lang="en-US" sz="1950" dirty="0"/>
          </a:p>
        </p:txBody>
      </p:sp>
      <p:sp>
        <p:nvSpPr>
          <p:cNvPr id="5" name="Text 3"/>
          <p:cNvSpPr/>
          <p:nvPr/>
        </p:nvSpPr>
        <p:spPr>
          <a:xfrm>
            <a:off x="1047750" y="4615755"/>
            <a:ext cx="16240125" cy="998190"/>
          </a:xfrm>
          <a:prstGeom prst="rect">
            <a:avLst/>
          </a:prstGeom>
          <a:noFill/>
          <a:ln/>
        </p:spPr>
        <p:txBody>
          <a:bodyPr wrap="square" lIns="25400" tIns="25400" rIns="25400" bIns="25400" rtlCol="0" anchor="t">
            <a:normAutofit/>
          </a:bodyPr>
          <a:lstStyle/>
          <a:p>
            <a:pPr algn="l" indent="0" marL="0">
              <a:lnSpc>
                <a:spcPct val="91636"/>
              </a:lnSpc>
              <a:buNone/>
            </a:pPr>
            <a:r>
              <a:rPr lang="en-US" sz="7200" b="1" dirty="0">
                <a:solidFill>
                  <a:srgbClr val="F5F3EF"/>
                </a:solidFill>
                <a:latin typeface="Arial" pitchFamily="34" charset="0"/>
                <a:ea typeface="Arial" pitchFamily="34" charset="-122"/>
                <a:cs typeface="Arial" pitchFamily="34" charset="-120"/>
              </a:rPr>
              <a:t>Quién está jugando en esta cancha</a:t>
            </a:r>
            <a:endParaRPr lang="en-US" sz="7200" dirty="0"/>
          </a:p>
        </p:txBody>
      </p:sp>
      <p:sp>
        <p:nvSpPr>
          <p:cNvPr id="6" name="Text 4"/>
          <p:cNvSpPr/>
          <p:nvPr/>
        </p:nvSpPr>
        <p:spPr>
          <a:xfrm>
            <a:off x="1047750" y="5842546"/>
            <a:ext cx="13620750" cy="457200"/>
          </a:xfrm>
          <a:prstGeom prst="rect">
            <a:avLst/>
          </a:prstGeom>
          <a:noFill/>
          <a:ln/>
        </p:spPr>
        <p:txBody>
          <a:bodyPr wrap="square" lIns="25400" tIns="25400" rIns="25400" bIns="25400" rtlCol="0" anchor="t">
            <a:normAutofit/>
          </a:bodyPr>
          <a:lstStyle/>
          <a:p>
            <a:pPr algn="l" indent="0" marL="0">
              <a:buNone/>
            </a:pPr>
            <a:r>
              <a:rPr lang="en-US" sz="2550" dirty="0">
                <a:solidFill>
                  <a:srgbClr val="C9CDD4"/>
                </a:solidFill>
                <a:latin typeface="Arial" pitchFamily="34" charset="0"/>
                <a:ea typeface="Arial" pitchFamily="34" charset="-122"/>
                <a:cs typeface="Arial" pitchFamily="34" charset="-120"/>
              </a:rPr>
              <a:t>Estrategia, estructura y rivalidad · Diamante de Porter (1990).</a:t>
            </a:r>
            <a:endParaRPr lang="en-US" sz="2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1047750" y="76200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MAPA DE POSICIONAMIENTO</a:t>
            </a:r>
            <a:endParaRPr lang="en-US" sz="1800" dirty="0"/>
          </a:p>
        </p:txBody>
      </p:sp>
      <p:sp>
        <p:nvSpPr>
          <p:cNvPr id="3" name="Text 1"/>
          <p:cNvSpPr/>
          <p:nvPr/>
        </p:nvSpPr>
        <p:spPr>
          <a:xfrm>
            <a:off x="1047750" y="1200150"/>
            <a:ext cx="17811750" cy="614065"/>
          </a:xfrm>
          <a:prstGeom prst="rect">
            <a:avLst/>
          </a:prstGeom>
          <a:noFill/>
          <a:ln/>
        </p:spPr>
        <p:txBody>
          <a:bodyPr wrap="square" lIns="25400" tIns="25400" rIns="25400" bIns="25400" rtlCol="0" anchor="t">
            <a:normAutofit/>
          </a:bodyPr>
          <a:lstStyle/>
          <a:p>
            <a:pPr algn="l" indent="0" marL="0">
              <a:lnSpc>
                <a:spcPct val="93046"/>
              </a:lnSpc>
              <a:buNone/>
            </a:pPr>
            <a:r>
              <a:rPr lang="en-US" sz="4200" b="1" dirty="0">
                <a:solidFill>
                  <a:srgbClr val="17191D"/>
                </a:solidFill>
                <a:latin typeface="Arial" pitchFamily="34" charset="0"/>
                <a:ea typeface="Arial" pitchFamily="34" charset="-122"/>
                <a:cs typeface="Arial" pitchFamily="34" charset="-120"/>
              </a:rPr>
              <a:t>El cuadrante que nadie ocupa</a:t>
            </a:r>
            <a:endParaRPr lang="en-US" sz="4200" dirty="0"/>
          </a:p>
        </p:txBody>
      </p:sp>
      <p:sp>
        <p:nvSpPr>
          <p:cNvPr id="4" name="Shape 2"/>
          <p:cNvSpPr/>
          <p:nvPr/>
        </p:nvSpPr>
        <p:spPr>
          <a:xfrm>
            <a:off x="1047750" y="2021532"/>
            <a:ext cx="11239500" cy="7677150"/>
          </a:xfrm>
          <a:prstGeom prst="rect">
            <a:avLst/>
          </a:prstGeom>
          <a:solidFill>
            <a:srgbClr val="7F7F7F">
              <a:alpha val="8000"/>
            </a:srgbClr>
          </a:solidFill>
          <a:ln/>
        </p:spPr>
      </p:sp>
      <p:pic>
        <p:nvPicPr>
          <p:cNvPr id="5" name="Image 0" descr="preencoded.png">    </p:cNvPr>
          <p:cNvPicPr>
            <a:picLocks noChangeAspect="1"/>
          </p:cNvPicPr>
          <p:nvPr/>
        </p:nvPicPr>
        <p:blipFill>
          <a:blip r:embed="rId1"/>
          <a:srcRect l="0" r="0" t="39" b="39"/>
          <a:stretch/>
        </p:blipFill>
        <p:spPr>
          <a:xfrm>
            <a:off x="1047750" y="2021532"/>
            <a:ext cx="11239500" cy="7677150"/>
          </a:xfrm>
          <a:prstGeom prst="rect">
            <a:avLst/>
          </a:prstGeom>
        </p:spPr>
      </p:pic>
      <p:sp>
        <p:nvSpPr>
          <p:cNvPr id="6" name="Text 3"/>
          <p:cNvSpPr/>
          <p:nvPr/>
        </p:nvSpPr>
        <p:spPr>
          <a:xfrm>
            <a:off x="12820650" y="3334941"/>
            <a:ext cx="4552188" cy="2441079"/>
          </a:xfrm>
          <a:prstGeom prst="rect">
            <a:avLst/>
          </a:prstGeom>
          <a:noFill/>
          <a:ln/>
        </p:spPr>
        <p:txBody>
          <a:bodyPr wrap="square" lIns="25400" tIns="25400" rIns="25400" bIns="25400" rtlCol="0" anchor="t">
            <a:normAutofit/>
          </a:bodyPr>
          <a:lstStyle/>
          <a:p>
            <a:pPr algn="l" indent="0" marL="0">
              <a:lnSpc>
                <a:spcPct val="127424"/>
              </a:lnSpc>
              <a:buNone/>
            </a:pPr>
            <a:r>
              <a:rPr lang="en-US" sz="2175" dirty="0">
                <a:solidFill>
                  <a:srgbClr val="42464D"/>
                </a:solidFill>
                <a:latin typeface="Arial" pitchFamily="34" charset="0"/>
                <a:ea typeface="Arial" pitchFamily="34" charset="-122"/>
                <a:cs typeface="Arial" pitchFamily="34" charset="-120"/>
              </a:rPr>
              <a:t>Los burós dominan el eje del dato tradicional; los originadores deciden rápido pero sin explicabilidad; los agregadores traen el dato nuevo y se detienen antes de decidir.</a:t>
            </a:r>
            <a:endParaRPr lang="en-US" sz="2175" dirty="0"/>
          </a:p>
        </p:txBody>
      </p:sp>
      <p:sp>
        <p:nvSpPr>
          <p:cNvPr id="7" name="Shape 4"/>
          <p:cNvSpPr/>
          <p:nvPr/>
        </p:nvSpPr>
        <p:spPr>
          <a:xfrm>
            <a:off x="12820650" y="5985570"/>
            <a:ext cx="4419600" cy="2399705"/>
          </a:xfrm>
          <a:prstGeom prst="rect">
            <a:avLst/>
          </a:prstGeom>
          <a:solidFill>
            <a:srgbClr val="14181F"/>
          </a:solidFill>
          <a:ln/>
        </p:spPr>
      </p:sp>
      <p:sp>
        <p:nvSpPr>
          <p:cNvPr id="8" name="Text 5"/>
          <p:cNvSpPr/>
          <p:nvPr/>
        </p:nvSpPr>
        <p:spPr>
          <a:xfrm>
            <a:off x="13106400" y="6252270"/>
            <a:ext cx="3980688" cy="1904405"/>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F5F3EF"/>
                </a:solidFill>
                <a:latin typeface="Arial" pitchFamily="34" charset="0"/>
                <a:ea typeface="Arial" pitchFamily="34" charset="-122"/>
                <a:cs typeface="Arial" pitchFamily="34" charset="-120"/>
              </a:rPr>
              <a:t>Nuestro espacio: dato alternativo convertido en una decisión que un comité de riesgo puede auditar línea por línea.</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1047750" y="857250"/>
            <a:ext cx="1781175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ESTRATEGIA · ESTRUCTURA · RIVALIDAD</a:t>
            </a:r>
            <a:endParaRPr lang="en-US" sz="1800" dirty="0"/>
          </a:p>
        </p:txBody>
      </p:sp>
      <p:sp>
        <p:nvSpPr>
          <p:cNvPr id="3" name="Text 1"/>
          <p:cNvSpPr/>
          <p:nvPr/>
        </p:nvSpPr>
        <p:spPr>
          <a:xfrm>
            <a:off x="1047750" y="1333500"/>
            <a:ext cx="17811750" cy="655290"/>
          </a:xfrm>
          <a:prstGeom prst="rect">
            <a:avLst/>
          </a:prstGeom>
          <a:noFill/>
          <a:ln/>
        </p:spPr>
        <p:txBody>
          <a:bodyPr wrap="square" lIns="25400" tIns="25400" rIns="25400" bIns="25400" rtlCol="0" anchor="t">
            <a:normAutofit/>
          </a:bodyPr>
          <a:lstStyle/>
          <a:p>
            <a:pPr algn="l" indent="0" marL="0">
              <a:lnSpc>
                <a:spcPct val="93913"/>
              </a:lnSpc>
              <a:buNone/>
            </a:pPr>
            <a:r>
              <a:rPr lang="en-US" sz="4500" b="1" dirty="0">
                <a:solidFill>
                  <a:srgbClr val="17191D"/>
                </a:solidFill>
                <a:latin typeface="Arial" pitchFamily="34" charset="0"/>
                <a:ea typeface="Arial" pitchFamily="34" charset="-122"/>
                <a:cs typeface="Arial" pitchFamily="34" charset="-120"/>
              </a:rPr>
              <a:t>Concentrado en el centro, vacío en los bordes</a:t>
            </a:r>
            <a:endParaRPr lang="en-US" sz="4500" dirty="0"/>
          </a:p>
        </p:txBody>
      </p:sp>
      <p:sp>
        <p:nvSpPr>
          <p:cNvPr id="4" name="Shape 2"/>
          <p:cNvSpPr/>
          <p:nvPr/>
        </p:nvSpPr>
        <p:spPr>
          <a:xfrm>
            <a:off x="1047750" y="2331690"/>
            <a:ext cx="5156150" cy="47625"/>
          </a:xfrm>
          <a:prstGeom prst="rect">
            <a:avLst/>
          </a:prstGeom>
          <a:solidFill>
            <a:srgbClr val="3D6B9E"/>
          </a:solidFill>
          <a:ln/>
        </p:spPr>
      </p:sp>
      <p:sp>
        <p:nvSpPr>
          <p:cNvPr id="5" name="Text 3"/>
          <p:cNvSpPr/>
          <p:nvPr/>
        </p:nvSpPr>
        <p:spPr>
          <a:xfrm>
            <a:off x="1047750" y="2626965"/>
            <a:ext cx="5671765"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17191D"/>
                </a:solidFill>
                <a:latin typeface="Arial" pitchFamily="34" charset="0"/>
                <a:ea typeface="Arial" pitchFamily="34" charset="-122"/>
                <a:cs typeface="Arial" pitchFamily="34" charset="-120"/>
              </a:rPr>
              <a:t>Estrategia</a:t>
            </a:r>
            <a:endParaRPr lang="en-US" sz="2700" dirty="0"/>
          </a:p>
        </p:txBody>
      </p:sp>
      <p:sp>
        <p:nvSpPr>
          <p:cNvPr id="6" name="Text 4"/>
          <p:cNvSpPr/>
          <p:nvPr/>
        </p:nvSpPr>
        <p:spPr>
          <a:xfrm>
            <a:off x="1047750" y="3179415"/>
            <a:ext cx="5310835" cy="1971377"/>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2464D"/>
                </a:solidFill>
                <a:latin typeface="Arial" pitchFamily="34" charset="0"/>
                <a:ea typeface="Arial" pitchFamily="34" charset="-122"/>
                <a:cs typeface="Arial" pitchFamily="34" charset="-120"/>
              </a:rPr>
              <a:t>Los burós compiten por cobertura y volumen de consulta; los originadores, por velocidad de aprobación. Nadie compite por explicabilidad causal del riesgo del independiente.</a:t>
            </a:r>
            <a:endParaRPr lang="en-US" sz="2100" dirty="0"/>
          </a:p>
        </p:txBody>
      </p:sp>
      <p:sp>
        <p:nvSpPr>
          <p:cNvPr id="7" name="Shape 5"/>
          <p:cNvSpPr/>
          <p:nvPr/>
        </p:nvSpPr>
        <p:spPr>
          <a:xfrm>
            <a:off x="6565850" y="2331690"/>
            <a:ext cx="5156150" cy="47625"/>
          </a:xfrm>
          <a:prstGeom prst="rect">
            <a:avLst/>
          </a:prstGeom>
          <a:solidFill>
            <a:srgbClr val="E2A684"/>
          </a:solidFill>
          <a:ln/>
        </p:spPr>
      </p:sp>
      <p:sp>
        <p:nvSpPr>
          <p:cNvPr id="8" name="Text 6"/>
          <p:cNvSpPr/>
          <p:nvPr/>
        </p:nvSpPr>
        <p:spPr>
          <a:xfrm>
            <a:off x="6565850" y="2626965"/>
            <a:ext cx="5671765"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17191D"/>
                </a:solidFill>
                <a:latin typeface="Arial" pitchFamily="34" charset="0"/>
                <a:ea typeface="Arial" pitchFamily="34" charset="-122"/>
                <a:cs typeface="Arial" pitchFamily="34" charset="-120"/>
              </a:rPr>
              <a:t>Estructura</a:t>
            </a:r>
            <a:endParaRPr lang="en-US" sz="2700" dirty="0"/>
          </a:p>
        </p:txBody>
      </p:sp>
      <p:sp>
        <p:nvSpPr>
          <p:cNvPr id="9" name="Text 7"/>
          <p:cNvSpPr/>
          <p:nvPr/>
        </p:nvSpPr>
        <p:spPr>
          <a:xfrm>
            <a:off x="6565850" y="3179415"/>
            <a:ext cx="5310835"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2464D"/>
                </a:solidFill>
                <a:latin typeface="Arial" pitchFamily="34" charset="0"/>
                <a:ea typeface="Arial" pitchFamily="34" charset="-122"/>
                <a:cs typeface="Arial" pitchFamily="34" charset="-120"/>
              </a:rPr>
              <a:t>Duopolio de información (DataCrédito y TransUnion), una capa emergente de agregadores Open Finance y originadores directos fragmentados por nicho.</a:t>
            </a:r>
            <a:endParaRPr lang="en-US" sz="2100" dirty="0"/>
          </a:p>
        </p:txBody>
      </p:sp>
      <p:sp>
        <p:nvSpPr>
          <p:cNvPr id="10" name="Shape 8"/>
          <p:cNvSpPr/>
          <p:nvPr/>
        </p:nvSpPr>
        <p:spPr>
          <a:xfrm>
            <a:off x="12083951" y="2331690"/>
            <a:ext cx="5156150" cy="47625"/>
          </a:xfrm>
          <a:prstGeom prst="rect">
            <a:avLst/>
          </a:prstGeom>
          <a:solidFill>
            <a:srgbClr val="B5623C"/>
          </a:solidFill>
          <a:ln/>
        </p:spPr>
      </p:sp>
      <p:sp>
        <p:nvSpPr>
          <p:cNvPr id="11" name="Text 9"/>
          <p:cNvSpPr/>
          <p:nvPr/>
        </p:nvSpPr>
        <p:spPr>
          <a:xfrm>
            <a:off x="12083951" y="2626965"/>
            <a:ext cx="5671765" cy="438150"/>
          </a:xfrm>
          <a:prstGeom prst="rect">
            <a:avLst/>
          </a:prstGeom>
          <a:noFill/>
          <a:ln/>
        </p:spPr>
        <p:txBody>
          <a:bodyPr wrap="square" lIns="25400" tIns="25400" rIns="25400" bIns="25400" rtlCol="0" anchor="t">
            <a:normAutofit/>
          </a:bodyPr>
          <a:lstStyle/>
          <a:p>
            <a:pPr algn="l" indent="0" marL="0">
              <a:buNone/>
            </a:pPr>
            <a:r>
              <a:rPr lang="en-US" sz="2700" b="1" dirty="0">
                <a:solidFill>
                  <a:srgbClr val="17191D"/>
                </a:solidFill>
                <a:latin typeface="Arial" pitchFamily="34" charset="0"/>
                <a:ea typeface="Arial" pitchFamily="34" charset="-122"/>
                <a:cs typeface="Arial" pitchFamily="34" charset="-120"/>
              </a:rPr>
              <a:t>Rivalidad</a:t>
            </a:r>
            <a:endParaRPr lang="en-US" sz="2700" dirty="0"/>
          </a:p>
        </p:txBody>
      </p:sp>
      <p:sp>
        <p:nvSpPr>
          <p:cNvPr id="12" name="Text 10"/>
          <p:cNvSpPr/>
          <p:nvPr/>
        </p:nvSpPr>
        <p:spPr>
          <a:xfrm>
            <a:off x="12083951" y="3179415"/>
            <a:ext cx="5310835" cy="1584722"/>
          </a:xfrm>
          <a:prstGeom prst="rect">
            <a:avLst/>
          </a:prstGeom>
          <a:noFill/>
          <a:ln/>
        </p:spPr>
        <p:txBody>
          <a:bodyPr wrap="square" lIns="25400" tIns="25400" rIns="25400" bIns="25400" rtlCol="0" anchor="t">
            <a:normAutofit/>
          </a:bodyPr>
          <a:lstStyle/>
          <a:p>
            <a:pPr algn="l" indent="0" marL="0">
              <a:lnSpc>
                <a:spcPct val="126875"/>
              </a:lnSpc>
              <a:buNone/>
            </a:pPr>
            <a:r>
              <a:rPr lang="en-US" sz="2100" dirty="0">
                <a:solidFill>
                  <a:srgbClr val="42464D"/>
                </a:solidFill>
                <a:latin typeface="Arial" pitchFamily="34" charset="0"/>
                <a:ea typeface="Arial" pitchFamily="34" charset="-122"/>
                <a:cs typeface="Arial" pitchFamily="34" charset="-120"/>
              </a:rPr>
              <a:t>Alta entre sustitutos (agregación y BNPL), baja en nuestro núcleo: ningún actor entrega scoring causal auditable para independientes vía API.</a:t>
            </a:r>
            <a:endParaRPr lang="en-US" sz="2100" dirty="0"/>
          </a:p>
        </p:txBody>
      </p:sp>
      <p:sp>
        <p:nvSpPr>
          <p:cNvPr id="13" name="Shape 11"/>
          <p:cNvSpPr/>
          <p:nvPr/>
        </p:nvSpPr>
        <p:spPr>
          <a:xfrm>
            <a:off x="1047750" y="5569893"/>
            <a:ext cx="16192500" cy="1432322"/>
          </a:xfrm>
          <a:prstGeom prst="rect">
            <a:avLst/>
          </a:prstGeom>
          <a:solidFill>
            <a:srgbClr val="14181F"/>
          </a:solidFill>
          <a:ln/>
        </p:spPr>
      </p:sp>
      <p:sp>
        <p:nvSpPr>
          <p:cNvPr id="14" name="Text 12"/>
          <p:cNvSpPr/>
          <p:nvPr/>
        </p:nvSpPr>
        <p:spPr>
          <a:xfrm>
            <a:off x="1466850" y="6124129"/>
            <a:ext cx="3432527" cy="361950"/>
          </a:xfrm>
          <a:prstGeom prst="rect">
            <a:avLst/>
          </a:prstGeom>
          <a:noFill/>
          <a:ln/>
        </p:spPr>
        <p:txBody>
          <a:bodyPr wrap="none" lIns="25400" tIns="25400" rIns="25400" bIns="25400" rtlCol="0" anchor="t">
            <a:normAutofit/>
          </a:bodyPr>
          <a:lstStyle/>
          <a:p>
            <a:pPr algn="l" indent="0" marL="0">
              <a:buNone/>
            </a:pPr>
            <a:r>
              <a:rPr lang="en-US" sz="1950" spc="195" kern="0" dirty="0">
                <a:solidFill>
                  <a:srgbClr val="7FA3CA"/>
                </a:solidFill>
                <a:latin typeface="Courier New" pitchFamily="34" charset="0"/>
                <a:ea typeface="Courier New" pitchFamily="34" charset="-122"/>
                <a:cs typeface="Courier New" pitchFamily="34" charset="-120"/>
              </a:rPr>
              <a:t>NIVEL DE RIVALIDAD</a:t>
            </a:r>
            <a:endParaRPr lang="en-US" sz="1950" dirty="0"/>
          </a:p>
        </p:txBody>
      </p:sp>
      <p:sp>
        <p:nvSpPr>
          <p:cNvPr id="15" name="Text 13"/>
          <p:cNvSpPr/>
          <p:nvPr/>
        </p:nvSpPr>
        <p:spPr>
          <a:xfrm>
            <a:off x="5044529" y="6081266"/>
            <a:ext cx="1858938" cy="447675"/>
          </a:xfrm>
          <a:prstGeom prst="rect">
            <a:avLst/>
          </a:prstGeom>
          <a:noFill/>
          <a:ln/>
        </p:spPr>
        <p:txBody>
          <a:bodyPr wrap="none" lIns="25400" tIns="25400" rIns="25400" bIns="25400" rtlCol="0" anchor="t">
            <a:normAutofit/>
          </a:bodyPr>
          <a:lstStyle/>
          <a:p>
            <a:pPr algn="l" indent="0" marL="0">
              <a:buNone/>
            </a:pPr>
            <a:r>
              <a:rPr lang="en-US" sz="2850" b="1" dirty="0">
                <a:solidFill>
                  <a:srgbClr val="F5F3EF"/>
                </a:solidFill>
                <a:latin typeface="Arial" pitchFamily="34" charset="0"/>
                <a:ea typeface="Arial" pitchFamily="34" charset="-122"/>
                <a:cs typeface="Arial" pitchFamily="34" charset="-120"/>
              </a:rPr>
              <a:t>Media-alta</a:t>
            </a:r>
            <a:endParaRPr lang="en-US" sz="2850" dirty="0"/>
          </a:p>
        </p:txBody>
      </p:sp>
      <p:sp>
        <p:nvSpPr>
          <p:cNvPr id="16" name="Text 14"/>
          <p:cNvSpPr/>
          <p:nvPr/>
        </p:nvSpPr>
        <p:spPr>
          <a:xfrm>
            <a:off x="7191673" y="5912793"/>
            <a:ext cx="9918362"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C9CDD4"/>
                </a:solidFill>
                <a:latin typeface="Arial" pitchFamily="34" charset="0"/>
                <a:ea typeface="Arial" pitchFamily="34" charset="-122"/>
                <a:cs typeface="Arial" pitchFamily="34" charset="-120"/>
              </a:rPr>
              <a:t>Muchos actores adyacentes y poder de negociación concentrado en los burós, pero sin competencia frontal en el segmento y la metodología que abordamos.</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F"/>
        </a:solidFill>
      </p:bgPr>
    </p:bg>
    <p:spTree>
      <p:nvGrpSpPr>
        <p:cNvPr id="1" name=""/>
        <p:cNvGrpSpPr/>
        <p:nvPr/>
      </p:nvGrpSpPr>
      <p:grpSpPr>
        <a:xfrm>
          <a:off x="0" y="0"/>
          <a:ext cx="0" cy="0"/>
          <a:chOff x="0" y="0"/>
          <a:chExt cx="0" cy="0"/>
        </a:xfrm>
      </p:grpSpPr>
      <p:sp>
        <p:nvSpPr>
          <p:cNvPr id="2" name="Text 0"/>
          <p:cNvSpPr/>
          <p:nvPr/>
        </p:nvSpPr>
        <p:spPr>
          <a:xfrm>
            <a:off x="762000" y="762000"/>
            <a:ext cx="18440400"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3D6B9E"/>
                </a:solidFill>
                <a:latin typeface="Courier New" pitchFamily="34" charset="0"/>
                <a:ea typeface="Courier New" pitchFamily="34" charset="-122"/>
                <a:cs typeface="Courier New" pitchFamily="34" charset="-120"/>
              </a:rPr>
              <a:t>MATRIZ SINTÉTICA</a:t>
            </a:r>
            <a:endParaRPr lang="en-US" sz="1800" dirty="0"/>
          </a:p>
        </p:txBody>
      </p:sp>
      <p:sp>
        <p:nvSpPr>
          <p:cNvPr id="3" name="Text 1"/>
          <p:cNvSpPr/>
          <p:nvPr/>
        </p:nvSpPr>
        <p:spPr>
          <a:xfrm>
            <a:off x="762000" y="1200150"/>
            <a:ext cx="18440400" cy="614065"/>
          </a:xfrm>
          <a:prstGeom prst="rect">
            <a:avLst/>
          </a:prstGeom>
          <a:noFill/>
          <a:ln/>
        </p:spPr>
        <p:txBody>
          <a:bodyPr wrap="square" lIns="25400" tIns="25400" rIns="25400" bIns="25400" rtlCol="0" anchor="t">
            <a:normAutofit/>
          </a:bodyPr>
          <a:lstStyle/>
          <a:p>
            <a:pPr algn="l" indent="0" marL="0">
              <a:lnSpc>
                <a:spcPct val="93046"/>
              </a:lnSpc>
              <a:buNone/>
            </a:pPr>
            <a:r>
              <a:rPr lang="en-US" sz="4200" b="1" dirty="0">
                <a:solidFill>
                  <a:srgbClr val="17191D"/>
                </a:solidFill>
                <a:latin typeface="Arial" pitchFamily="34" charset="0"/>
                <a:ea typeface="Arial" pitchFamily="34" charset="-122"/>
                <a:cs typeface="Arial" pitchFamily="34" charset="-120"/>
              </a:rPr>
              <a:t>Cinco competidores frente a StatCredit AI</a:t>
            </a:r>
            <a:endParaRPr lang="en-US" sz="4200" dirty="0"/>
          </a:p>
        </p:txBody>
      </p:sp>
      <p:sp>
        <p:nvSpPr>
          <p:cNvPr id="4" name="Text 2"/>
          <p:cNvSpPr/>
          <p:nvPr/>
        </p:nvSpPr>
        <p:spPr>
          <a:xfrm>
            <a:off x="3181350" y="2119015"/>
            <a:ext cx="2420303"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7191D"/>
                </a:solidFill>
                <a:latin typeface="Arial" pitchFamily="34" charset="0"/>
                <a:ea typeface="Arial" pitchFamily="34" charset="-122"/>
                <a:cs typeface="Arial" pitchFamily="34" charset="-120"/>
              </a:rPr>
              <a:t>DataCrédito</a:t>
            </a:r>
            <a:endParaRPr lang="en-US" sz="2100" dirty="0"/>
          </a:p>
        </p:txBody>
      </p:sp>
      <p:sp>
        <p:nvSpPr>
          <p:cNvPr id="5" name="Text 3"/>
          <p:cNvSpPr/>
          <p:nvPr/>
        </p:nvSpPr>
        <p:spPr>
          <a:xfrm>
            <a:off x="5610225" y="2119015"/>
            <a:ext cx="2420303"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7191D"/>
                </a:solidFill>
                <a:latin typeface="Arial" pitchFamily="34" charset="0"/>
                <a:ea typeface="Arial" pitchFamily="34" charset="-122"/>
                <a:cs typeface="Arial" pitchFamily="34" charset="-120"/>
              </a:rPr>
              <a:t>TransUnion</a:t>
            </a:r>
            <a:endParaRPr lang="en-US" sz="2100" dirty="0"/>
          </a:p>
        </p:txBody>
      </p:sp>
      <p:sp>
        <p:nvSpPr>
          <p:cNvPr id="6" name="Text 4"/>
          <p:cNvSpPr/>
          <p:nvPr/>
        </p:nvSpPr>
        <p:spPr>
          <a:xfrm>
            <a:off x="8039100" y="2119015"/>
            <a:ext cx="2420303"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7191D"/>
                </a:solidFill>
                <a:latin typeface="Arial" pitchFamily="34" charset="0"/>
                <a:ea typeface="Arial" pitchFamily="34" charset="-122"/>
                <a:cs typeface="Arial" pitchFamily="34" charset="-120"/>
              </a:rPr>
              <a:t>Belvo</a:t>
            </a:r>
            <a:endParaRPr lang="en-US" sz="2100" dirty="0"/>
          </a:p>
        </p:txBody>
      </p:sp>
      <p:sp>
        <p:nvSpPr>
          <p:cNvPr id="7" name="Text 5"/>
          <p:cNvSpPr/>
          <p:nvPr/>
        </p:nvSpPr>
        <p:spPr>
          <a:xfrm>
            <a:off x="10467975" y="2119015"/>
            <a:ext cx="2420303"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7191D"/>
                </a:solidFill>
                <a:latin typeface="Arial" pitchFamily="34" charset="0"/>
                <a:ea typeface="Arial" pitchFamily="34" charset="-122"/>
                <a:cs typeface="Arial" pitchFamily="34" charset="-120"/>
              </a:rPr>
              <a:t>Sempli</a:t>
            </a:r>
            <a:endParaRPr lang="en-US" sz="2100" dirty="0"/>
          </a:p>
        </p:txBody>
      </p:sp>
      <p:sp>
        <p:nvSpPr>
          <p:cNvPr id="8" name="Text 6"/>
          <p:cNvSpPr/>
          <p:nvPr/>
        </p:nvSpPr>
        <p:spPr>
          <a:xfrm>
            <a:off x="12896850" y="2119015"/>
            <a:ext cx="2420303"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17191D"/>
                </a:solidFill>
                <a:latin typeface="Arial" pitchFamily="34" charset="0"/>
                <a:ea typeface="Arial" pitchFamily="34" charset="-122"/>
                <a:cs typeface="Arial" pitchFamily="34" charset="-120"/>
              </a:rPr>
              <a:t>Addi</a:t>
            </a:r>
            <a:endParaRPr lang="en-US" sz="2100" dirty="0"/>
          </a:p>
        </p:txBody>
      </p:sp>
      <p:sp>
        <p:nvSpPr>
          <p:cNvPr id="9" name="Text 7"/>
          <p:cNvSpPr/>
          <p:nvPr/>
        </p:nvSpPr>
        <p:spPr>
          <a:xfrm>
            <a:off x="15325725" y="2119015"/>
            <a:ext cx="2420303" cy="398115"/>
          </a:xfrm>
          <a:prstGeom prst="rect">
            <a:avLst/>
          </a:prstGeom>
          <a:noFill/>
          <a:ln/>
        </p:spPr>
        <p:txBody>
          <a:bodyPr wrap="square" lIns="25400" tIns="25400" rIns="25400" bIns="25400" rtlCol="0" anchor="t">
            <a:normAutofit/>
          </a:bodyPr>
          <a:lstStyle/>
          <a:p>
            <a:pPr algn="l" indent="0" marL="0">
              <a:lnSpc>
                <a:spcPct val="118125"/>
              </a:lnSpc>
              <a:buNone/>
            </a:pPr>
            <a:r>
              <a:rPr lang="en-US" sz="2100" b="1" dirty="0">
                <a:solidFill>
                  <a:srgbClr val="B5623C"/>
                </a:solidFill>
                <a:latin typeface="Arial" pitchFamily="34" charset="0"/>
                <a:ea typeface="Arial" pitchFamily="34" charset="-122"/>
                <a:cs typeface="Arial" pitchFamily="34" charset="-120"/>
              </a:rPr>
              <a:t>StatCredit AI</a:t>
            </a:r>
            <a:endParaRPr lang="en-US" sz="2100" dirty="0"/>
          </a:p>
        </p:txBody>
      </p:sp>
      <p:sp>
        <p:nvSpPr>
          <p:cNvPr id="10" name="Shape 8"/>
          <p:cNvSpPr/>
          <p:nvPr/>
        </p:nvSpPr>
        <p:spPr>
          <a:xfrm>
            <a:off x="762000" y="2669530"/>
            <a:ext cx="2190750" cy="19050"/>
          </a:xfrm>
          <a:prstGeom prst="rect">
            <a:avLst/>
          </a:prstGeom>
          <a:solidFill>
            <a:srgbClr val="17191D"/>
          </a:solidFill>
          <a:ln/>
        </p:spPr>
      </p:sp>
      <p:sp>
        <p:nvSpPr>
          <p:cNvPr id="11" name="Text 9"/>
          <p:cNvSpPr/>
          <p:nvPr/>
        </p:nvSpPr>
        <p:spPr>
          <a:xfrm>
            <a:off x="762000" y="2860030"/>
            <a:ext cx="2266950" cy="681038"/>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6D7278"/>
                </a:solidFill>
                <a:latin typeface="Courier New" pitchFamily="34" charset="0"/>
                <a:ea typeface="Courier New" pitchFamily="34" charset="-122"/>
                <a:cs typeface="Courier New" pitchFamily="34" charset="-120"/>
              </a:rPr>
              <a:t>Foco central</a:t>
            </a:r>
            <a:endParaRPr lang="en-US" sz="1800" dirty="0"/>
          </a:p>
        </p:txBody>
      </p:sp>
      <p:sp>
        <p:nvSpPr>
          <p:cNvPr id="12" name="Shape 10"/>
          <p:cNvSpPr/>
          <p:nvPr/>
        </p:nvSpPr>
        <p:spPr>
          <a:xfrm>
            <a:off x="3181350" y="2669530"/>
            <a:ext cx="2200275" cy="19050"/>
          </a:xfrm>
          <a:prstGeom prst="rect">
            <a:avLst/>
          </a:prstGeom>
          <a:solidFill>
            <a:srgbClr val="17191D"/>
          </a:solidFill>
          <a:ln/>
        </p:spPr>
      </p:sp>
      <p:sp>
        <p:nvSpPr>
          <p:cNvPr id="13" name="Text 11"/>
          <p:cNvSpPr/>
          <p:nvPr/>
        </p:nvSpPr>
        <p:spPr>
          <a:xfrm>
            <a:off x="3181350" y="2860030"/>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Buró de crédito retrospectivo</a:t>
            </a:r>
            <a:endParaRPr lang="en-US" sz="1875" dirty="0"/>
          </a:p>
        </p:txBody>
      </p:sp>
      <p:sp>
        <p:nvSpPr>
          <p:cNvPr id="14" name="Shape 12"/>
          <p:cNvSpPr/>
          <p:nvPr/>
        </p:nvSpPr>
        <p:spPr>
          <a:xfrm>
            <a:off x="5610225" y="2669530"/>
            <a:ext cx="2200275" cy="19050"/>
          </a:xfrm>
          <a:prstGeom prst="rect">
            <a:avLst/>
          </a:prstGeom>
          <a:solidFill>
            <a:srgbClr val="17191D"/>
          </a:solidFill>
          <a:ln/>
        </p:spPr>
      </p:sp>
      <p:sp>
        <p:nvSpPr>
          <p:cNvPr id="15" name="Text 13"/>
          <p:cNvSpPr/>
          <p:nvPr/>
        </p:nvSpPr>
        <p:spPr>
          <a:xfrm>
            <a:off x="5610225" y="2860030"/>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Buró y riesgo bancario</a:t>
            </a:r>
            <a:endParaRPr lang="en-US" sz="1875" dirty="0"/>
          </a:p>
        </p:txBody>
      </p:sp>
      <p:sp>
        <p:nvSpPr>
          <p:cNvPr id="16" name="Shape 14"/>
          <p:cNvSpPr/>
          <p:nvPr/>
        </p:nvSpPr>
        <p:spPr>
          <a:xfrm>
            <a:off x="8039100" y="2669530"/>
            <a:ext cx="2200275" cy="19050"/>
          </a:xfrm>
          <a:prstGeom prst="rect">
            <a:avLst/>
          </a:prstGeom>
          <a:solidFill>
            <a:srgbClr val="17191D"/>
          </a:solidFill>
          <a:ln/>
        </p:spPr>
      </p:sp>
      <p:sp>
        <p:nvSpPr>
          <p:cNvPr id="17" name="Text 15"/>
          <p:cNvSpPr/>
          <p:nvPr/>
        </p:nvSpPr>
        <p:spPr>
          <a:xfrm>
            <a:off x="8039100" y="2860030"/>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Infraestructura Open Finance</a:t>
            </a:r>
            <a:endParaRPr lang="en-US" sz="1875" dirty="0"/>
          </a:p>
        </p:txBody>
      </p:sp>
      <p:sp>
        <p:nvSpPr>
          <p:cNvPr id="18" name="Shape 16"/>
          <p:cNvSpPr/>
          <p:nvPr/>
        </p:nvSpPr>
        <p:spPr>
          <a:xfrm>
            <a:off x="10467975" y="2669530"/>
            <a:ext cx="2200275" cy="19050"/>
          </a:xfrm>
          <a:prstGeom prst="rect">
            <a:avLst/>
          </a:prstGeom>
          <a:solidFill>
            <a:srgbClr val="17191D"/>
          </a:solidFill>
          <a:ln/>
        </p:spPr>
      </p:sp>
      <p:sp>
        <p:nvSpPr>
          <p:cNvPr id="19" name="Text 17"/>
          <p:cNvSpPr/>
          <p:nvPr/>
        </p:nvSpPr>
        <p:spPr>
          <a:xfrm>
            <a:off x="10467975" y="2860030"/>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Originador directo MiPymes</a:t>
            </a:r>
            <a:endParaRPr lang="en-US" sz="1875" dirty="0"/>
          </a:p>
        </p:txBody>
      </p:sp>
      <p:sp>
        <p:nvSpPr>
          <p:cNvPr id="20" name="Shape 18"/>
          <p:cNvSpPr/>
          <p:nvPr/>
        </p:nvSpPr>
        <p:spPr>
          <a:xfrm>
            <a:off x="12896850" y="2669530"/>
            <a:ext cx="2200275" cy="19050"/>
          </a:xfrm>
          <a:prstGeom prst="rect">
            <a:avLst/>
          </a:prstGeom>
          <a:solidFill>
            <a:srgbClr val="17191D"/>
          </a:solidFill>
          <a:ln/>
        </p:spPr>
      </p:sp>
      <p:sp>
        <p:nvSpPr>
          <p:cNvPr id="21" name="Text 19"/>
          <p:cNvSpPr/>
          <p:nvPr/>
        </p:nvSpPr>
        <p:spPr>
          <a:xfrm>
            <a:off x="12896850" y="2860030"/>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BNPL y crédito de consumo</a:t>
            </a:r>
            <a:endParaRPr lang="en-US" sz="1875" dirty="0"/>
          </a:p>
        </p:txBody>
      </p:sp>
      <p:sp>
        <p:nvSpPr>
          <p:cNvPr id="22" name="Shape 20"/>
          <p:cNvSpPr/>
          <p:nvPr/>
        </p:nvSpPr>
        <p:spPr>
          <a:xfrm>
            <a:off x="15230475" y="2669530"/>
            <a:ext cx="2390775" cy="833438"/>
          </a:xfrm>
          <a:prstGeom prst="rect">
            <a:avLst/>
          </a:prstGeom>
          <a:solidFill>
            <a:srgbClr val="F7EBE2"/>
          </a:solidFill>
          <a:ln/>
        </p:spPr>
      </p:sp>
      <p:sp>
        <p:nvSpPr>
          <p:cNvPr id="23" name="Shape 21"/>
          <p:cNvSpPr/>
          <p:nvPr/>
        </p:nvSpPr>
        <p:spPr>
          <a:xfrm>
            <a:off x="15230475" y="2669530"/>
            <a:ext cx="2390775" cy="19050"/>
          </a:xfrm>
          <a:prstGeom prst="rect">
            <a:avLst/>
          </a:prstGeom>
          <a:solidFill>
            <a:srgbClr val="B5623C"/>
          </a:solidFill>
          <a:ln/>
        </p:spPr>
      </p:sp>
      <p:sp>
        <p:nvSpPr>
          <p:cNvPr id="24" name="Text 22"/>
          <p:cNvSpPr/>
          <p:nvPr/>
        </p:nvSpPr>
        <p:spPr>
          <a:xfrm>
            <a:off x="15325725" y="2860030"/>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3C2C25"/>
                </a:solidFill>
                <a:latin typeface="Arial" pitchFamily="34" charset="0"/>
                <a:ea typeface="Arial" pitchFamily="34" charset="-122"/>
                <a:cs typeface="Arial" pitchFamily="34" charset="-120"/>
              </a:rPr>
              <a:t>Scoring causal y XAI, API-first</a:t>
            </a:r>
            <a:endParaRPr lang="en-US" sz="1875" dirty="0"/>
          </a:p>
        </p:txBody>
      </p:sp>
      <p:sp>
        <p:nvSpPr>
          <p:cNvPr id="25" name="Shape 23"/>
          <p:cNvSpPr/>
          <p:nvPr/>
        </p:nvSpPr>
        <p:spPr>
          <a:xfrm>
            <a:off x="762000" y="3693468"/>
            <a:ext cx="2190750" cy="19050"/>
          </a:xfrm>
          <a:prstGeom prst="rect">
            <a:avLst/>
          </a:prstGeom>
          <a:solidFill>
            <a:srgbClr val="D7D3CB"/>
          </a:solidFill>
          <a:ln/>
        </p:spPr>
      </p:sp>
      <p:sp>
        <p:nvSpPr>
          <p:cNvPr id="26" name="Text 24"/>
          <p:cNvSpPr/>
          <p:nvPr/>
        </p:nvSpPr>
        <p:spPr>
          <a:xfrm>
            <a:off x="762000" y="3883968"/>
            <a:ext cx="2266950" cy="681038"/>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6D7278"/>
                </a:solidFill>
                <a:latin typeface="Courier New" pitchFamily="34" charset="0"/>
                <a:ea typeface="Courier New" pitchFamily="34" charset="-122"/>
                <a:cs typeface="Courier New" pitchFamily="34" charset="-120"/>
              </a:rPr>
              <a:t>Población objetivo</a:t>
            </a:r>
            <a:endParaRPr lang="en-US" sz="1800" dirty="0"/>
          </a:p>
        </p:txBody>
      </p:sp>
      <p:sp>
        <p:nvSpPr>
          <p:cNvPr id="27" name="Shape 25"/>
          <p:cNvSpPr/>
          <p:nvPr/>
        </p:nvSpPr>
        <p:spPr>
          <a:xfrm>
            <a:off x="3181350" y="3693468"/>
            <a:ext cx="2200275" cy="19050"/>
          </a:xfrm>
          <a:prstGeom prst="rect">
            <a:avLst/>
          </a:prstGeom>
          <a:solidFill>
            <a:srgbClr val="D7D3CB"/>
          </a:solidFill>
          <a:ln/>
        </p:spPr>
      </p:sp>
      <p:sp>
        <p:nvSpPr>
          <p:cNvPr id="28" name="Text 26"/>
          <p:cNvSpPr/>
          <p:nvPr/>
        </p:nvSpPr>
        <p:spPr>
          <a:xfrm>
            <a:off x="3181350" y="3883968"/>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Bancarizados con historial</a:t>
            </a:r>
            <a:endParaRPr lang="en-US" sz="1875" dirty="0"/>
          </a:p>
        </p:txBody>
      </p:sp>
      <p:sp>
        <p:nvSpPr>
          <p:cNvPr id="29" name="Shape 27"/>
          <p:cNvSpPr/>
          <p:nvPr/>
        </p:nvSpPr>
        <p:spPr>
          <a:xfrm>
            <a:off x="5610225" y="3693468"/>
            <a:ext cx="2200275" cy="19050"/>
          </a:xfrm>
          <a:prstGeom prst="rect">
            <a:avLst/>
          </a:prstGeom>
          <a:solidFill>
            <a:srgbClr val="D7D3CB"/>
          </a:solidFill>
          <a:ln/>
        </p:spPr>
      </p:sp>
      <p:sp>
        <p:nvSpPr>
          <p:cNvPr id="30" name="Text 28"/>
          <p:cNvSpPr/>
          <p:nvPr/>
        </p:nvSpPr>
        <p:spPr>
          <a:xfrm>
            <a:off x="5610225" y="3883968"/>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Entidades y corporaciones</a:t>
            </a:r>
            <a:endParaRPr lang="en-US" sz="1875" dirty="0"/>
          </a:p>
        </p:txBody>
      </p:sp>
      <p:sp>
        <p:nvSpPr>
          <p:cNvPr id="31" name="Shape 29"/>
          <p:cNvSpPr/>
          <p:nvPr/>
        </p:nvSpPr>
        <p:spPr>
          <a:xfrm>
            <a:off x="8039100" y="3693468"/>
            <a:ext cx="2200275" cy="19050"/>
          </a:xfrm>
          <a:prstGeom prst="rect">
            <a:avLst/>
          </a:prstGeom>
          <a:solidFill>
            <a:srgbClr val="D7D3CB"/>
          </a:solidFill>
          <a:ln/>
        </p:spPr>
      </p:sp>
      <p:sp>
        <p:nvSpPr>
          <p:cNvPr id="32" name="Text 30"/>
          <p:cNvSpPr/>
          <p:nvPr/>
        </p:nvSpPr>
        <p:spPr>
          <a:xfrm>
            <a:off x="8039100" y="3883968"/>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Desarrolladores fintech</a:t>
            </a:r>
            <a:endParaRPr lang="en-US" sz="1875" dirty="0"/>
          </a:p>
        </p:txBody>
      </p:sp>
      <p:sp>
        <p:nvSpPr>
          <p:cNvPr id="33" name="Shape 31"/>
          <p:cNvSpPr/>
          <p:nvPr/>
        </p:nvSpPr>
        <p:spPr>
          <a:xfrm>
            <a:off x="10467975" y="3693468"/>
            <a:ext cx="2200275" cy="19050"/>
          </a:xfrm>
          <a:prstGeom prst="rect">
            <a:avLst/>
          </a:prstGeom>
          <a:solidFill>
            <a:srgbClr val="D7D3CB"/>
          </a:solidFill>
          <a:ln/>
        </p:spPr>
      </p:sp>
      <p:sp>
        <p:nvSpPr>
          <p:cNvPr id="34" name="Text 32"/>
          <p:cNvSpPr/>
          <p:nvPr/>
        </p:nvSpPr>
        <p:spPr>
          <a:xfrm>
            <a:off x="10467975" y="3883968"/>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Pymes constituidas</a:t>
            </a:r>
            <a:endParaRPr lang="en-US" sz="1875" dirty="0"/>
          </a:p>
        </p:txBody>
      </p:sp>
      <p:sp>
        <p:nvSpPr>
          <p:cNvPr id="35" name="Shape 33"/>
          <p:cNvSpPr/>
          <p:nvPr/>
        </p:nvSpPr>
        <p:spPr>
          <a:xfrm>
            <a:off x="12896850" y="3693468"/>
            <a:ext cx="2200275" cy="19050"/>
          </a:xfrm>
          <a:prstGeom prst="rect">
            <a:avLst/>
          </a:prstGeom>
          <a:solidFill>
            <a:srgbClr val="D7D3CB"/>
          </a:solidFill>
          <a:ln/>
        </p:spPr>
      </p:sp>
      <p:sp>
        <p:nvSpPr>
          <p:cNvPr id="36" name="Text 34"/>
          <p:cNvSpPr/>
          <p:nvPr/>
        </p:nvSpPr>
        <p:spPr>
          <a:xfrm>
            <a:off x="12896850" y="3883968"/>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Consumidores en retail</a:t>
            </a:r>
            <a:endParaRPr lang="en-US" sz="1875" dirty="0"/>
          </a:p>
        </p:txBody>
      </p:sp>
      <p:sp>
        <p:nvSpPr>
          <p:cNvPr id="37" name="Shape 35"/>
          <p:cNvSpPr/>
          <p:nvPr/>
        </p:nvSpPr>
        <p:spPr>
          <a:xfrm>
            <a:off x="15230475" y="3693468"/>
            <a:ext cx="2390775" cy="833438"/>
          </a:xfrm>
          <a:prstGeom prst="rect">
            <a:avLst/>
          </a:prstGeom>
          <a:solidFill>
            <a:srgbClr val="F7EBE2"/>
          </a:solidFill>
          <a:ln/>
        </p:spPr>
      </p:sp>
      <p:sp>
        <p:nvSpPr>
          <p:cNvPr id="38" name="Shape 36"/>
          <p:cNvSpPr/>
          <p:nvPr/>
        </p:nvSpPr>
        <p:spPr>
          <a:xfrm>
            <a:off x="15230475" y="3693468"/>
            <a:ext cx="2390775" cy="19050"/>
          </a:xfrm>
          <a:prstGeom prst="rect">
            <a:avLst/>
          </a:prstGeom>
          <a:solidFill>
            <a:srgbClr val="B5623C"/>
          </a:solidFill>
          <a:ln/>
        </p:spPr>
      </p:sp>
      <p:sp>
        <p:nvSpPr>
          <p:cNvPr id="39" name="Text 37"/>
          <p:cNvSpPr/>
          <p:nvPr/>
        </p:nvSpPr>
        <p:spPr>
          <a:xfrm>
            <a:off x="15325725" y="3883968"/>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3C2C25"/>
                </a:solidFill>
                <a:latin typeface="Arial" pitchFamily="34" charset="0"/>
                <a:ea typeface="Arial" pitchFamily="34" charset="-122"/>
                <a:cs typeface="Arial" pitchFamily="34" charset="-120"/>
              </a:rPr>
              <a:t>Independientes y micronegocios</a:t>
            </a:r>
            <a:endParaRPr lang="en-US" sz="1875" dirty="0"/>
          </a:p>
        </p:txBody>
      </p:sp>
      <p:sp>
        <p:nvSpPr>
          <p:cNvPr id="40" name="Shape 38"/>
          <p:cNvSpPr/>
          <p:nvPr/>
        </p:nvSpPr>
        <p:spPr>
          <a:xfrm>
            <a:off x="762000" y="4717405"/>
            <a:ext cx="2190750" cy="19050"/>
          </a:xfrm>
          <a:prstGeom prst="rect">
            <a:avLst/>
          </a:prstGeom>
          <a:solidFill>
            <a:srgbClr val="D7D3CB"/>
          </a:solidFill>
          <a:ln/>
        </p:spPr>
      </p:sp>
      <p:sp>
        <p:nvSpPr>
          <p:cNvPr id="41" name="Text 39"/>
          <p:cNvSpPr/>
          <p:nvPr/>
        </p:nvSpPr>
        <p:spPr>
          <a:xfrm>
            <a:off x="762000" y="4907905"/>
            <a:ext cx="2266950" cy="1002506"/>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6D7278"/>
                </a:solidFill>
                <a:latin typeface="Courier New" pitchFamily="34" charset="0"/>
                <a:ea typeface="Courier New" pitchFamily="34" charset="-122"/>
                <a:cs typeface="Courier New" pitchFamily="34" charset="-120"/>
              </a:rPr>
              <a:t>Método</a:t>
            </a:r>
            <a:endParaRPr lang="en-US" sz="1800" dirty="0"/>
          </a:p>
        </p:txBody>
      </p:sp>
      <p:sp>
        <p:nvSpPr>
          <p:cNvPr id="42" name="Shape 40"/>
          <p:cNvSpPr/>
          <p:nvPr/>
        </p:nvSpPr>
        <p:spPr>
          <a:xfrm>
            <a:off x="3181350" y="4717405"/>
            <a:ext cx="2200275" cy="19050"/>
          </a:xfrm>
          <a:prstGeom prst="rect">
            <a:avLst/>
          </a:prstGeom>
          <a:solidFill>
            <a:srgbClr val="D7D3CB"/>
          </a:solidFill>
          <a:ln/>
        </p:spPr>
      </p:sp>
      <p:sp>
        <p:nvSpPr>
          <p:cNvPr id="43" name="Text 41"/>
          <p:cNvSpPr/>
          <p:nvPr/>
        </p:nvSpPr>
        <p:spPr>
          <a:xfrm>
            <a:off x="3181350" y="4907905"/>
            <a:ext cx="2276475" cy="1002506"/>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Correlacional lineal histórico</a:t>
            </a:r>
            <a:endParaRPr lang="en-US" sz="1875" dirty="0"/>
          </a:p>
        </p:txBody>
      </p:sp>
      <p:sp>
        <p:nvSpPr>
          <p:cNvPr id="44" name="Shape 42"/>
          <p:cNvSpPr/>
          <p:nvPr/>
        </p:nvSpPr>
        <p:spPr>
          <a:xfrm>
            <a:off x="5610225" y="4717405"/>
            <a:ext cx="2200275" cy="19050"/>
          </a:xfrm>
          <a:prstGeom prst="rect">
            <a:avLst/>
          </a:prstGeom>
          <a:solidFill>
            <a:srgbClr val="D7D3CB"/>
          </a:solidFill>
          <a:ln/>
        </p:spPr>
      </p:sp>
      <p:sp>
        <p:nvSpPr>
          <p:cNvPr id="45" name="Text 43"/>
          <p:cNvSpPr/>
          <p:nvPr/>
        </p:nvSpPr>
        <p:spPr>
          <a:xfrm>
            <a:off x="5610225" y="4907905"/>
            <a:ext cx="2276475" cy="1002506"/>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Puntaje estático de comportamiento</a:t>
            </a:r>
            <a:endParaRPr lang="en-US" sz="1875" dirty="0"/>
          </a:p>
        </p:txBody>
      </p:sp>
      <p:sp>
        <p:nvSpPr>
          <p:cNvPr id="46" name="Shape 44"/>
          <p:cNvSpPr/>
          <p:nvPr/>
        </p:nvSpPr>
        <p:spPr>
          <a:xfrm>
            <a:off x="8039100" y="4717405"/>
            <a:ext cx="2200275" cy="19050"/>
          </a:xfrm>
          <a:prstGeom prst="rect">
            <a:avLst/>
          </a:prstGeom>
          <a:solidFill>
            <a:srgbClr val="D7D3CB"/>
          </a:solidFill>
          <a:ln/>
        </p:spPr>
      </p:sp>
      <p:sp>
        <p:nvSpPr>
          <p:cNvPr id="47" name="Text 45"/>
          <p:cNvSpPr/>
          <p:nvPr/>
        </p:nvSpPr>
        <p:spPr>
          <a:xfrm>
            <a:off x="8039100" y="4907905"/>
            <a:ext cx="2276475" cy="1002506"/>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Extracción de datos crudos</a:t>
            </a:r>
            <a:endParaRPr lang="en-US" sz="1875" dirty="0"/>
          </a:p>
        </p:txBody>
      </p:sp>
      <p:sp>
        <p:nvSpPr>
          <p:cNvPr id="48" name="Shape 46"/>
          <p:cNvSpPr/>
          <p:nvPr/>
        </p:nvSpPr>
        <p:spPr>
          <a:xfrm>
            <a:off x="10467975" y="4717405"/>
            <a:ext cx="2200275" cy="19050"/>
          </a:xfrm>
          <a:prstGeom prst="rect">
            <a:avLst/>
          </a:prstGeom>
          <a:solidFill>
            <a:srgbClr val="D7D3CB"/>
          </a:solidFill>
          <a:ln/>
        </p:spPr>
      </p:sp>
      <p:sp>
        <p:nvSpPr>
          <p:cNvPr id="49" name="Text 47"/>
          <p:cNvSpPr/>
          <p:nvPr/>
        </p:nvSpPr>
        <p:spPr>
          <a:xfrm>
            <a:off x="10467975" y="4907905"/>
            <a:ext cx="2276475" cy="1002506"/>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Análisis financiero semi-automatizado</a:t>
            </a:r>
            <a:endParaRPr lang="en-US" sz="1875" dirty="0"/>
          </a:p>
        </p:txBody>
      </p:sp>
      <p:sp>
        <p:nvSpPr>
          <p:cNvPr id="50" name="Shape 48"/>
          <p:cNvSpPr/>
          <p:nvPr/>
        </p:nvSpPr>
        <p:spPr>
          <a:xfrm>
            <a:off x="12896850" y="4717405"/>
            <a:ext cx="2200275" cy="19050"/>
          </a:xfrm>
          <a:prstGeom prst="rect">
            <a:avLst/>
          </a:prstGeom>
          <a:solidFill>
            <a:srgbClr val="D7D3CB"/>
          </a:solidFill>
          <a:ln/>
        </p:spPr>
      </p:sp>
      <p:sp>
        <p:nvSpPr>
          <p:cNvPr id="51" name="Text 49"/>
          <p:cNvSpPr/>
          <p:nvPr/>
        </p:nvSpPr>
        <p:spPr>
          <a:xfrm>
            <a:off x="12896850" y="4907905"/>
            <a:ext cx="2276475" cy="1002506"/>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Algoritmos de conversión en checkout</a:t>
            </a:r>
            <a:endParaRPr lang="en-US" sz="1875" dirty="0"/>
          </a:p>
        </p:txBody>
      </p:sp>
      <p:sp>
        <p:nvSpPr>
          <p:cNvPr id="52" name="Shape 50"/>
          <p:cNvSpPr/>
          <p:nvPr/>
        </p:nvSpPr>
        <p:spPr>
          <a:xfrm>
            <a:off x="15230475" y="4717405"/>
            <a:ext cx="2390775" cy="1154906"/>
          </a:xfrm>
          <a:prstGeom prst="rect">
            <a:avLst/>
          </a:prstGeom>
          <a:solidFill>
            <a:srgbClr val="F7EBE2"/>
          </a:solidFill>
          <a:ln/>
        </p:spPr>
      </p:sp>
      <p:sp>
        <p:nvSpPr>
          <p:cNvPr id="53" name="Shape 51"/>
          <p:cNvSpPr/>
          <p:nvPr/>
        </p:nvSpPr>
        <p:spPr>
          <a:xfrm>
            <a:off x="15230475" y="4717405"/>
            <a:ext cx="2390775" cy="19050"/>
          </a:xfrm>
          <a:prstGeom prst="rect">
            <a:avLst/>
          </a:prstGeom>
          <a:solidFill>
            <a:srgbClr val="B5623C"/>
          </a:solidFill>
          <a:ln/>
        </p:spPr>
      </p:sp>
      <p:sp>
        <p:nvSpPr>
          <p:cNvPr id="54" name="Text 52"/>
          <p:cNvSpPr/>
          <p:nvPr/>
        </p:nvSpPr>
        <p:spPr>
          <a:xfrm>
            <a:off x="15325725" y="4907905"/>
            <a:ext cx="2276475" cy="1002506"/>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3C2C25"/>
                </a:solidFill>
                <a:latin typeface="Arial" pitchFamily="34" charset="0"/>
                <a:ea typeface="Arial" pitchFamily="34" charset="-122"/>
                <a:cs typeface="Arial" pitchFamily="34" charset="-120"/>
              </a:rPr>
              <a:t>Bayesiano causal, series de tiempo y SHAP</a:t>
            </a:r>
            <a:endParaRPr lang="en-US" sz="1875" dirty="0"/>
          </a:p>
        </p:txBody>
      </p:sp>
      <p:sp>
        <p:nvSpPr>
          <p:cNvPr id="55" name="Shape 53"/>
          <p:cNvSpPr/>
          <p:nvPr/>
        </p:nvSpPr>
        <p:spPr>
          <a:xfrm>
            <a:off x="762000" y="7067699"/>
            <a:ext cx="2190750" cy="19050"/>
          </a:xfrm>
          <a:prstGeom prst="rect">
            <a:avLst/>
          </a:prstGeom>
          <a:solidFill>
            <a:srgbClr val="D7D3CB"/>
          </a:solidFill>
          <a:ln/>
        </p:spPr>
      </p:sp>
      <p:sp>
        <p:nvSpPr>
          <p:cNvPr id="56" name="Shape 54"/>
          <p:cNvSpPr/>
          <p:nvPr/>
        </p:nvSpPr>
        <p:spPr>
          <a:xfrm>
            <a:off x="762000" y="6062811"/>
            <a:ext cx="2190750" cy="19050"/>
          </a:xfrm>
          <a:prstGeom prst="rect">
            <a:avLst/>
          </a:prstGeom>
          <a:solidFill>
            <a:srgbClr val="D7D3CB"/>
          </a:solidFill>
          <a:ln/>
        </p:spPr>
      </p:sp>
      <p:sp>
        <p:nvSpPr>
          <p:cNvPr id="57" name="Text 55"/>
          <p:cNvSpPr/>
          <p:nvPr/>
        </p:nvSpPr>
        <p:spPr>
          <a:xfrm>
            <a:off x="762000" y="6253311"/>
            <a:ext cx="2266950" cy="681038"/>
          </a:xfrm>
          <a:prstGeom prst="rect">
            <a:avLst/>
          </a:prstGeom>
          <a:noFill/>
          <a:ln/>
        </p:spPr>
        <p:txBody>
          <a:bodyPr wrap="square" lIns="25400" tIns="25400" rIns="25400" bIns="25400" rtlCol="0" anchor="t">
            <a:normAutofit/>
          </a:bodyPr>
          <a:lstStyle/>
          <a:p>
            <a:pPr algn="l" indent="0" marL="0">
              <a:lnSpc>
                <a:spcPct val="120000"/>
              </a:lnSpc>
              <a:buNone/>
            </a:pPr>
            <a:r>
              <a:rPr lang="en-US" sz="1800" dirty="0">
                <a:solidFill>
                  <a:srgbClr val="6D7278"/>
                </a:solidFill>
                <a:latin typeface="Courier New" pitchFamily="34" charset="0"/>
                <a:ea typeface="Courier New" pitchFamily="34" charset="-122"/>
                <a:cs typeface="Courier New" pitchFamily="34" charset="-120"/>
              </a:rPr>
              <a:t>Ventas anuales</a:t>
            </a:r>
            <a:endParaRPr lang="en-US" sz="1800" dirty="0"/>
          </a:p>
        </p:txBody>
      </p:sp>
      <p:sp>
        <p:nvSpPr>
          <p:cNvPr id="58" name="Shape 56"/>
          <p:cNvSpPr/>
          <p:nvPr/>
        </p:nvSpPr>
        <p:spPr>
          <a:xfrm>
            <a:off x="3181350" y="7067699"/>
            <a:ext cx="2200275" cy="19050"/>
          </a:xfrm>
          <a:prstGeom prst="rect">
            <a:avLst/>
          </a:prstGeom>
          <a:solidFill>
            <a:srgbClr val="D7D3CB"/>
          </a:solidFill>
          <a:ln/>
        </p:spPr>
      </p:sp>
      <p:sp>
        <p:nvSpPr>
          <p:cNvPr id="59" name="Shape 57"/>
          <p:cNvSpPr/>
          <p:nvPr/>
        </p:nvSpPr>
        <p:spPr>
          <a:xfrm>
            <a:off x="3181350" y="6062811"/>
            <a:ext cx="2200275" cy="19050"/>
          </a:xfrm>
          <a:prstGeom prst="rect">
            <a:avLst/>
          </a:prstGeom>
          <a:solidFill>
            <a:srgbClr val="D7D3CB"/>
          </a:solidFill>
          <a:ln/>
        </p:spPr>
      </p:sp>
      <p:sp>
        <p:nvSpPr>
          <p:cNvPr id="60" name="Text 58"/>
          <p:cNvSpPr/>
          <p:nvPr/>
        </p:nvSpPr>
        <p:spPr>
          <a:xfrm>
            <a:off x="3181350" y="6253311"/>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&gt; $220.000 M COP</a:t>
            </a:r>
            <a:endParaRPr lang="en-US" sz="1875" dirty="0"/>
          </a:p>
        </p:txBody>
      </p:sp>
      <p:sp>
        <p:nvSpPr>
          <p:cNvPr id="61" name="Shape 59"/>
          <p:cNvSpPr/>
          <p:nvPr/>
        </p:nvSpPr>
        <p:spPr>
          <a:xfrm>
            <a:off x="5610225" y="7067699"/>
            <a:ext cx="2200275" cy="19050"/>
          </a:xfrm>
          <a:prstGeom prst="rect">
            <a:avLst/>
          </a:prstGeom>
          <a:solidFill>
            <a:srgbClr val="D7D3CB"/>
          </a:solidFill>
          <a:ln/>
        </p:spPr>
      </p:sp>
      <p:sp>
        <p:nvSpPr>
          <p:cNvPr id="62" name="Shape 60"/>
          <p:cNvSpPr/>
          <p:nvPr/>
        </p:nvSpPr>
        <p:spPr>
          <a:xfrm>
            <a:off x="5610225" y="6062811"/>
            <a:ext cx="2200275" cy="19050"/>
          </a:xfrm>
          <a:prstGeom prst="rect">
            <a:avLst/>
          </a:prstGeom>
          <a:solidFill>
            <a:srgbClr val="D7D3CB"/>
          </a:solidFill>
          <a:ln/>
        </p:spPr>
      </p:sp>
      <p:sp>
        <p:nvSpPr>
          <p:cNvPr id="63" name="Text 61"/>
          <p:cNvSpPr/>
          <p:nvPr/>
        </p:nvSpPr>
        <p:spPr>
          <a:xfrm>
            <a:off x="5610225" y="6253311"/>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&gt; $130.000 M COP</a:t>
            </a:r>
            <a:endParaRPr lang="en-US" sz="1875" dirty="0"/>
          </a:p>
        </p:txBody>
      </p:sp>
      <p:sp>
        <p:nvSpPr>
          <p:cNvPr id="64" name="Shape 62"/>
          <p:cNvSpPr/>
          <p:nvPr/>
        </p:nvSpPr>
        <p:spPr>
          <a:xfrm>
            <a:off x="8039100" y="7067699"/>
            <a:ext cx="2200275" cy="19050"/>
          </a:xfrm>
          <a:prstGeom prst="rect">
            <a:avLst/>
          </a:prstGeom>
          <a:solidFill>
            <a:srgbClr val="D7D3CB"/>
          </a:solidFill>
          <a:ln/>
        </p:spPr>
      </p:sp>
      <p:sp>
        <p:nvSpPr>
          <p:cNvPr id="65" name="Shape 63"/>
          <p:cNvSpPr/>
          <p:nvPr/>
        </p:nvSpPr>
        <p:spPr>
          <a:xfrm>
            <a:off x="8039100" y="6062811"/>
            <a:ext cx="2200275" cy="19050"/>
          </a:xfrm>
          <a:prstGeom prst="rect">
            <a:avLst/>
          </a:prstGeom>
          <a:solidFill>
            <a:srgbClr val="D7D3CB"/>
          </a:solidFill>
          <a:ln/>
        </p:spPr>
      </p:sp>
      <p:sp>
        <p:nvSpPr>
          <p:cNvPr id="66" name="Text 64"/>
          <p:cNvSpPr/>
          <p:nvPr/>
        </p:nvSpPr>
        <p:spPr>
          <a:xfrm>
            <a:off x="8039100" y="6253311"/>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&gt; US$8 M ARR regional</a:t>
            </a:r>
            <a:endParaRPr lang="en-US" sz="1875" dirty="0"/>
          </a:p>
        </p:txBody>
      </p:sp>
      <p:sp>
        <p:nvSpPr>
          <p:cNvPr id="67" name="Shape 65"/>
          <p:cNvSpPr/>
          <p:nvPr/>
        </p:nvSpPr>
        <p:spPr>
          <a:xfrm>
            <a:off x="10467975" y="7067699"/>
            <a:ext cx="2200275" cy="19050"/>
          </a:xfrm>
          <a:prstGeom prst="rect">
            <a:avLst/>
          </a:prstGeom>
          <a:solidFill>
            <a:srgbClr val="D7D3CB"/>
          </a:solidFill>
          <a:ln/>
        </p:spPr>
      </p:sp>
      <p:sp>
        <p:nvSpPr>
          <p:cNvPr id="68" name="Shape 66"/>
          <p:cNvSpPr/>
          <p:nvPr/>
        </p:nvSpPr>
        <p:spPr>
          <a:xfrm>
            <a:off x="10467975" y="6062811"/>
            <a:ext cx="2200275" cy="19050"/>
          </a:xfrm>
          <a:prstGeom prst="rect">
            <a:avLst/>
          </a:prstGeom>
          <a:solidFill>
            <a:srgbClr val="D7D3CB"/>
          </a:solidFill>
          <a:ln/>
        </p:spPr>
      </p:sp>
      <p:sp>
        <p:nvSpPr>
          <p:cNvPr id="69" name="Text 67"/>
          <p:cNvSpPr/>
          <p:nvPr/>
        </p:nvSpPr>
        <p:spPr>
          <a:xfrm>
            <a:off x="10467975" y="6253311"/>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&gt; $35.000 M COP</a:t>
            </a:r>
            <a:endParaRPr lang="en-US" sz="1875" dirty="0"/>
          </a:p>
        </p:txBody>
      </p:sp>
      <p:sp>
        <p:nvSpPr>
          <p:cNvPr id="70" name="Shape 68"/>
          <p:cNvSpPr/>
          <p:nvPr/>
        </p:nvSpPr>
        <p:spPr>
          <a:xfrm>
            <a:off x="12896850" y="7067699"/>
            <a:ext cx="2200275" cy="19050"/>
          </a:xfrm>
          <a:prstGeom prst="rect">
            <a:avLst/>
          </a:prstGeom>
          <a:solidFill>
            <a:srgbClr val="D7D3CB"/>
          </a:solidFill>
          <a:ln/>
        </p:spPr>
      </p:sp>
      <p:sp>
        <p:nvSpPr>
          <p:cNvPr id="71" name="Shape 69"/>
          <p:cNvSpPr/>
          <p:nvPr/>
        </p:nvSpPr>
        <p:spPr>
          <a:xfrm>
            <a:off x="12896850" y="6062811"/>
            <a:ext cx="2200275" cy="19050"/>
          </a:xfrm>
          <a:prstGeom prst="rect">
            <a:avLst/>
          </a:prstGeom>
          <a:solidFill>
            <a:srgbClr val="D7D3CB"/>
          </a:solidFill>
          <a:ln/>
        </p:spPr>
      </p:sp>
      <p:sp>
        <p:nvSpPr>
          <p:cNvPr id="72" name="Text 70"/>
          <p:cNvSpPr/>
          <p:nvPr/>
        </p:nvSpPr>
        <p:spPr>
          <a:xfrm>
            <a:off x="12896850" y="6253311"/>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42464D"/>
                </a:solidFill>
                <a:latin typeface="Arial" pitchFamily="34" charset="0"/>
                <a:ea typeface="Arial" pitchFamily="34" charset="-122"/>
                <a:cs typeface="Arial" pitchFamily="34" charset="-120"/>
              </a:rPr>
              <a:t>&gt; $150.000 M COP</a:t>
            </a:r>
            <a:endParaRPr lang="en-US" sz="1875" dirty="0"/>
          </a:p>
        </p:txBody>
      </p:sp>
      <p:sp>
        <p:nvSpPr>
          <p:cNvPr id="73" name="Shape 71"/>
          <p:cNvSpPr/>
          <p:nvPr/>
        </p:nvSpPr>
        <p:spPr>
          <a:xfrm>
            <a:off x="15325725" y="7067699"/>
            <a:ext cx="2200275" cy="19050"/>
          </a:xfrm>
          <a:prstGeom prst="rect">
            <a:avLst/>
          </a:prstGeom>
          <a:solidFill>
            <a:srgbClr val="B5623C"/>
          </a:solidFill>
          <a:ln/>
        </p:spPr>
      </p:sp>
      <p:sp>
        <p:nvSpPr>
          <p:cNvPr id="74" name="Shape 72"/>
          <p:cNvSpPr/>
          <p:nvPr/>
        </p:nvSpPr>
        <p:spPr>
          <a:xfrm>
            <a:off x="15325725" y="6062811"/>
            <a:ext cx="2200275" cy="19050"/>
          </a:xfrm>
          <a:prstGeom prst="rect">
            <a:avLst/>
          </a:prstGeom>
          <a:solidFill>
            <a:srgbClr val="B5623C"/>
          </a:solidFill>
          <a:ln/>
        </p:spPr>
      </p:sp>
      <p:sp>
        <p:nvSpPr>
          <p:cNvPr id="75" name="Text 73"/>
          <p:cNvSpPr/>
          <p:nvPr/>
        </p:nvSpPr>
        <p:spPr>
          <a:xfrm>
            <a:off x="15325725" y="6253311"/>
            <a:ext cx="2276475" cy="681038"/>
          </a:xfrm>
          <a:prstGeom prst="rect">
            <a:avLst/>
          </a:prstGeom>
          <a:noFill/>
          <a:ln/>
        </p:spPr>
        <p:txBody>
          <a:bodyPr wrap="square" lIns="25400" tIns="25400" rIns="25400" bIns="25400" rtlCol="0" anchor="t">
            <a:normAutofit/>
          </a:bodyPr>
          <a:lstStyle/>
          <a:p>
            <a:pPr algn="l" indent="0" marL="0">
              <a:lnSpc>
                <a:spcPct val="116379"/>
              </a:lnSpc>
              <a:buNone/>
            </a:pPr>
            <a:r>
              <a:rPr lang="en-US" sz="1875" dirty="0">
                <a:solidFill>
                  <a:srgbClr val="17191D"/>
                </a:solidFill>
                <a:latin typeface="Arial" pitchFamily="34" charset="0"/>
                <a:ea typeface="Arial" pitchFamily="34" charset="-122"/>
                <a:cs typeface="Arial" pitchFamily="34" charset="-120"/>
              </a:rPr>
              <a:t>Pre-ingresos (SaaS por API call)</a:t>
            </a:r>
            <a:endParaRPr lang="en-US" sz="187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8288000" cy="2330053"/>
          </a:xfrm>
          <a:prstGeom prst="rect">
            <a:avLst/>
          </a:prstGeom>
          <a:solidFill>
            <a:srgbClr val="14181F"/>
          </a:solidFill>
          <a:ln/>
        </p:spPr>
      </p:sp>
      <p:sp>
        <p:nvSpPr>
          <p:cNvPr id="3" name="Shape 1"/>
          <p:cNvSpPr/>
          <p:nvPr/>
        </p:nvSpPr>
        <p:spPr>
          <a:xfrm>
            <a:off x="0" y="2234803"/>
            <a:ext cx="18288000" cy="95250"/>
          </a:xfrm>
          <a:prstGeom prst="rect">
            <a:avLst/>
          </a:prstGeom>
          <a:solidFill>
            <a:srgbClr val="B5623C"/>
          </a:solidFill>
          <a:ln/>
        </p:spPr>
      </p:sp>
      <p:sp>
        <p:nvSpPr>
          <p:cNvPr id="4" name="Text 2"/>
          <p:cNvSpPr/>
          <p:nvPr/>
        </p:nvSpPr>
        <p:spPr>
          <a:xfrm>
            <a:off x="1047750" y="609600"/>
            <a:ext cx="9862929"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2A684"/>
                </a:solidFill>
                <a:latin typeface="Courier New" pitchFamily="34" charset="0"/>
                <a:ea typeface="Courier New" pitchFamily="34" charset="-122"/>
                <a:cs typeface="Courier New" pitchFamily="34" charset="-120"/>
              </a:rPr>
              <a:t>COMPETIDOR 01</a:t>
            </a:r>
            <a:endParaRPr lang="en-US" sz="1800" dirty="0"/>
          </a:p>
        </p:txBody>
      </p:sp>
      <p:sp>
        <p:nvSpPr>
          <p:cNvPr id="5" name="Text 3"/>
          <p:cNvSpPr/>
          <p:nvPr/>
        </p:nvSpPr>
        <p:spPr>
          <a:xfrm>
            <a:off x="1047750" y="1085850"/>
            <a:ext cx="9862929" cy="634603"/>
          </a:xfrm>
          <a:prstGeom prst="rect">
            <a:avLst/>
          </a:prstGeom>
          <a:noFill/>
          <a:ln/>
        </p:spPr>
        <p:txBody>
          <a:bodyPr wrap="square" lIns="25400" tIns="25400" rIns="25400" bIns="25400" rtlCol="0" anchor="t">
            <a:normAutofit/>
          </a:bodyPr>
          <a:lstStyle/>
          <a:p>
            <a:pPr algn="l" indent="0" marL="0">
              <a:lnSpc>
                <a:spcPct val="93493"/>
              </a:lnSpc>
              <a:buNone/>
            </a:pPr>
            <a:r>
              <a:rPr lang="en-US" sz="4350" b="1" dirty="0">
                <a:solidFill>
                  <a:srgbClr val="F5F3EF"/>
                </a:solidFill>
                <a:latin typeface="Arial" pitchFamily="34" charset="0"/>
                <a:ea typeface="Arial" pitchFamily="34" charset="-122"/>
                <a:cs typeface="Arial" pitchFamily="34" charset="-120"/>
              </a:rPr>
              <a:t>DataCrédito Experian Colombia S.A.</a:t>
            </a:r>
            <a:endParaRPr lang="en-US" sz="4350" dirty="0"/>
          </a:p>
        </p:txBody>
      </p:sp>
      <p:sp>
        <p:nvSpPr>
          <p:cNvPr id="6" name="Text 4"/>
          <p:cNvSpPr/>
          <p:nvPr/>
        </p:nvSpPr>
        <p:spPr>
          <a:xfrm>
            <a:off x="13460819" y="825103"/>
            <a:ext cx="3779431" cy="342900"/>
          </a:xfrm>
          <a:prstGeom prst="rect">
            <a:avLst/>
          </a:prstGeom>
          <a:noFill/>
          <a:ln/>
        </p:spPr>
        <p:txBody>
          <a:bodyPr wrap="none" lIns="25400" tIns="25400" rIns="25400" bIns="25400" rtlCol="0" anchor="t">
            <a:normAutofit/>
          </a:bodyPr>
          <a:lstStyle/>
          <a:p>
            <a:pPr algn="r" indent="0" marL="0">
              <a:buNone/>
            </a:pPr>
            <a:r>
              <a:rPr lang="en-US" sz="1800" dirty="0">
                <a:solidFill>
                  <a:srgbClr val="7FA3CA"/>
                </a:solidFill>
                <a:latin typeface="Courier New" pitchFamily="34" charset="0"/>
                <a:ea typeface="Courier New" pitchFamily="34" charset="-122"/>
                <a:cs typeface="Courier New" pitchFamily="34" charset="-120"/>
              </a:rPr>
              <a:t>Ventas anuales</a:t>
            </a:r>
            <a:endParaRPr lang="en-US" sz="1800" dirty="0"/>
          </a:p>
        </p:txBody>
      </p:sp>
      <p:sp>
        <p:nvSpPr>
          <p:cNvPr id="7" name="Text 5"/>
          <p:cNvSpPr/>
          <p:nvPr/>
        </p:nvSpPr>
        <p:spPr>
          <a:xfrm>
            <a:off x="13460819" y="1225153"/>
            <a:ext cx="3779431" cy="495300"/>
          </a:xfrm>
          <a:prstGeom prst="rect">
            <a:avLst/>
          </a:prstGeom>
          <a:noFill/>
          <a:ln/>
        </p:spPr>
        <p:txBody>
          <a:bodyPr wrap="none" lIns="25400" tIns="25400" rIns="25400" bIns="25400" rtlCol="0" anchor="t">
            <a:normAutofit/>
          </a:bodyPr>
          <a:lstStyle/>
          <a:p>
            <a:pPr algn="r" indent="0" marL="0">
              <a:buNone/>
            </a:pPr>
            <a:r>
              <a:rPr lang="en-US" sz="3150" b="1" dirty="0">
                <a:solidFill>
                  <a:srgbClr val="E2A684"/>
                </a:solidFill>
                <a:latin typeface="Arial" pitchFamily="34" charset="0"/>
                <a:ea typeface="Arial" pitchFamily="34" charset="-122"/>
                <a:cs typeface="Arial" pitchFamily="34" charset="-120"/>
              </a:rPr>
              <a:t>&gt; $220.000 M COP</a:t>
            </a:r>
            <a:endParaRPr lang="en-US" sz="3150" dirty="0"/>
          </a:p>
        </p:txBody>
      </p:sp>
      <p:sp>
        <p:nvSpPr>
          <p:cNvPr id="8" name="Shape 6"/>
          <p:cNvSpPr/>
          <p:nvPr/>
        </p:nvSpPr>
        <p:spPr>
          <a:xfrm>
            <a:off x="1047750" y="2825353"/>
            <a:ext cx="7943850" cy="1649611"/>
          </a:xfrm>
          <a:prstGeom prst="rect">
            <a:avLst/>
          </a:prstGeom>
          <a:solidFill>
            <a:srgbClr val="E8E4DC"/>
          </a:solidFill>
          <a:ln/>
        </p:spPr>
      </p:sp>
      <p:sp>
        <p:nvSpPr>
          <p:cNvPr id="9" name="Shape 7"/>
          <p:cNvSpPr/>
          <p:nvPr/>
        </p:nvSpPr>
        <p:spPr>
          <a:xfrm>
            <a:off x="1047750" y="2825353"/>
            <a:ext cx="47625" cy="1649611"/>
          </a:xfrm>
          <a:prstGeom prst="rect">
            <a:avLst/>
          </a:prstGeom>
          <a:solidFill>
            <a:srgbClr val="3D6B9E"/>
          </a:solidFill>
          <a:ln/>
        </p:spPr>
      </p:sp>
      <p:sp>
        <p:nvSpPr>
          <p:cNvPr id="10" name="Text 8"/>
          <p:cNvSpPr/>
          <p:nvPr/>
        </p:nvSpPr>
        <p:spPr>
          <a:xfrm>
            <a:off x="136207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Actividad comercial</a:t>
            </a:r>
            <a:endParaRPr lang="en-US" sz="1800" dirty="0"/>
          </a:p>
        </p:txBody>
      </p:sp>
      <p:sp>
        <p:nvSpPr>
          <p:cNvPr id="11" name="Text 9"/>
          <p:cNvSpPr/>
          <p:nvPr/>
        </p:nvSpPr>
        <p:spPr>
          <a:xfrm>
            <a:off x="1362075" y="3473053"/>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Central de información crediticia, buró de datos y analítica de riesgo B2B y B2C.</a:t>
            </a:r>
            <a:endParaRPr lang="en-US" sz="2175" dirty="0"/>
          </a:p>
        </p:txBody>
      </p:sp>
      <p:sp>
        <p:nvSpPr>
          <p:cNvPr id="12" name="Shape 10"/>
          <p:cNvSpPr/>
          <p:nvPr/>
        </p:nvSpPr>
        <p:spPr>
          <a:xfrm>
            <a:off x="9296400" y="2825353"/>
            <a:ext cx="7943850" cy="1649611"/>
          </a:xfrm>
          <a:prstGeom prst="rect">
            <a:avLst/>
          </a:prstGeom>
          <a:solidFill>
            <a:srgbClr val="E8E4DC"/>
          </a:solidFill>
          <a:ln/>
        </p:spPr>
      </p:sp>
      <p:sp>
        <p:nvSpPr>
          <p:cNvPr id="13" name="Shape 11"/>
          <p:cNvSpPr/>
          <p:nvPr/>
        </p:nvSpPr>
        <p:spPr>
          <a:xfrm>
            <a:off x="9296400" y="2825353"/>
            <a:ext cx="47625" cy="1649611"/>
          </a:xfrm>
          <a:prstGeom prst="rect">
            <a:avLst/>
          </a:prstGeom>
          <a:solidFill>
            <a:srgbClr val="3D6B9E"/>
          </a:solidFill>
          <a:ln/>
        </p:spPr>
      </p:sp>
      <p:sp>
        <p:nvSpPr>
          <p:cNvPr id="14" name="Text 12"/>
          <p:cNvSpPr/>
          <p:nvPr/>
        </p:nvSpPr>
        <p:spPr>
          <a:xfrm>
            <a:off x="961072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Problema que resuelve</a:t>
            </a:r>
            <a:endParaRPr lang="en-US" sz="1800" dirty="0"/>
          </a:p>
        </p:txBody>
      </p:sp>
      <p:sp>
        <p:nvSpPr>
          <p:cNvPr id="15" name="Text 13"/>
          <p:cNvSpPr/>
          <p:nvPr/>
        </p:nvSpPr>
        <p:spPr>
          <a:xfrm>
            <a:off x="9610725" y="3473053"/>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Consolida el historial crediticio formal reportado por banca, telcos y comercio.</a:t>
            </a:r>
            <a:endParaRPr lang="en-US" sz="2175" dirty="0"/>
          </a:p>
        </p:txBody>
      </p:sp>
      <p:sp>
        <p:nvSpPr>
          <p:cNvPr id="16" name="Shape 14"/>
          <p:cNvSpPr/>
          <p:nvPr/>
        </p:nvSpPr>
        <p:spPr>
          <a:xfrm>
            <a:off x="1047750" y="4722614"/>
            <a:ext cx="7943850" cy="1649611"/>
          </a:xfrm>
          <a:prstGeom prst="rect">
            <a:avLst/>
          </a:prstGeom>
          <a:solidFill>
            <a:srgbClr val="E8E4DC"/>
          </a:solidFill>
          <a:ln/>
        </p:spPr>
      </p:sp>
      <p:sp>
        <p:nvSpPr>
          <p:cNvPr id="17" name="Shape 15"/>
          <p:cNvSpPr/>
          <p:nvPr/>
        </p:nvSpPr>
        <p:spPr>
          <a:xfrm>
            <a:off x="1047750" y="4722614"/>
            <a:ext cx="47625" cy="1649611"/>
          </a:xfrm>
          <a:prstGeom prst="rect">
            <a:avLst/>
          </a:prstGeom>
          <a:solidFill>
            <a:srgbClr val="3D6B9E"/>
          </a:solidFill>
          <a:ln/>
        </p:spPr>
      </p:sp>
      <p:sp>
        <p:nvSpPr>
          <p:cNvPr id="18" name="Text 16"/>
          <p:cNvSpPr/>
          <p:nvPr/>
        </p:nvSpPr>
        <p:spPr>
          <a:xfrm>
            <a:off x="1362075" y="4951214"/>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Principal producto</a:t>
            </a:r>
            <a:endParaRPr lang="en-US" sz="1800" dirty="0"/>
          </a:p>
        </p:txBody>
      </p:sp>
      <p:sp>
        <p:nvSpPr>
          <p:cNvPr id="19" name="Text 17"/>
          <p:cNvSpPr/>
          <p:nvPr/>
        </p:nvSpPr>
        <p:spPr>
          <a:xfrm>
            <a:off x="1362075" y="5370314"/>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Historia de Crédito y Score DataCrédito Experian (150 a 950 puntos).</a:t>
            </a:r>
            <a:endParaRPr lang="en-US" sz="2175" dirty="0"/>
          </a:p>
        </p:txBody>
      </p:sp>
      <p:sp>
        <p:nvSpPr>
          <p:cNvPr id="20" name="Shape 18"/>
          <p:cNvSpPr/>
          <p:nvPr/>
        </p:nvSpPr>
        <p:spPr>
          <a:xfrm>
            <a:off x="9296400" y="4722614"/>
            <a:ext cx="7943850" cy="1649611"/>
          </a:xfrm>
          <a:prstGeom prst="rect">
            <a:avLst/>
          </a:prstGeom>
          <a:solidFill>
            <a:srgbClr val="E8E4DC"/>
          </a:solidFill>
          <a:ln/>
        </p:spPr>
      </p:sp>
      <p:sp>
        <p:nvSpPr>
          <p:cNvPr id="21" name="Shape 19"/>
          <p:cNvSpPr/>
          <p:nvPr/>
        </p:nvSpPr>
        <p:spPr>
          <a:xfrm>
            <a:off x="9296400" y="4722614"/>
            <a:ext cx="47625" cy="1649611"/>
          </a:xfrm>
          <a:prstGeom prst="rect">
            <a:avLst/>
          </a:prstGeom>
          <a:solidFill>
            <a:srgbClr val="3D6B9E"/>
          </a:solidFill>
          <a:ln/>
        </p:spPr>
      </p:sp>
      <p:sp>
        <p:nvSpPr>
          <p:cNvPr id="22" name="Text 20"/>
          <p:cNvSpPr/>
          <p:nvPr/>
        </p:nvSpPr>
        <p:spPr>
          <a:xfrm>
            <a:off x="9610725" y="4951214"/>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Ciudades / países</a:t>
            </a:r>
            <a:endParaRPr lang="en-US" sz="1800" dirty="0"/>
          </a:p>
        </p:txBody>
      </p:sp>
      <p:sp>
        <p:nvSpPr>
          <p:cNvPr id="23" name="Text 21"/>
          <p:cNvSpPr/>
          <p:nvPr/>
        </p:nvSpPr>
        <p:spPr>
          <a:xfrm>
            <a:off x="9610725" y="5370314"/>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Cobertura nacional en Colombia; operación global de Experian en más de 30 países.</a:t>
            </a:r>
            <a:endParaRPr lang="en-US" sz="2175" dirty="0"/>
          </a:p>
        </p:txBody>
      </p:sp>
      <p:sp>
        <p:nvSpPr>
          <p:cNvPr id="24" name="Shape 22"/>
          <p:cNvSpPr/>
          <p:nvPr/>
        </p:nvSpPr>
        <p:spPr>
          <a:xfrm>
            <a:off x="1047750" y="6753225"/>
            <a:ext cx="7943850" cy="2217241"/>
          </a:xfrm>
          <a:prstGeom prst="rect">
            <a:avLst/>
          </a:prstGeom>
          <a:solidFill>
            <a:srgbClr val="DFE4EA"/>
          </a:solidFill>
          <a:ln/>
        </p:spPr>
      </p:sp>
      <p:sp>
        <p:nvSpPr>
          <p:cNvPr id="25" name="Shape 23"/>
          <p:cNvSpPr/>
          <p:nvPr/>
        </p:nvSpPr>
        <p:spPr>
          <a:xfrm>
            <a:off x="1047750" y="6753225"/>
            <a:ext cx="7943850" cy="47625"/>
          </a:xfrm>
          <a:prstGeom prst="rect">
            <a:avLst/>
          </a:prstGeom>
          <a:solidFill>
            <a:srgbClr val="3D6B9E"/>
          </a:solidFill>
          <a:ln/>
        </p:spPr>
      </p:sp>
      <p:sp>
        <p:nvSpPr>
          <p:cNvPr id="26" name="Text 24"/>
          <p:cNvSpPr/>
          <p:nvPr/>
        </p:nvSpPr>
        <p:spPr>
          <a:xfrm>
            <a:off x="1371600" y="7086600"/>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B527C"/>
                </a:solidFill>
                <a:latin typeface="Courier New" pitchFamily="34" charset="0"/>
                <a:ea typeface="Courier New" pitchFamily="34" charset="-122"/>
                <a:cs typeface="Courier New" pitchFamily="34" charset="-120"/>
              </a:rPr>
              <a:t>En qué nos parecemos</a:t>
            </a:r>
            <a:endParaRPr lang="en-US" sz="1800" dirty="0"/>
          </a:p>
        </p:txBody>
      </p:sp>
      <p:sp>
        <p:nvSpPr>
          <p:cNvPr id="27" name="Text 25"/>
          <p:cNvSpPr/>
          <p:nvPr/>
        </p:nvSpPr>
        <p:spPr>
          <a:xfrm>
            <a:off x="1371600" y="7524750"/>
            <a:ext cx="7515035"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2C2F35"/>
                </a:solidFill>
                <a:latin typeface="Arial" pitchFamily="34" charset="0"/>
                <a:ea typeface="Arial" pitchFamily="34" charset="-122"/>
                <a:cs typeface="Arial" pitchFamily="34" charset="-120"/>
              </a:rPr>
              <a:t>Ambos proveemos herramientas de evaluación de riesgo para comités de originación.</a:t>
            </a:r>
            <a:endParaRPr lang="en-US" sz="2175" dirty="0"/>
          </a:p>
        </p:txBody>
      </p:sp>
      <p:sp>
        <p:nvSpPr>
          <p:cNvPr id="28" name="Shape 26"/>
          <p:cNvSpPr/>
          <p:nvPr/>
        </p:nvSpPr>
        <p:spPr>
          <a:xfrm>
            <a:off x="9296400" y="6753225"/>
            <a:ext cx="7943850" cy="2217241"/>
          </a:xfrm>
          <a:prstGeom prst="rect">
            <a:avLst/>
          </a:prstGeom>
          <a:solidFill>
            <a:srgbClr val="8A3B25"/>
          </a:solidFill>
          <a:ln/>
        </p:spPr>
      </p:sp>
      <p:sp>
        <p:nvSpPr>
          <p:cNvPr id="29" name="Shape 27"/>
          <p:cNvSpPr/>
          <p:nvPr/>
        </p:nvSpPr>
        <p:spPr>
          <a:xfrm>
            <a:off x="9296400" y="6753225"/>
            <a:ext cx="7943850" cy="47625"/>
          </a:xfrm>
          <a:prstGeom prst="rect">
            <a:avLst/>
          </a:prstGeom>
          <a:solidFill>
            <a:srgbClr val="E2A684"/>
          </a:solidFill>
          <a:ln/>
        </p:spPr>
      </p:sp>
      <p:sp>
        <p:nvSpPr>
          <p:cNvPr id="30" name="Text 28"/>
          <p:cNvSpPr/>
          <p:nvPr/>
        </p:nvSpPr>
        <p:spPr>
          <a:xfrm>
            <a:off x="9620250" y="7086600"/>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4CDB4"/>
                </a:solidFill>
                <a:latin typeface="Courier New" pitchFamily="34" charset="0"/>
                <a:ea typeface="Courier New" pitchFamily="34" charset="-122"/>
                <a:cs typeface="Courier New" pitchFamily="34" charset="-120"/>
              </a:rPr>
              <a:t>En qué nos diferenciamos</a:t>
            </a:r>
            <a:endParaRPr lang="en-US" sz="1800" dirty="0"/>
          </a:p>
        </p:txBody>
      </p:sp>
      <p:sp>
        <p:nvSpPr>
          <p:cNvPr id="31" name="Text 29"/>
          <p:cNvSpPr/>
          <p:nvPr/>
        </p:nvSpPr>
        <p:spPr>
          <a:xfrm>
            <a:off x="9620250" y="7524750"/>
            <a:ext cx="7515035" cy="1198066"/>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DF6F1"/>
                </a:solidFill>
                <a:latin typeface="Arial" pitchFamily="34" charset="0"/>
                <a:ea typeface="Arial" pitchFamily="34" charset="-122"/>
                <a:cs typeface="Arial" pitchFamily="34" charset="-120"/>
              </a:rPr>
              <a:t>Su score es retrospectivo y nulo sin créditos previos; el nuestro es prospectivo y calcula solvencia desde el flujo de caja.</a:t>
            </a:r>
            <a:endParaRPr lang="en-US" sz="217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8288000" cy="2330053"/>
          </a:xfrm>
          <a:prstGeom prst="rect">
            <a:avLst/>
          </a:prstGeom>
          <a:solidFill>
            <a:srgbClr val="14181F"/>
          </a:solidFill>
          <a:ln/>
        </p:spPr>
      </p:sp>
      <p:sp>
        <p:nvSpPr>
          <p:cNvPr id="3" name="Shape 1"/>
          <p:cNvSpPr/>
          <p:nvPr/>
        </p:nvSpPr>
        <p:spPr>
          <a:xfrm>
            <a:off x="0" y="2234803"/>
            <a:ext cx="18288000" cy="95250"/>
          </a:xfrm>
          <a:prstGeom prst="rect">
            <a:avLst/>
          </a:prstGeom>
          <a:solidFill>
            <a:srgbClr val="B5623C"/>
          </a:solidFill>
          <a:ln/>
        </p:spPr>
      </p:sp>
      <p:sp>
        <p:nvSpPr>
          <p:cNvPr id="4" name="Text 2"/>
          <p:cNvSpPr/>
          <p:nvPr/>
        </p:nvSpPr>
        <p:spPr>
          <a:xfrm>
            <a:off x="1047750" y="609600"/>
            <a:ext cx="11494309"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2A684"/>
                </a:solidFill>
                <a:latin typeface="Courier New" pitchFamily="34" charset="0"/>
                <a:ea typeface="Courier New" pitchFamily="34" charset="-122"/>
                <a:cs typeface="Courier New" pitchFamily="34" charset="-120"/>
              </a:rPr>
              <a:t>COMPETIDOR 02</a:t>
            </a:r>
            <a:endParaRPr lang="en-US" sz="1800" dirty="0"/>
          </a:p>
        </p:txBody>
      </p:sp>
      <p:sp>
        <p:nvSpPr>
          <p:cNvPr id="5" name="Text 3"/>
          <p:cNvSpPr/>
          <p:nvPr/>
        </p:nvSpPr>
        <p:spPr>
          <a:xfrm>
            <a:off x="1047750" y="1085850"/>
            <a:ext cx="11494309" cy="634603"/>
          </a:xfrm>
          <a:prstGeom prst="rect">
            <a:avLst/>
          </a:prstGeom>
          <a:noFill/>
          <a:ln/>
        </p:spPr>
        <p:txBody>
          <a:bodyPr wrap="square" lIns="25400" tIns="25400" rIns="25400" bIns="25400" rtlCol="0" anchor="t">
            <a:normAutofit/>
          </a:bodyPr>
          <a:lstStyle/>
          <a:p>
            <a:pPr algn="l" indent="0" marL="0">
              <a:lnSpc>
                <a:spcPct val="93493"/>
              </a:lnSpc>
              <a:buNone/>
            </a:pPr>
            <a:r>
              <a:rPr lang="en-US" sz="4350" b="1" dirty="0">
                <a:solidFill>
                  <a:srgbClr val="F5F3EF"/>
                </a:solidFill>
                <a:latin typeface="Arial" pitchFamily="34" charset="0"/>
                <a:ea typeface="Arial" pitchFamily="34" charset="-122"/>
                <a:cs typeface="Arial" pitchFamily="34" charset="-120"/>
              </a:rPr>
              <a:t>TransUnion Colombia S.A. (antigua CIFIN)</a:t>
            </a:r>
            <a:endParaRPr lang="en-US" sz="4350" dirty="0"/>
          </a:p>
        </p:txBody>
      </p:sp>
      <p:sp>
        <p:nvSpPr>
          <p:cNvPr id="6" name="Text 4"/>
          <p:cNvSpPr/>
          <p:nvPr/>
        </p:nvSpPr>
        <p:spPr>
          <a:xfrm>
            <a:off x="13460819" y="825103"/>
            <a:ext cx="3779431" cy="342900"/>
          </a:xfrm>
          <a:prstGeom prst="rect">
            <a:avLst/>
          </a:prstGeom>
          <a:noFill/>
          <a:ln/>
        </p:spPr>
        <p:txBody>
          <a:bodyPr wrap="none" lIns="25400" tIns="25400" rIns="25400" bIns="25400" rtlCol="0" anchor="t">
            <a:normAutofit/>
          </a:bodyPr>
          <a:lstStyle/>
          <a:p>
            <a:pPr algn="r" indent="0" marL="0">
              <a:buNone/>
            </a:pPr>
            <a:r>
              <a:rPr lang="en-US" sz="1800" dirty="0">
                <a:solidFill>
                  <a:srgbClr val="7FA3CA"/>
                </a:solidFill>
                <a:latin typeface="Courier New" pitchFamily="34" charset="0"/>
                <a:ea typeface="Courier New" pitchFamily="34" charset="-122"/>
                <a:cs typeface="Courier New" pitchFamily="34" charset="-120"/>
              </a:rPr>
              <a:t>Ventas anuales</a:t>
            </a:r>
            <a:endParaRPr lang="en-US" sz="1800" dirty="0"/>
          </a:p>
        </p:txBody>
      </p:sp>
      <p:sp>
        <p:nvSpPr>
          <p:cNvPr id="7" name="Text 5"/>
          <p:cNvSpPr/>
          <p:nvPr/>
        </p:nvSpPr>
        <p:spPr>
          <a:xfrm>
            <a:off x="13460819" y="1225153"/>
            <a:ext cx="3779431" cy="495300"/>
          </a:xfrm>
          <a:prstGeom prst="rect">
            <a:avLst/>
          </a:prstGeom>
          <a:noFill/>
          <a:ln/>
        </p:spPr>
        <p:txBody>
          <a:bodyPr wrap="none" lIns="25400" tIns="25400" rIns="25400" bIns="25400" rtlCol="0" anchor="t">
            <a:normAutofit/>
          </a:bodyPr>
          <a:lstStyle/>
          <a:p>
            <a:pPr algn="r" indent="0" marL="0">
              <a:buNone/>
            </a:pPr>
            <a:r>
              <a:rPr lang="en-US" sz="3150" b="1" dirty="0">
                <a:solidFill>
                  <a:srgbClr val="E2A684"/>
                </a:solidFill>
                <a:latin typeface="Arial" pitchFamily="34" charset="0"/>
                <a:ea typeface="Arial" pitchFamily="34" charset="-122"/>
                <a:cs typeface="Arial" pitchFamily="34" charset="-120"/>
              </a:rPr>
              <a:t>&gt; $130.000 M COP</a:t>
            </a:r>
            <a:endParaRPr lang="en-US" sz="3150" dirty="0"/>
          </a:p>
        </p:txBody>
      </p:sp>
      <p:sp>
        <p:nvSpPr>
          <p:cNvPr id="8" name="Shape 6"/>
          <p:cNvSpPr/>
          <p:nvPr/>
        </p:nvSpPr>
        <p:spPr>
          <a:xfrm>
            <a:off x="1047750" y="2825353"/>
            <a:ext cx="7943850" cy="1649611"/>
          </a:xfrm>
          <a:prstGeom prst="rect">
            <a:avLst/>
          </a:prstGeom>
          <a:solidFill>
            <a:srgbClr val="E8E4DC"/>
          </a:solidFill>
          <a:ln/>
        </p:spPr>
      </p:sp>
      <p:sp>
        <p:nvSpPr>
          <p:cNvPr id="9" name="Shape 7"/>
          <p:cNvSpPr/>
          <p:nvPr/>
        </p:nvSpPr>
        <p:spPr>
          <a:xfrm>
            <a:off x="1047750" y="2825353"/>
            <a:ext cx="47625" cy="1649611"/>
          </a:xfrm>
          <a:prstGeom prst="rect">
            <a:avLst/>
          </a:prstGeom>
          <a:solidFill>
            <a:srgbClr val="3D6B9E"/>
          </a:solidFill>
          <a:ln/>
        </p:spPr>
      </p:sp>
      <p:sp>
        <p:nvSpPr>
          <p:cNvPr id="10" name="Text 8"/>
          <p:cNvSpPr/>
          <p:nvPr/>
        </p:nvSpPr>
        <p:spPr>
          <a:xfrm>
            <a:off x="136207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Actividad comercial</a:t>
            </a:r>
            <a:endParaRPr lang="en-US" sz="1800" dirty="0"/>
          </a:p>
        </p:txBody>
      </p:sp>
      <p:sp>
        <p:nvSpPr>
          <p:cNvPr id="11" name="Text 9"/>
          <p:cNvSpPr/>
          <p:nvPr/>
        </p:nvSpPr>
        <p:spPr>
          <a:xfrm>
            <a:off x="1362075" y="3473053"/>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Operador de información crediticia, prevención de fraude, identidad y analítica de carteras.</a:t>
            </a:r>
            <a:endParaRPr lang="en-US" sz="2175" dirty="0"/>
          </a:p>
        </p:txBody>
      </p:sp>
      <p:sp>
        <p:nvSpPr>
          <p:cNvPr id="12" name="Shape 10"/>
          <p:cNvSpPr/>
          <p:nvPr/>
        </p:nvSpPr>
        <p:spPr>
          <a:xfrm>
            <a:off x="9296400" y="2825353"/>
            <a:ext cx="7943850" cy="1649611"/>
          </a:xfrm>
          <a:prstGeom prst="rect">
            <a:avLst/>
          </a:prstGeom>
          <a:solidFill>
            <a:srgbClr val="E8E4DC"/>
          </a:solidFill>
          <a:ln/>
        </p:spPr>
      </p:sp>
      <p:sp>
        <p:nvSpPr>
          <p:cNvPr id="13" name="Shape 11"/>
          <p:cNvSpPr/>
          <p:nvPr/>
        </p:nvSpPr>
        <p:spPr>
          <a:xfrm>
            <a:off x="9296400" y="2825353"/>
            <a:ext cx="47625" cy="1649611"/>
          </a:xfrm>
          <a:prstGeom prst="rect">
            <a:avLst/>
          </a:prstGeom>
          <a:solidFill>
            <a:srgbClr val="3D6B9E"/>
          </a:solidFill>
          <a:ln/>
        </p:spPr>
      </p:sp>
      <p:sp>
        <p:nvSpPr>
          <p:cNvPr id="14" name="Text 12"/>
          <p:cNvSpPr/>
          <p:nvPr/>
        </p:nvSpPr>
        <p:spPr>
          <a:xfrm>
            <a:off x="961072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Problema que resuelve</a:t>
            </a:r>
            <a:endParaRPr lang="en-US" sz="1800" dirty="0"/>
          </a:p>
        </p:txBody>
      </p:sp>
      <p:sp>
        <p:nvSpPr>
          <p:cNvPr id="15" name="Text 13"/>
          <p:cNvSpPr/>
          <p:nvPr/>
        </p:nvSpPr>
        <p:spPr>
          <a:xfrm>
            <a:off x="9610725" y="3473053"/>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Da a los bancos visibilidad del endeudamiento global y el comportamiento de pago en el sistema formal.</a:t>
            </a:r>
            <a:endParaRPr lang="en-US" sz="2175" dirty="0"/>
          </a:p>
        </p:txBody>
      </p:sp>
      <p:sp>
        <p:nvSpPr>
          <p:cNvPr id="16" name="Shape 14"/>
          <p:cNvSpPr/>
          <p:nvPr/>
        </p:nvSpPr>
        <p:spPr>
          <a:xfrm>
            <a:off x="1047750" y="4722614"/>
            <a:ext cx="7943850" cy="1649611"/>
          </a:xfrm>
          <a:prstGeom prst="rect">
            <a:avLst/>
          </a:prstGeom>
          <a:solidFill>
            <a:srgbClr val="E8E4DC"/>
          </a:solidFill>
          <a:ln/>
        </p:spPr>
      </p:sp>
      <p:sp>
        <p:nvSpPr>
          <p:cNvPr id="17" name="Shape 15"/>
          <p:cNvSpPr/>
          <p:nvPr/>
        </p:nvSpPr>
        <p:spPr>
          <a:xfrm>
            <a:off x="1047750" y="4722614"/>
            <a:ext cx="47625" cy="1649611"/>
          </a:xfrm>
          <a:prstGeom prst="rect">
            <a:avLst/>
          </a:prstGeom>
          <a:solidFill>
            <a:srgbClr val="3D6B9E"/>
          </a:solidFill>
          <a:ln/>
        </p:spPr>
      </p:sp>
      <p:sp>
        <p:nvSpPr>
          <p:cNvPr id="18" name="Text 16"/>
          <p:cNvSpPr/>
          <p:nvPr/>
        </p:nvSpPr>
        <p:spPr>
          <a:xfrm>
            <a:off x="1362075" y="4951214"/>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Principal producto</a:t>
            </a:r>
            <a:endParaRPr lang="en-US" sz="1800" dirty="0"/>
          </a:p>
        </p:txBody>
      </p:sp>
      <p:sp>
        <p:nvSpPr>
          <p:cNvPr id="19" name="Text 17"/>
          <p:cNvSpPr/>
          <p:nvPr/>
        </p:nvSpPr>
        <p:spPr>
          <a:xfrm>
            <a:off x="1362075" y="5370314"/>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Score Crediticio TransUnion y soluciones de detección de fraude e identidad digital.</a:t>
            </a:r>
            <a:endParaRPr lang="en-US" sz="2175" dirty="0"/>
          </a:p>
        </p:txBody>
      </p:sp>
      <p:sp>
        <p:nvSpPr>
          <p:cNvPr id="20" name="Shape 18"/>
          <p:cNvSpPr/>
          <p:nvPr/>
        </p:nvSpPr>
        <p:spPr>
          <a:xfrm>
            <a:off x="9296400" y="4722614"/>
            <a:ext cx="7943850" cy="1649611"/>
          </a:xfrm>
          <a:prstGeom prst="rect">
            <a:avLst/>
          </a:prstGeom>
          <a:solidFill>
            <a:srgbClr val="E8E4DC"/>
          </a:solidFill>
          <a:ln/>
        </p:spPr>
      </p:sp>
      <p:sp>
        <p:nvSpPr>
          <p:cNvPr id="21" name="Shape 19"/>
          <p:cNvSpPr/>
          <p:nvPr/>
        </p:nvSpPr>
        <p:spPr>
          <a:xfrm>
            <a:off x="9296400" y="4722614"/>
            <a:ext cx="47625" cy="1649611"/>
          </a:xfrm>
          <a:prstGeom prst="rect">
            <a:avLst/>
          </a:prstGeom>
          <a:solidFill>
            <a:srgbClr val="3D6B9E"/>
          </a:solidFill>
          <a:ln/>
        </p:spPr>
      </p:sp>
      <p:sp>
        <p:nvSpPr>
          <p:cNvPr id="22" name="Text 20"/>
          <p:cNvSpPr/>
          <p:nvPr/>
        </p:nvSpPr>
        <p:spPr>
          <a:xfrm>
            <a:off x="9610725" y="4951214"/>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Ciudades / países</a:t>
            </a:r>
            <a:endParaRPr lang="en-US" sz="1800" dirty="0"/>
          </a:p>
        </p:txBody>
      </p:sp>
      <p:sp>
        <p:nvSpPr>
          <p:cNvPr id="23" name="Text 21"/>
          <p:cNvSpPr/>
          <p:nvPr/>
        </p:nvSpPr>
        <p:spPr>
          <a:xfrm>
            <a:off x="9610725" y="5370314"/>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Cobertura nacional en Colombia; presencia multinacional en más de 30 países.</a:t>
            </a:r>
            <a:endParaRPr lang="en-US" sz="2175" dirty="0"/>
          </a:p>
        </p:txBody>
      </p:sp>
      <p:sp>
        <p:nvSpPr>
          <p:cNvPr id="24" name="Shape 22"/>
          <p:cNvSpPr/>
          <p:nvPr/>
        </p:nvSpPr>
        <p:spPr>
          <a:xfrm>
            <a:off x="1047750" y="6753225"/>
            <a:ext cx="7943850" cy="2217241"/>
          </a:xfrm>
          <a:prstGeom prst="rect">
            <a:avLst/>
          </a:prstGeom>
          <a:solidFill>
            <a:srgbClr val="DFE4EA"/>
          </a:solidFill>
          <a:ln/>
        </p:spPr>
      </p:sp>
      <p:sp>
        <p:nvSpPr>
          <p:cNvPr id="25" name="Shape 23"/>
          <p:cNvSpPr/>
          <p:nvPr/>
        </p:nvSpPr>
        <p:spPr>
          <a:xfrm>
            <a:off x="1047750" y="6753225"/>
            <a:ext cx="7943850" cy="47625"/>
          </a:xfrm>
          <a:prstGeom prst="rect">
            <a:avLst/>
          </a:prstGeom>
          <a:solidFill>
            <a:srgbClr val="3D6B9E"/>
          </a:solidFill>
          <a:ln/>
        </p:spPr>
      </p:sp>
      <p:sp>
        <p:nvSpPr>
          <p:cNvPr id="26" name="Text 24"/>
          <p:cNvSpPr/>
          <p:nvPr/>
        </p:nvSpPr>
        <p:spPr>
          <a:xfrm>
            <a:off x="1371600" y="7086600"/>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B527C"/>
                </a:solidFill>
                <a:latin typeface="Courier New" pitchFamily="34" charset="0"/>
                <a:ea typeface="Courier New" pitchFamily="34" charset="-122"/>
                <a:cs typeface="Courier New" pitchFamily="34" charset="-120"/>
              </a:rPr>
              <a:t>En qué nos parecemos</a:t>
            </a:r>
            <a:endParaRPr lang="en-US" sz="1800" dirty="0"/>
          </a:p>
        </p:txBody>
      </p:sp>
      <p:sp>
        <p:nvSpPr>
          <p:cNvPr id="27" name="Text 25"/>
          <p:cNvSpPr/>
          <p:nvPr/>
        </p:nvSpPr>
        <p:spPr>
          <a:xfrm>
            <a:off x="1371600" y="7524750"/>
            <a:ext cx="7515035"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2C2F35"/>
                </a:solidFill>
                <a:latin typeface="Arial" pitchFamily="34" charset="0"/>
                <a:ea typeface="Arial" pitchFamily="34" charset="-122"/>
                <a:cs typeface="Arial" pitchFamily="34" charset="-120"/>
              </a:rPr>
              <a:t>Ambos entregamos modelos predictivos para decisiones de originación y mitigación de riesgo.</a:t>
            </a:r>
            <a:endParaRPr lang="en-US" sz="2175" dirty="0"/>
          </a:p>
        </p:txBody>
      </p:sp>
      <p:sp>
        <p:nvSpPr>
          <p:cNvPr id="28" name="Shape 26"/>
          <p:cNvSpPr/>
          <p:nvPr/>
        </p:nvSpPr>
        <p:spPr>
          <a:xfrm>
            <a:off x="9296400" y="6753225"/>
            <a:ext cx="7943850" cy="2217241"/>
          </a:xfrm>
          <a:prstGeom prst="rect">
            <a:avLst/>
          </a:prstGeom>
          <a:solidFill>
            <a:srgbClr val="8A3B25"/>
          </a:solidFill>
          <a:ln/>
        </p:spPr>
      </p:sp>
      <p:sp>
        <p:nvSpPr>
          <p:cNvPr id="29" name="Shape 27"/>
          <p:cNvSpPr/>
          <p:nvPr/>
        </p:nvSpPr>
        <p:spPr>
          <a:xfrm>
            <a:off x="9296400" y="6753225"/>
            <a:ext cx="7943850" cy="47625"/>
          </a:xfrm>
          <a:prstGeom prst="rect">
            <a:avLst/>
          </a:prstGeom>
          <a:solidFill>
            <a:srgbClr val="E2A684"/>
          </a:solidFill>
          <a:ln/>
        </p:spPr>
      </p:sp>
      <p:sp>
        <p:nvSpPr>
          <p:cNvPr id="30" name="Text 28"/>
          <p:cNvSpPr/>
          <p:nvPr/>
        </p:nvSpPr>
        <p:spPr>
          <a:xfrm>
            <a:off x="9620250" y="7086600"/>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4CDB4"/>
                </a:solidFill>
                <a:latin typeface="Courier New" pitchFamily="34" charset="0"/>
                <a:ea typeface="Courier New" pitchFamily="34" charset="-122"/>
                <a:cs typeface="Courier New" pitchFamily="34" charset="-120"/>
              </a:rPr>
              <a:t>En qué nos diferenciamos</a:t>
            </a:r>
            <a:endParaRPr lang="en-US" sz="1800" dirty="0"/>
          </a:p>
        </p:txBody>
      </p:sp>
      <p:sp>
        <p:nvSpPr>
          <p:cNvPr id="31" name="Text 29"/>
          <p:cNvSpPr/>
          <p:nvPr/>
        </p:nvSpPr>
        <p:spPr>
          <a:xfrm>
            <a:off x="9620250" y="7524750"/>
            <a:ext cx="7515035" cy="1198066"/>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DF6F1"/>
                </a:solidFill>
                <a:latin typeface="Arial" pitchFamily="34" charset="0"/>
                <a:ea typeface="Arial" pitchFamily="34" charset="-122"/>
                <a:cs typeface="Arial" pitchFamily="34" charset="-120"/>
              </a:rPr>
              <a:t>Está optimizado para banca con datos consolidados; añadimos inferencia causal y explicabilidad local que muestra qué palancas mejoran al cliente.</a:t>
            </a:r>
            <a:endParaRPr lang="en-US" sz="217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8288000" cy="2330053"/>
          </a:xfrm>
          <a:prstGeom prst="rect">
            <a:avLst/>
          </a:prstGeom>
          <a:solidFill>
            <a:srgbClr val="14181F"/>
          </a:solidFill>
          <a:ln/>
        </p:spPr>
      </p:sp>
      <p:sp>
        <p:nvSpPr>
          <p:cNvPr id="3" name="Shape 1"/>
          <p:cNvSpPr/>
          <p:nvPr/>
        </p:nvSpPr>
        <p:spPr>
          <a:xfrm>
            <a:off x="0" y="2234803"/>
            <a:ext cx="18288000" cy="95250"/>
          </a:xfrm>
          <a:prstGeom prst="rect">
            <a:avLst/>
          </a:prstGeom>
          <a:solidFill>
            <a:srgbClr val="B5623C"/>
          </a:solidFill>
          <a:ln/>
        </p:spPr>
      </p:sp>
      <p:sp>
        <p:nvSpPr>
          <p:cNvPr id="4" name="Text 2"/>
          <p:cNvSpPr/>
          <p:nvPr/>
        </p:nvSpPr>
        <p:spPr>
          <a:xfrm>
            <a:off x="1047750" y="609600"/>
            <a:ext cx="5370865"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2A684"/>
                </a:solidFill>
                <a:latin typeface="Courier New" pitchFamily="34" charset="0"/>
                <a:ea typeface="Courier New" pitchFamily="34" charset="-122"/>
                <a:cs typeface="Courier New" pitchFamily="34" charset="-120"/>
              </a:rPr>
              <a:t>COMPETIDOR 03</a:t>
            </a:r>
            <a:endParaRPr lang="en-US" sz="1800" dirty="0"/>
          </a:p>
        </p:txBody>
      </p:sp>
      <p:sp>
        <p:nvSpPr>
          <p:cNvPr id="5" name="Text 3"/>
          <p:cNvSpPr/>
          <p:nvPr/>
        </p:nvSpPr>
        <p:spPr>
          <a:xfrm>
            <a:off x="1047750" y="1085850"/>
            <a:ext cx="5370865" cy="634603"/>
          </a:xfrm>
          <a:prstGeom prst="rect">
            <a:avLst/>
          </a:prstGeom>
          <a:noFill/>
          <a:ln/>
        </p:spPr>
        <p:txBody>
          <a:bodyPr wrap="square" lIns="25400" tIns="25400" rIns="25400" bIns="25400" rtlCol="0" anchor="t">
            <a:normAutofit/>
          </a:bodyPr>
          <a:lstStyle/>
          <a:p>
            <a:pPr algn="l" indent="0" marL="0">
              <a:lnSpc>
                <a:spcPct val="93493"/>
              </a:lnSpc>
              <a:buNone/>
            </a:pPr>
            <a:r>
              <a:rPr lang="en-US" sz="4350" b="1" dirty="0">
                <a:solidFill>
                  <a:srgbClr val="F5F3EF"/>
                </a:solidFill>
                <a:latin typeface="Arial" pitchFamily="34" charset="0"/>
                <a:ea typeface="Arial" pitchFamily="34" charset="-122"/>
                <a:cs typeface="Arial" pitchFamily="34" charset="-120"/>
              </a:rPr>
              <a:t>Belvo Latin America</a:t>
            </a:r>
            <a:endParaRPr lang="en-US" sz="4350" dirty="0"/>
          </a:p>
        </p:txBody>
      </p:sp>
      <p:sp>
        <p:nvSpPr>
          <p:cNvPr id="6" name="Text 4"/>
          <p:cNvSpPr/>
          <p:nvPr/>
        </p:nvSpPr>
        <p:spPr>
          <a:xfrm>
            <a:off x="14244176" y="825103"/>
            <a:ext cx="2996074" cy="342900"/>
          </a:xfrm>
          <a:prstGeom prst="rect">
            <a:avLst/>
          </a:prstGeom>
          <a:noFill/>
          <a:ln/>
        </p:spPr>
        <p:txBody>
          <a:bodyPr wrap="none" lIns="25400" tIns="25400" rIns="25400" bIns="25400" rtlCol="0" anchor="t">
            <a:normAutofit/>
          </a:bodyPr>
          <a:lstStyle/>
          <a:p>
            <a:pPr algn="r" indent="0" marL="0">
              <a:buNone/>
            </a:pPr>
            <a:r>
              <a:rPr lang="en-US" sz="1800" dirty="0">
                <a:solidFill>
                  <a:srgbClr val="7FA3CA"/>
                </a:solidFill>
                <a:latin typeface="Courier New" pitchFamily="34" charset="0"/>
                <a:ea typeface="Courier New" pitchFamily="34" charset="-122"/>
                <a:cs typeface="Courier New" pitchFamily="34" charset="-120"/>
              </a:rPr>
              <a:t>Ventas anuales</a:t>
            </a:r>
            <a:endParaRPr lang="en-US" sz="1800" dirty="0"/>
          </a:p>
        </p:txBody>
      </p:sp>
      <p:sp>
        <p:nvSpPr>
          <p:cNvPr id="7" name="Text 5"/>
          <p:cNvSpPr/>
          <p:nvPr/>
        </p:nvSpPr>
        <p:spPr>
          <a:xfrm>
            <a:off x="14244176" y="1225153"/>
            <a:ext cx="2996074" cy="495300"/>
          </a:xfrm>
          <a:prstGeom prst="rect">
            <a:avLst/>
          </a:prstGeom>
          <a:noFill/>
          <a:ln/>
        </p:spPr>
        <p:txBody>
          <a:bodyPr wrap="none" lIns="25400" tIns="25400" rIns="25400" bIns="25400" rtlCol="0" anchor="t">
            <a:normAutofit/>
          </a:bodyPr>
          <a:lstStyle/>
          <a:p>
            <a:pPr algn="r" indent="0" marL="0">
              <a:buNone/>
            </a:pPr>
            <a:r>
              <a:rPr lang="en-US" sz="3150" b="1" dirty="0">
                <a:solidFill>
                  <a:srgbClr val="E2A684"/>
                </a:solidFill>
                <a:latin typeface="Arial" pitchFamily="34" charset="0"/>
                <a:ea typeface="Arial" pitchFamily="34" charset="-122"/>
                <a:cs typeface="Arial" pitchFamily="34" charset="-120"/>
              </a:rPr>
              <a:t>&gt; US$8 M ARR</a:t>
            </a:r>
            <a:endParaRPr lang="en-US" sz="3150" dirty="0"/>
          </a:p>
        </p:txBody>
      </p:sp>
      <p:sp>
        <p:nvSpPr>
          <p:cNvPr id="8" name="Shape 6"/>
          <p:cNvSpPr/>
          <p:nvPr/>
        </p:nvSpPr>
        <p:spPr>
          <a:xfrm>
            <a:off x="1047750" y="2825353"/>
            <a:ext cx="7943850" cy="2036266"/>
          </a:xfrm>
          <a:prstGeom prst="rect">
            <a:avLst/>
          </a:prstGeom>
          <a:solidFill>
            <a:srgbClr val="E8E4DC"/>
          </a:solidFill>
          <a:ln/>
        </p:spPr>
      </p:sp>
      <p:sp>
        <p:nvSpPr>
          <p:cNvPr id="9" name="Shape 7"/>
          <p:cNvSpPr/>
          <p:nvPr/>
        </p:nvSpPr>
        <p:spPr>
          <a:xfrm>
            <a:off x="1047750" y="2825353"/>
            <a:ext cx="47625" cy="2036266"/>
          </a:xfrm>
          <a:prstGeom prst="rect">
            <a:avLst/>
          </a:prstGeom>
          <a:solidFill>
            <a:srgbClr val="3D6B9E"/>
          </a:solidFill>
          <a:ln/>
        </p:spPr>
      </p:sp>
      <p:sp>
        <p:nvSpPr>
          <p:cNvPr id="10" name="Text 8"/>
          <p:cNvSpPr/>
          <p:nvPr/>
        </p:nvSpPr>
        <p:spPr>
          <a:xfrm>
            <a:off x="136207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Actividad comercial</a:t>
            </a:r>
            <a:endParaRPr lang="en-US" sz="1800" dirty="0"/>
          </a:p>
        </p:txBody>
      </p:sp>
      <p:sp>
        <p:nvSpPr>
          <p:cNvPr id="11" name="Text 9"/>
          <p:cNvSpPr/>
          <p:nvPr/>
        </p:nvSpPr>
        <p:spPr>
          <a:xfrm>
            <a:off x="1362075" y="3473053"/>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Infraestructura de Open Finance: APIs de agregación bancaria, fiscal y enriquecimiento de datos.</a:t>
            </a:r>
            <a:endParaRPr lang="en-US" sz="2175" dirty="0"/>
          </a:p>
        </p:txBody>
      </p:sp>
      <p:sp>
        <p:nvSpPr>
          <p:cNvPr id="12" name="Shape 10"/>
          <p:cNvSpPr/>
          <p:nvPr/>
        </p:nvSpPr>
        <p:spPr>
          <a:xfrm>
            <a:off x="9296400" y="2825353"/>
            <a:ext cx="7943850" cy="2036266"/>
          </a:xfrm>
          <a:prstGeom prst="rect">
            <a:avLst/>
          </a:prstGeom>
          <a:solidFill>
            <a:srgbClr val="E8E4DC"/>
          </a:solidFill>
          <a:ln/>
        </p:spPr>
      </p:sp>
      <p:sp>
        <p:nvSpPr>
          <p:cNvPr id="13" name="Shape 11"/>
          <p:cNvSpPr/>
          <p:nvPr/>
        </p:nvSpPr>
        <p:spPr>
          <a:xfrm>
            <a:off x="9296400" y="2825353"/>
            <a:ext cx="47625" cy="2036266"/>
          </a:xfrm>
          <a:prstGeom prst="rect">
            <a:avLst/>
          </a:prstGeom>
          <a:solidFill>
            <a:srgbClr val="3D6B9E"/>
          </a:solidFill>
          <a:ln/>
        </p:spPr>
      </p:sp>
      <p:sp>
        <p:nvSpPr>
          <p:cNvPr id="14" name="Text 12"/>
          <p:cNvSpPr/>
          <p:nvPr/>
        </p:nvSpPr>
        <p:spPr>
          <a:xfrm>
            <a:off x="961072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Problema que resuelve</a:t>
            </a:r>
            <a:endParaRPr lang="en-US" sz="1800" dirty="0"/>
          </a:p>
        </p:txBody>
      </p:sp>
      <p:sp>
        <p:nvSpPr>
          <p:cNvPr id="15" name="Text 13"/>
          <p:cNvSpPr/>
          <p:nvPr/>
        </p:nvSpPr>
        <p:spPr>
          <a:xfrm>
            <a:off x="9610725" y="3473053"/>
            <a:ext cx="7583710" cy="1198066"/>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Conecta y extrae con seguridad datos de cuentas bancarias, DIAN y plataformas de empleo hacia apps fintech.</a:t>
            </a:r>
            <a:endParaRPr lang="en-US" sz="2175" dirty="0"/>
          </a:p>
        </p:txBody>
      </p:sp>
      <p:sp>
        <p:nvSpPr>
          <p:cNvPr id="16" name="Shape 14"/>
          <p:cNvSpPr/>
          <p:nvPr/>
        </p:nvSpPr>
        <p:spPr>
          <a:xfrm>
            <a:off x="1047750" y="5109270"/>
            <a:ext cx="7943850" cy="1649611"/>
          </a:xfrm>
          <a:prstGeom prst="rect">
            <a:avLst/>
          </a:prstGeom>
          <a:solidFill>
            <a:srgbClr val="E8E4DC"/>
          </a:solidFill>
          <a:ln/>
        </p:spPr>
      </p:sp>
      <p:sp>
        <p:nvSpPr>
          <p:cNvPr id="17" name="Shape 15"/>
          <p:cNvSpPr/>
          <p:nvPr/>
        </p:nvSpPr>
        <p:spPr>
          <a:xfrm>
            <a:off x="1047750" y="5109270"/>
            <a:ext cx="47625" cy="1649611"/>
          </a:xfrm>
          <a:prstGeom prst="rect">
            <a:avLst/>
          </a:prstGeom>
          <a:solidFill>
            <a:srgbClr val="3D6B9E"/>
          </a:solidFill>
          <a:ln/>
        </p:spPr>
      </p:sp>
      <p:sp>
        <p:nvSpPr>
          <p:cNvPr id="18" name="Text 16"/>
          <p:cNvSpPr/>
          <p:nvPr/>
        </p:nvSpPr>
        <p:spPr>
          <a:xfrm>
            <a:off x="1362075" y="5337870"/>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Principal producto</a:t>
            </a:r>
            <a:endParaRPr lang="en-US" sz="1800" dirty="0"/>
          </a:p>
        </p:txBody>
      </p:sp>
      <p:sp>
        <p:nvSpPr>
          <p:cNvPr id="19" name="Text 17"/>
          <p:cNvSpPr/>
          <p:nvPr/>
        </p:nvSpPr>
        <p:spPr>
          <a:xfrm>
            <a:off x="1362075" y="5756970"/>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Belvo Data API (agregación de cuentas) y Belvo Enrichment (categorización de transacciones).</a:t>
            </a:r>
            <a:endParaRPr lang="en-US" sz="2175" dirty="0"/>
          </a:p>
        </p:txBody>
      </p:sp>
      <p:sp>
        <p:nvSpPr>
          <p:cNvPr id="20" name="Shape 18"/>
          <p:cNvSpPr/>
          <p:nvPr/>
        </p:nvSpPr>
        <p:spPr>
          <a:xfrm>
            <a:off x="9296400" y="5109270"/>
            <a:ext cx="7943850" cy="1649611"/>
          </a:xfrm>
          <a:prstGeom prst="rect">
            <a:avLst/>
          </a:prstGeom>
          <a:solidFill>
            <a:srgbClr val="E8E4DC"/>
          </a:solidFill>
          <a:ln/>
        </p:spPr>
      </p:sp>
      <p:sp>
        <p:nvSpPr>
          <p:cNvPr id="21" name="Shape 19"/>
          <p:cNvSpPr/>
          <p:nvPr/>
        </p:nvSpPr>
        <p:spPr>
          <a:xfrm>
            <a:off x="9296400" y="5109270"/>
            <a:ext cx="47625" cy="1649611"/>
          </a:xfrm>
          <a:prstGeom prst="rect">
            <a:avLst/>
          </a:prstGeom>
          <a:solidFill>
            <a:srgbClr val="3D6B9E"/>
          </a:solidFill>
          <a:ln/>
        </p:spPr>
      </p:sp>
      <p:sp>
        <p:nvSpPr>
          <p:cNvPr id="22" name="Text 20"/>
          <p:cNvSpPr/>
          <p:nvPr/>
        </p:nvSpPr>
        <p:spPr>
          <a:xfrm>
            <a:off x="9610725" y="5337870"/>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Ciudades / países</a:t>
            </a:r>
            <a:endParaRPr lang="en-US" sz="1800" dirty="0"/>
          </a:p>
        </p:txBody>
      </p:sp>
      <p:sp>
        <p:nvSpPr>
          <p:cNvPr id="23" name="Text 21"/>
          <p:cNvSpPr/>
          <p:nvPr/>
        </p:nvSpPr>
        <p:spPr>
          <a:xfrm>
            <a:off x="9610725" y="5756970"/>
            <a:ext cx="8099108"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Colombia, México y Brasil.</a:t>
            </a:r>
            <a:endParaRPr lang="en-US" sz="2175" dirty="0"/>
          </a:p>
        </p:txBody>
      </p:sp>
      <p:sp>
        <p:nvSpPr>
          <p:cNvPr id="24" name="Shape 22"/>
          <p:cNvSpPr/>
          <p:nvPr/>
        </p:nvSpPr>
        <p:spPr>
          <a:xfrm>
            <a:off x="1047750" y="7139880"/>
            <a:ext cx="7943850" cy="2217241"/>
          </a:xfrm>
          <a:prstGeom prst="rect">
            <a:avLst/>
          </a:prstGeom>
          <a:solidFill>
            <a:srgbClr val="DFE4EA"/>
          </a:solidFill>
          <a:ln/>
        </p:spPr>
      </p:sp>
      <p:sp>
        <p:nvSpPr>
          <p:cNvPr id="25" name="Shape 23"/>
          <p:cNvSpPr/>
          <p:nvPr/>
        </p:nvSpPr>
        <p:spPr>
          <a:xfrm>
            <a:off x="1047750" y="7139880"/>
            <a:ext cx="7943850" cy="47625"/>
          </a:xfrm>
          <a:prstGeom prst="rect">
            <a:avLst/>
          </a:prstGeom>
          <a:solidFill>
            <a:srgbClr val="3D6B9E"/>
          </a:solidFill>
          <a:ln/>
        </p:spPr>
      </p:sp>
      <p:sp>
        <p:nvSpPr>
          <p:cNvPr id="26" name="Text 24"/>
          <p:cNvSpPr/>
          <p:nvPr/>
        </p:nvSpPr>
        <p:spPr>
          <a:xfrm>
            <a:off x="1371600" y="7473255"/>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B527C"/>
                </a:solidFill>
                <a:latin typeface="Courier New" pitchFamily="34" charset="0"/>
                <a:ea typeface="Courier New" pitchFamily="34" charset="-122"/>
                <a:cs typeface="Courier New" pitchFamily="34" charset="-120"/>
              </a:rPr>
              <a:t>En qué nos parecemos</a:t>
            </a:r>
            <a:endParaRPr lang="en-US" sz="1800" dirty="0"/>
          </a:p>
        </p:txBody>
      </p:sp>
      <p:sp>
        <p:nvSpPr>
          <p:cNvPr id="27" name="Text 25"/>
          <p:cNvSpPr/>
          <p:nvPr/>
        </p:nvSpPr>
        <p:spPr>
          <a:xfrm>
            <a:off x="1371600" y="7911405"/>
            <a:ext cx="7515035"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2C2F35"/>
                </a:solidFill>
                <a:latin typeface="Arial" pitchFamily="34" charset="0"/>
                <a:ea typeface="Arial" pitchFamily="34" charset="-122"/>
                <a:cs typeface="Arial" pitchFamily="34" charset="-120"/>
              </a:rPr>
              <a:t>Ambos integramos fuentes alternativas —extractos digitales y facturas DIAN— vía APIs en tiempo real.</a:t>
            </a:r>
            <a:endParaRPr lang="en-US" sz="2175" dirty="0"/>
          </a:p>
        </p:txBody>
      </p:sp>
      <p:sp>
        <p:nvSpPr>
          <p:cNvPr id="28" name="Shape 26"/>
          <p:cNvSpPr/>
          <p:nvPr/>
        </p:nvSpPr>
        <p:spPr>
          <a:xfrm>
            <a:off x="9296400" y="7139880"/>
            <a:ext cx="7943850" cy="2217241"/>
          </a:xfrm>
          <a:prstGeom prst="rect">
            <a:avLst/>
          </a:prstGeom>
          <a:solidFill>
            <a:srgbClr val="8A3B25"/>
          </a:solidFill>
          <a:ln/>
        </p:spPr>
      </p:sp>
      <p:sp>
        <p:nvSpPr>
          <p:cNvPr id="29" name="Shape 27"/>
          <p:cNvSpPr/>
          <p:nvPr/>
        </p:nvSpPr>
        <p:spPr>
          <a:xfrm>
            <a:off x="9296400" y="7139880"/>
            <a:ext cx="7943850" cy="47625"/>
          </a:xfrm>
          <a:prstGeom prst="rect">
            <a:avLst/>
          </a:prstGeom>
          <a:solidFill>
            <a:srgbClr val="E2A684"/>
          </a:solidFill>
          <a:ln/>
        </p:spPr>
      </p:sp>
      <p:sp>
        <p:nvSpPr>
          <p:cNvPr id="30" name="Text 28"/>
          <p:cNvSpPr/>
          <p:nvPr/>
        </p:nvSpPr>
        <p:spPr>
          <a:xfrm>
            <a:off x="9620250" y="7473255"/>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4CDB4"/>
                </a:solidFill>
                <a:latin typeface="Courier New" pitchFamily="34" charset="0"/>
                <a:ea typeface="Courier New" pitchFamily="34" charset="-122"/>
                <a:cs typeface="Courier New" pitchFamily="34" charset="-120"/>
              </a:rPr>
              <a:t>En qué nos diferenciamos</a:t>
            </a:r>
            <a:endParaRPr lang="en-US" sz="1800" dirty="0"/>
          </a:p>
        </p:txBody>
      </p:sp>
      <p:sp>
        <p:nvSpPr>
          <p:cNvPr id="31" name="Text 29"/>
          <p:cNvSpPr/>
          <p:nvPr/>
        </p:nvSpPr>
        <p:spPr>
          <a:xfrm>
            <a:off x="9620250" y="7911405"/>
            <a:ext cx="7515035" cy="1198066"/>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DF6F1"/>
                </a:solidFill>
                <a:latin typeface="Arial" pitchFamily="34" charset="0"/>
                <a:ea typeface="Arial" pitchFamily="34" charset="-122"/>
                <a:cs typeface="Arial" pitchFamily="34" charset="-120"/>
              </a:rPr>
              <a:t>Belvo extrae y categoriza, pero no emite score ni asume lógica actuarial. Nosotros convertimos ese dato en probabilidad de pago calibrada.</a:t>
            </a:r>
            <a:endParaRPr lang="en-US" sz="217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8288000" cy="2330053"/>
          </a:xfrm>
          <a:prstGeom prst="rect">
            <a:avLst/>
          </a:prstGeom>
          <a:solidFill>
            <a:srgbClr val="14181F"/>
          </a:solidFill>
          <a:ln/>
        </p:spPr>
      </p:sp>
      <p:sp>
        <p:nvSpPr>
          <p:cNvPr id="3" name="Shape 1"/>
          <p:cNvSpPr/>
          <p:nvPr/>
        </p:nvSpPr>
        <p:spPr>
          <a:xfrm>
            <a:off x="0" y="2234803"/>
            <a:ext cx="18288000" cy="95250"/>
          </a:xfrm>
          <a:prstGeom prst="rect">
            <a:avLst/>
          </a:prstGeom>
          <a:solidFill>
            <a:srgbClr val="B5623C"/>
          </a:solidFill>
          <a:ln/>
        </p:spPr>
      </p:sp>
      <p:sp>
        <p:nvSpPr>
          <p:cNvPr id="4" name="Text 2"/>
          <p:cNvSpPr/>
          <p:nvPr/>
        </p:nvSpPr>
        <p:spPr>
          <a:xfrm>
            <a:off x="1047750" y="609600"/>
            <a:ext cx="10369123"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2A684"/>
                </a:solidFill>
                <a:latin typeface="Courier New" pitchFamily="34" charset="0"/>
                <a:ea typeface="Courier New" pitchFamily="34" charset="-122"/>
                <a:cs typeface="Courier New" pitchFamily="34" charset="-120"/>
              </a:rPr>
              <a:t>COMPETIDOR 04</a:t>
            </a:r>
            <a:endParaRPr lang="en-US" sz="1800" dirty="0"/>
          </a:p>
        </p:txBody>
      </p:sp>
      <p:sp>
        <p:nvSpPr>
          <p:cNvPr id="5" name="Text 3"/>
          <p:cNvSpPr/>
          <p:nvPr/>
        </p:nvSpPr>
        <p:spPr>
          <a:xfrm>
            <a:off x="1047750" y="1085850"/>
            <a:ext cx="10369123" cy="634603"/>
          </a:xfrm>
          <a:prstGeom prst="rect">
            <a:avLst/>
          </a:prstGeom>
          <a:noFill/>
          <a:ln/>
        </p:spPr>
        <p:txBody>
          <a:bodyPr wrap="square" lIns="25400" tIns="25400" rIns="25400" bIns="25400" rtlCol="0" anchor="t">
            <a:normAutofit/>
          </a:bodyPr>
          <a:lstStyle/>
          <a:p>
            <a:pPr algn="l" indent="0" marL="0">
              <a:lnSpc>
                <a:spcPct val="93493"/>
              </a:lnSpc>
              <a:buNone/>
            </a:pPr>
            <a:r>
              <a:rPr lang="en-US" sz="4350" b="1" dirty="0">
                <a:solidFill>
                  <a:srgbClr val="F5F3EF"/>
                </a:solidFill>
                <a:latin typeface="Arial" pitchFamily="34" charset="0"/>
                <a:ea typeface="Arial" pitchFamily="34" charset="-122"/>
                <a:cs typeface="Arial" pitchFamily="34" charset="-120"/>
              </a:rPr>
              <a:t>Sempli (Tecnología y Finanzas S.A.S.)</a:t>
            </a:r>
            <a:endParaRPr lang="en-US" sz="4350" dirty="0"/>
          </a:p>
        </p:txBody>
      </p:sp>
      <p:sp>
        <p:nvSpPr>
          <p:cNvPr id="6" name="Text 4"/>
          <p:cNvSpPr/>
          <p:nvPr/>
        </p:nvSpPr>
        <p:spPr>
          <a:xfrm>
            <a:off x="13705567" y="825103"/>
            <a:ext cx="3534683" cy="342900"/>
          </a:xfrm>
          <a:prstGeom prst="rect">
            <a:avLst/>
          </a:prstGeom>
          <a:noFill/>
          <a:ln/>
        </p:spPr>
        <p:txBody>
          <a:bodyPr wrap="none" lIns="25400" tIns="25400" rIns="25400" bIns="25400" rtlCol="0" anchor="t">
            <a:normAutofit/>
          </a:bodyPr>
          <a:lstStyle/>
          <a:p>
            <a:pPr algn="r" indent="0" marL="0">
              <a:buNone/>
            </a:pPr>
            <a:r>
              <a:rPr lang="en-US" sz="1800" dirty="0">
                <a:solidFill>
                  <a:srgbClr val="7FA3CA"/>
                </a:solidFill>
                <a:latin typeface="Courier New" pitchFamily="34" charset="0"/>
                <a:ea typeface="Courier New" pitchFamily="34" charset="-122"/>
                <a:cs typeface="Courier New" pitchFamily="34" charset="-120"/>
              </a:rPr>
              <a:t>Ventas anuales</a:t>
            </a:r>
            <a:endParaRPr lang="en-US" sz="1800" dirty="0"/>
          </a:p>
        </p:txBody>
      </p:sp>
      <p:sp>
        <p:nvSpPr>
          <p:cNvPr id="7" name="Text 5"/>
          <p:cNvSpPr/>
          <p:nvPr/>
        </p:nvSpPr>
        <p:spPr>
          <a:xfrm>
            <a:off x="13705567" y="1225153"/>
            <a:ext cx="3534683" cy="495300"/>
          </a:xfrm>
          <a:prstGeom prst="rect">
            <a:avLst/>
          </a:prstGeom>
          <a:noFill/>
          <a:ln/>
        </p:spPr>
        <p:txBody>
          <a:bodyPr wrap="none" lIns="25400" tIns="25400" rIns="25400" bIns="25400" rtlCol="0" anchor="t">
            <a:normAutofit/>
          </a:bodyPr>
          <a:lstStyle/>
          <a:p>
            <a:pPr algn="r" indent="0" marL="0">
              <a:buNone/>
            </a:pPr>
            <a:r>
              <a:rPr lang="en-US" sz="3150" b="1" dirty="0">
                <a:solidFill>
                  <a:srgbClr val="E2A684"/>
                </a:solidFill>
                <a:latin typeface="Arial" pitchFamily="34" charset="0"/>
                <a:ea typeface="Arial" pitchFamily="34" charset="-122"/>
                <a:cs typeface="Arial" pitchFamily="34" charset="-120"/>
              </a:rPr>
              <a:t>&gt; $35.000 M COP</a:t>
            </a:r>
            <a:endParaRPr lang="en-US" sz="3150" dirty="0"/>
          </a:p>
        </p:txBody>
      </p:sp>
      <p:sp>
        <p:nvSpPr>
          <p:cNvPr id="8" name="Shape 6"/>
          <p:cNvSpPr/>
          <p:nvPr/>
        </p:nvSpPr>
        <p:spPr>
          <a:xfrm>
            <a:off x="1047750" y="2825353"/>
            <a:ext cx="7943850" cy="1649611"/>
          </a:xfrm>
          <a:prstGeom prst="rect">
            <a:avLst/>
          </a:prstGeom>
          <a:solidFill>
            <a:srgbClr val="E8E4DC"/>
          </a:solidFill>
          <a:ln/>
        </p:spPr>
      </p:sp>
      <p:sp>
        <p:nvSpPr>
          <p:cNvPr id="9" name="Shape 7"/>
          <p:cNvSpPr/>
          <p:nvPr/>
        </p:nvSpPr>
        <p:spPr>
          <a:xfrm>
            <a:off x="1047750" y="2825353"/>
            <a:ext cx="47625" cy="1649611"/>
          </a:xfrm>
          <a:prstGeom prst="rect">
            <a:avLst/>
          </a:prstGeom>
          <a:solidFill>
            <a:srgbClr val="3D6B9E"/>
          </a:solidFill>
          <a:ln/>
        </p:spPr>
      </p:sp>
      <p:sp>
        <p:nvSpPr>
          <p:cNvPr id="10" name="Text 8"/>
          <p:cNvSpPr/>
          <p:nvPr/>
        </p:nvSpPr>
        <p:spPr>
          <a:xfrm>
            <a:off x="136207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Actividad comercial</a:t>
            </a:r>
            <a:endParaRPr lang="en-US" sz="1800" dirty="0"/>
          </a:p>
        </p:txBody>
      </p:sp>
      <p:sp>
        <p:nvSpPr>
          <p:cNvPr id="11" name="Text 9"/>
          <p:cNvSpPr/>
          <p:nvPr/>
        </p:nvSpPr>
        <p:spPr>
          <a:xfrm>
            <a:off x="1362075" y="3473053"/>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Neobanco y fintech de crédito digital directo para micro, pequeñas y medianas empresas.</a:t>
            </a:r>
            <a:endParaRPr lang="en-US" sz="2175" dirty="0"/>
          </a:p>
        </p:txBody>
      </p:sp>
      <p:sp>
        <p:nvSpPr>
          <p:cNvPr id="12" name="Shape 10"/>
          <p:cNvSpPr/>
          <p:nvPr/>
        </p:nvSpPr>
        <p:spPr>
          <a:xfrm>
            <a:off x="9296400" y="2825353"/>
            <a:ext cx="7943850" cy="1649611"/>
          </a:xfrm>
          <a:prstGeom prst="rect">
            <a:avLst/>
          </a:prstGeom>
          <a:solidFill>
            <a:srgbClr val="E8E4DC"/>
          </a:solidFill>
          <a:ln/>
        </p:spPr>
      </p:sp>
      <p:sp>
        <p:nvSpPr>
          <p:cNvPr id="13" name="Shape 11"/>
          <p:cNvSpPr/>
          <p:nvPr/>
        </p:nvSpPr>
        <p:spPr>
          <a:xfrm>
            <a:off x="9296400" y="2825353"/>
            <a:ext cx="47625" cy="1649611"/>
          </a:xfrm>
          <a:prstGeom prst="rect">
            <a:avLst/>
          </a:prstGeom>
          <a:solidFill>
            <a:srgbClr val="3D6B9E"/>
          </a:solidFill>
          <a:ln/>
        </p:spPr>
      </p:sp>
      <p:sp>
        <p:nvSpPr>
          <p:cNvPr id="14" name="Text 12"/>
          <p:cNvSpPr/>
          <p:nvPr/>
        </p:nvSpPr>
        <p:spPr>
          <a:xfrm>
            <a:off x="961072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Problema que resuelve</a:t>
            </a:r>
            <a:endParaRPr lang="en-US" sz="1800" dirty="0"/>
          </a:p>
        </p:txBody>
      </p:sp>
      <p:sp>
        <p:nvSpPr>
          <p:cNvPr id="15" name="Text 13"/>
          <p:cNvSpPr/>
          <p:nvPr/>
        </p:nvSpPr>
        <p:spPr>
          <a:xfrm>
            <a:off x="9610725" y="3473053"/>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Otorga capital de trabajo ágil a empresas que no obtienen financiamiento en la banca tradicional.</a:t>
            </a:r>
            <a:endParaRPr lang="en-US" sz="2175" dirty="0"/>
          </a:p>
        </p:txBody>
      </p:sp>
      <p:sp>
        <p:nvSpPr>
          <p:cNvPr id="16" name="Shape 14"/>
          <p:cNvSpPr/>
          <p:nvPr/>
        </p:nvSpPr>
        <p:spPr>
          <a:xfrm>
            <a:off x="1047750" y="4722614"/>
            <a:ext cx="7943850" cy="1649611"/>
          </a:xfrm>
          <a:prstGeom prst="rect">
            <a:avLst/>
          </a:prstGeom>
          <a:solidFill>
            <a:srgbClr val="E8E4DC"/>
          </a:solidFill>
          <a:ln/>
        </p:spPr>
      </p:sp>
      <p:sp>
        <p:nvSpPr>
          <p:cNvPr id="17" name="Shape 15"/>
          <p:cNvSpPr/>
          <p:nvPr/>
        </p:nvSpPr>
        <p:spPr>
          <a:xfrm>
            <a:off x="1047750" y="4722614"/>
            <a:ext cx="47625" cy="1649611"/>
          </a:xfrm>
          <a:prstGeom prst="rect">
            <a:avLst/>
          </a:prstGeom>
          <a:solidFill>
            <a:srgbClr val="3D6B9E"/>
          </a:solidFill>
          <a:ln/>
        </p:spPr>
      </p:sp>
      <p:sp>
        <p:nvSpPr>
          <p:cNvPr id="18" name="Text 16"/>
          <p:cNvSpPr/>
          <p:nvPr/>
        </p:nvSpPr>
        <p:spPr>
          <a:xfrm>
            <a:off x="1362075" y="4951214"/>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Principal producto</a:t>
            </a:r>
            <a:endParaRPr lang="en-US" sz="1800" dirty="0"/>
          </a:p>
        </p:txBody>
      </p:sp>
      <p:sp>
        <p:nvSpPr>
          <p:cNvPr id="19" name="Text 17"/>
          <p:cNvSpPr/>
          <p:nvPr/>
        </p:nvSpPr>
        <p:spPr>
          <a:xfrm>
            <a:off x="1362075" y="5370314"/>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Crédito de Crecimiento Sempli: préstamos digitales de capital de trabajo hasta $300 M COP.</a:t>
            </a:r>
            <a:endParaRPr lang="en-US" sz="2175" dirty="0"/>
          </a:p>
        </p:txBody>
      </p:sp>
      <p:sp>
        <p:nvSpPr>
          <p:cNvPr id="20" name="Shape 18"/>
          <p:cNvSpPr/>
          <p:nvPr/>
        </p:nvSpPr>
        <p:spPr>
          <a:xfrm>
            <a:off x="9296400" y="4722614"/>
            <a:ext cx="7943850" cy="1649611"/>
          </a:xfrm>
          <a:prstGeom prst="rect">
            <a:avLst/>
          </a:prstGeom>
          <a:solidFill>
            <a:srgbClr val="E8E4DC"/>
          </a:solidFill>
          <a:ln/>
        </p:spPr>
      </p:sp>
      <p:sp>
        <p:nvSpPr>
          <p:cNvPr id="21" name="Shape 19"/>
          <p:cNvSpPr/>
          <p:nvPr/>
        </p:nvSpPr>
        <p:spPr>
          <a:xfrm>
            <a:off x="9296400" y="4722614"/>
            <a:ext cx="47625" cy="1649611"/>
          </a:xfrm>
          <a:prstGeom prst="rect">
            <a:avLst/>
          </a:prstGeom>
          <a:solidFill>
            <a:srgbClr val="3D6B9E"/>
          </a:solidFill>
          <a:ln/>
        </p:spPr>
      </p:sp>
      <p:sp>
        <p:nvSpPr>
          <p:cNvPr id="22" name="Text 20"/>
          <p:cNvSpPr/>
          <p:nvPr/>
        </p:nvSpPr>
        <p:spPr>
          <a:xfrm>
            <a:off x="9610725" y="4951214"/>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Ciudades / países</a:t>
            </a:r>
            <a:endParaRPr lang="en-US" sz="1800" dirty="0"/>
          </a:p>
        </p:txBody>
      </p:sp>
      <p:sp>
        <p:nvSpPr>
          <p:cNvPr id="23" name="Text 21"/>
          <p:cNvSpPr/>
          <p:nvPr/>
        </p:nvSpPr>
        <p:spPr>
          <a:xfrm>
            <a:off x="9610725" y="5370314"/>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Colombia: Medellín, Bogotá, Cali, Barranquilla y Bucaramanga.</a:t>
            </a:r>
            <a:endParaRPr lang="en-US" sz="2175" dirty="0"/>
          </a:p>
        </p:txBody>
      </p:sp>
      <p:sp>
        <p:nvSpPr>
          <p:cNvPr id="24" name="Shape 22"/>
          <p:cNvSpPr/>
          <p:nvPr/>
        </p:nvSpPr>
        <p:spPr>
          <a:xfrm>
            <a:off x="1047750" y="6753225"/>
            <a:ext cx="7943850" cy="2217241"/>
          </a:xfrm>
          <a:prstGeom prst="rect">
            <a:avLst/>
          </a:prstGeom>
          <a:solidFill>
            <a:srgbClr val="DFE4EA"/>
          </a:solidFill>
          <a:ln/>
        </p:spPr>
      </p:sp>
      <p:sp>
        <p:nvSpPr>
          <p:cNvPr id="25" name="Shape 23"/>
          <p:cNvSpPr/>
          <p:nvPr/>
        </p:nvSpPr>
        <p:spPr>
          <a:xfrm>
            <a:off x="1047750" y="6753225"/>
            <a:ext cx="7943850" cy="47625"/>
          </a:xfrm>
          <a:prstGeom prst="rect">
            <a:avLst/>
          </a:prstGeom>
          <a:solidFill>
            <a:srgbClr val="3D6B9E"/>
          </a:solidFill>
          <a:ln/>
        </p:spPr>
      </p:sp>
      <p:sp>
        <p:nvSpPr>
          <p:cNvPr id="26" name="Text 24"/>
          <p:cNvSpPr/>
          <p:nvPr/>
        </p:nvSpPr>
        <p:spPr>
          <a:xfrm>
            <a:off x="1371600" y="7086600"/>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B527C"/>
                </a:solidFill>
                <a:latin typeface="Courier New" pitchFamily="34" charset="0"/>
                <a:ea typeface="Courier New" pitchFamily="34" charset="-122"/>
                <a:cs typeface="Courier New" pitchFamily="34" charset="-120"/>
              </a:rPr>
              <a:t>En qué nos parecemos</a:t>
            </a:r>
            <a:endParaRPr lang="en-US" sz="1800" dirty="0"/>
          </a:p>
        </p:txBody>
      </p:sp>
      <p:sp>
        <p:nvSpPr>
          <p:cNvPr id="27" name="Text 25"/>
          <p:cNvSpPr/>
          <p:nvPr/>
        </p:nvSpPr>
        <p:spPr>
          <a:xfrm>
            <a:off x="1371600" y="7524750"/>
            <a:ext cx="7515035"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2C2F35"/>
                </a:solidFill>
                <a:latin typeface="Arial" pitchFamily="34" charset="0"/>
                <a:ea typeface="Arial" pitchFamily="34" charset="-122"/>
                <a:cs typeface="Arial" pitchFamily="34" charset="-120"/>
              </a:rPr>
              <a:t>Ambos buscamos financiar unidades productivas desatendidas evaluando información no convencional.</a:t>
            </a:r>
            <a:endParaRPr lang="en-US" sz="2175" dirty="0"/>
          </a:p>
        </p:txBody>
      </p:sp>
      <p:sp>
        <p:nvSpPr>
          <p:cNvPr id="28" name="Shape 26"/>
          <p:cNvSpPr/>
          <p:nvPr/>
        </p:nvSpPr>
        <p:spPr>
          <a:xfrm>
            <a:off x="9296400" y="6753225"/>
            <a:ext cx="7943850" cy="2217241"/>
          </a:xfrm>
          <a:prstGeom prst="rect">
            <a:avLst/>
          </a:prstGeom>
          <a:solidFill>
            <a:srgbClr val="8A3B25"/>
          </a:solidFill>
          <a:ln/>
        </p:spPr>
      </p:sp>
      <p:sp>
        <p:nvSpPr>
          <p:cNvPr id="29" name="Shape 27"/>
          <p:cNvSpPr/>
          <p:nvPr/>
        </p:nvSpPr>
        <p:spPr>
          <a:xfrm>
            <a:off x="9296400" y="6753225"/>
            <a:ext cx="7943850" cy="47625"/>
          </a:xfrm>
          <a:prstGeom prst="rect">
            <a:avLst/>
          </a:prstGeom>
          <a:solidFill>
            <a:srgbClr val="E2A684"/>
          </a:solidFill>
          <a:ln/>
        </p:spPr>
      </p:sp>
      <p:sp>
        <p:nvSpPr>
          <p:cNvPr id="30" name="Text 28"/>
          <p:cNvSpPr/>
          <p:nvPr/>
        </p:nvSpPr>
        <p:spPr>
          <a:xfrm>
            <a:off x="9620250" y="7086600"/>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4CDB4"/>
                </a:solidFill>
                <a:latin typeface="Courier New" pitchFamily="34" charset="0"/>
                <a:ea typeface="Courier New" pitchFamily="34" charset="-122"/>
                <a:cs typeface="Courier New" pitchFamily="34" charset="-120"/>
              </a:rPr>
              <a:t>En qué nos diferenciamos</a:t>
            </a:r>
            <a:endParaRPr lang="en-US" sz="1800" dirty="0"/>
          </a:p>
        </p:txBody>
      </p:sp>
      <p:sp>
        <p:nvSpPr>
          <p:cNvPr id="31" name="Text 29"/>
          <p:cNvSpPr/>
          <p:nvPr/>
        </p:nvSpPr>
        <p:spPr>
          <a:xfrm>
            <a:off x="9620250" y="7524750"/>
            <a:ext cx="7515035" cy="1198066"/>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DF6F1"/>
                </a:solidFill>
                <a:latin typeface="Arial" pitchFamily="34" charset="0"/>
                <a:ea typeface="Arial" pitchFamily="34" charset="-122"/>
                <a:cs typeface="Arial" pitchFamily="34" charset="-120"/>
              </a:rPr>
              <a:t>Sempli presta su balance y asume el riesgo de cartera. Nosotros licenciamos software y cobramos por API call: cero riesgo de crédito directo.</a:t>
            </a:r>
            <a:endParaRPr lang="en-US" sz="217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3EF"/>
        </a:solidFill>
      </p:bgPr>
    </p:bg>
    <p:spTree>
      <p:nvGrpSpPr>
        <p:cNvPr id="1" name=""/>
        <p:cNvGrpSpPr/>
        <p:nvPr/>
      </p:nvGrpSpPr>
      <p:grpSpPr>
        <a:xfrm>
          <a:off x="0" y="0"/>
          <a:ext cx="0" cy="0"/>
          <a:chOff x="0" y="0"/>
          <a:chExt cx="0" cy="0"/>
        </a:xfrm>
      </p:grpSpPr>
      <p:sp>
        <p:nvSpPr>
          <p:cNvPr id="2" name="Shape 0"/>
          <p:cNvSpPr/>
          <p:nvPr/>
        </p:nvSpPr>
        <p:spPr>
          <a:xfrm>
            <a:off x="0" y="0"/>
            <a:ext cx="18288000" cy="2330053"/>
          </a:xfrm>
          <a:prstGeom prst="rect">
            <a:avLst/>
          </a:prstGeom>
          <a:solidFill>
            <a:srgbClr val="14181F"/>
          </a:solidFill>
          <a:ln/>
        </p:spPr>
      </p:sp>
      <p:sp>
        <p:nvSpPr>
          <p:cNvPr id="3" name="Shape 1"/>
          <p:cNvSpPr/>
          <p:nvPr/>
        </p:nvSpPr>
        <p:spPr>
          <a:xfrm>
            <a:off x="0" y="2234803"/>
            <a:ext cx="18288000" cy="95250"/>
          </a:xfrm>
          <a:prstGeom prst="rect">
            <a:avLst/>
          </a:prstGeom>
          <a:solidFill>
            <a:srgbClr val="B5623C"/>
          </a:solidFill>
          <a:ln/>
        </p:spPr>
      </p:sp>
      <p:sp>
        <p:nvSpPr>
          <p:cNvPr id="4" name="Text 2"/>
          <p:cNvSpPr/>
          <p:nvPr/>
        </p:nvSpPr>
        <p:spPr>
          <a:xfrm>
            <a:off x="1047750" y="609600"/>
            <a:ext cx="10943258" cy="342900"/>
          </a:xfrm>
          <a:prstGeom prst="rect">
            <a:avLst/>
          </a:prstGeom>
          <a:noFill/>
          <a:ln/>
        </p:spPr>
        <p:txBody>
          <a:bodyPr wrap="square" lIns="25400" tIns="25400" rIns="25400" bIns="25400" rtlCol="0" anchor="t">
            <a:normAutofit/>
          </a:bodyPr>
          <a:lstStyle/>
          <a:p>
            <a:pPr algn="l" indent="0" marL="0">
              <a:buNone/>
            </a:pPr>
            <a:r>
              <a:rPr lang="en-US" sz="1800" spc="252" kern="0" dirty="0">
                <a:solidFill>
                  <a:srgbClr val="E2A684"/>
                </a:solidFill>
                <a:latin typeface="Courier New" pitchFamily="34" charset="0"/>
                <a:ea typeface="Courier New" pitchFamily="34" charset="-122"/>
                <a:cs typeface="Courier New" pitchFamily="34" charset="-120"/>
              </a:rPr>
              <a:t>COMPETIDOR 05</a:t>
            </a:r>
            <a:endParaRPr lang="en-US" sz="1800" dirty="0"/>
          </a:p>
        </p:txBody>
      </p:sp>
      <p:sp>
        <p:nvSpPr>
          <p:cNvPr id="5" name="Text 3"/>
          <p:cNvSpPr/>
          <p:nvPr/>
        </p:nvSpPr>
        <p:spPr>
          <a:xfrm>
            <a:off x="1047750" y="1085850"/>
            <a:ext cx="10943258" cy="634603"/>
          </a:xfrm>
          <a:prstGeom prst="rect">
            <a:avLst/>
          </a:prstGeom>
          <a:noFill/>
          <a:ln/>
        </p:spPr>
        <p:txBody>
          <a:bodyPr wrap="square" lIns="25400" tIns="25400" rIns="25400" bIns="25400" rtlCol="0" anchor="t">
            <a:normAutofit/>
          </a:bodyPr>
          <a:lstStyle/>
          <a:p>
            <a:pPr algn="l" indent="0" marL="0">
              <a:lnSpc>
                <a:spcPct val="93493"/>
              </a:lnSpc>
              <a:buNone/>
            </a:pPr>
            <a:r>
              <a:rPr lang="en-US" sz="4350" b="1" dirty="0">
                <a:solidFill>
                  <a:srgbClr val="F5F3EF"/>
                </a:solidFill>
                <a:latin typeface="Arial" pitchFamily="34" charset="0"/>
                <a:ea typeface="Arial" pitchFamily="34" charset="-122"/>
                <a:cs typeface="Arial" pitchFamily="34" charset="-120"/>
              </a:rPr>
              <a:t>Addi Financial Services Colombia S.A.S.</a:t>
            </a:r>
            <a:endParaRPr lang="en-US" sz="4350" dirty="0"/>
          </a:p>
        </p:txBody>
      </p:sp>
      <p:sp>
        <p:nvSpPr>
          <p:cNvPr id="6" name="Text 4"/>
          <p:cNvSpPr/>
          <p:nvPr/>
        </p:nvSpPr>
        <p:spPr>
          <a:xfrm>
            <a:off x="13460819" y="825103"/>
            <a:ext cx="3779431" cy="342900"/>
          </a:xfrm>
          <a:prstGeom prst="rect">
            <a:avLst/>
          </a:prstGeom>
          <a:noFill/>
          <a:ln/>
        </p:spPr>
        <p:txBody>
          <a:bodyPr wrap="none" lIns="25400" tIns="25400" rIns="25400" bIns="25400" rtlCol="0" anchor="t">
            <a:normAutofit/>
          </a:bodyPr>
          <a:lstStyle/>
          <a:p>
            <a:pPr algn="r" indent="0" marL="0">
              <a:buNone/>
            </a:pPr>
            <a:r>
              <a:rPr lang="en-US" sz="1800" dirty="0">
                <a:solidFill>
                  <a:srgbClr val="7FA3CA"/>
                </a:solidFill>
                <a:latin typeface="Courier New" pitchFamily="34" charset="0"/>
                <a:ea typeface="Courier New" pitchFamily="34" charset="-122"/>
                <a:cs typeface="Courier New" pitchFamily="34" charset="-120"/>
              </a:rPr>
              <a:t>Ventas anuales</a:t>
            </a:r>
            <a:endParaRPr lang="en-US" sz="1800" dirty="0"/>
          </a:p>
        </p:txBody>
      </p:sp>
      <p:sp>
        <p:nvSpPr>
          <p:cNvPr id="7" name="Text 5"/>
          <p:cNvSpPr/>
          <p:nvPr/>
        </p:nvSpPr>
        <p:spPr>
          <a:xfrm>
            <a:off x="13460819" y="1225153"/>
            <a:ext cx="3779431" cy="495300"/>
          </a:xfrm>
          <a:prstGeom prst="rect">
            <a:avLst/>
          </a:prstGeom>
          <a:noFill/>
          <a:ln/>
        </p:spPr>
        <p:txBody>
          <a:bodyPr wrap="none" lIns="25400" tIns="25400" rIns="25400" bIns="25400" rtlCol="0" anchor="t">
            <a:normAutofit/>
          </a:bodyPr>
          <a:lstStyle/>
          <a:p>
            <a:pPr algn="r" indent="0" marL="0">
              <a:buNone/>
            </a:pPr>
            <a:r>
              <a:rPr lang="en-US" sz="3150" b="1" dirty="0">
                <a:solidFill>
                  <a:srgbClr val="E2A684"/>
                </a:solidFill>
                <a:latin typeface="Arial" pitchFamily="34" charset="0"/>
                <a:ea typeface="Arial" pitchFamily="34" charset="-122"/>
                <a:cs typeface="Arial" pitchFamily="34" charset="-120"/>
              </a:rPr>
              <a:t>&gt; $150.000 M COP</a:t>
            </a:r>
            <a:endParaRPr lang="en-US" sz="3150" dirty="0"/>
          </a:p>
        </p:txBody>
      </p:sp>
      <p:sp>
        <p:nvSpPr>
          <p:cNvPr id="8" name="Shape 6"/>
          <p:cNvSpPr/>
          <p:nvPr/>
        </p:nvSpPr>
        <p:spPr>
          <a:xfrm>
            <a:off x="1047750" y="2825353"/>
            <a:ext cx="7943850" cy="1649611"/>
          </a:xfrm>
          <a:prstGeom prst="rect">
            <a:avLst/>
          </a:prstGeom>
          <a:solidFill>
            <a:srgbClr val="E8E4DC"/>
          </a:solidFill>
          <a:ln/>
        </p:spPr>
      </p:sp>
      <p:sp>
        <p:nvSpPr>
          <p:cNvPr id="9" name="Shape 7"/>
          <p:cNvSpPr/>
          <p:nvPr/>
        </p:nvSpPr>
        <p:spPr>
          <a:xfrm>
            <a:off x="1047750" y="2825353"/>
            <a:ext cx="47625" cy="1649611"/>
          </a:xfrm>
          <a:prstGeom prst="rect">
            <a:avLst/>
          </a:prstGeom>
          <a:solidFill>
            <a:srgbClr val="3D6B9E"/>
          </a:solidFill>
          <a:ln/>
        </p:spPr>
      </p:sp>
      <p:sp>
        <p:nvSpPr>
          <p:cNvPr id="10" name="Text 8"/>
          <p:cNvSpPr/>
          <p:nvPr/>
        </p:nvSpPr>
        <p:spPr>
          <a:xfrm>
            <a:off x="136207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Actividad comercial</a:t>
            </a:r>
            <a:endParaRPr lang="en-US" sz="1800" dirty="0"/>
          </a:p>
        </p:txBody>
      </p:sp>
      <p:sp>
        <p:nvSpPr>
          <p:cNvPr id="11" name="Text 9"/>
          <p:cNvSpPr/>
          <p:nvPr/>
        </p:nvSpPr>
        <p:spPr>
          <a:xfrm>
            <a:off x="1362075" y="3473053"/>
            <a:ext cx="8099108" cy="424755"/>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Fintech de crédito digital al consumo y Buy Now Pay Later.</a:t>
            </a:r>
            <a:endParaRPr lang="en-US" sz="2175" dirty="0"/>
          </a:p>
        </p:txBody>
      </p:sp>
      <p:sp>
        <p:nvSpPr>
          <p:cNvPr id="12" name="Shape 10"/>
          <p:cNvSpPr/>
          <p:nvPr/>
        </p:nvSpPr>
        <p:spPr>
          <a:xfrm>
            <a:off x="9296400" y="2825353"/>
            <a:ext cx="7943850" cy="1649611"/>
          </a:xfrm>
          <a:prstGeom prst="rect">
            <a:avLst/>
          </a:prstGeom>
          <a:solidFill>
            <a:srgbClr val="E8E4DC"/>
          </a:solidFill>
          <a:ln/>
        </p:spPr>
      </p:sp>
      <p:sp>
        <p:nvSpPr>
          <p:cNvPr id="13" name="Shape 11"/>
          <p:cNvSpPr/>
          <p:nvPr/>
        </p:nvSpPr>
        <p:spPr>
          <a:xfrm>
            <a:off x="9296400" y="2825353"/>
            <a:ext cx="47625" cy="1649611"/>
          </a:xfrm>
          <a:prstGeom prst="rect">
            <a:avLst/>
          </a:prstGeom>
          <a:solidFill>
            <a:srgbClr val="3D6B9E"/>
          </a:solidFill>
          <a:ln/>
        </p:spPr>
      </p:sp>
      <p:sp>
        <p:nvSpPr>
          <p:cNvPr id="14" name="Text 12"/>
          <p:cNvSpPr/>
          <p:nvPr/>
        </p:nvSpPr>
        <p:spPr>
          <a:xfrm>
            <a:off x="9610725" y="3053953"/>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Problema que resuelve</a:t>
            </a:r>
            <a:endParaRPr lang="en-US" sz="1800" dirty="0"/>
          </a:p>
        </p:txBody>
      </p:sp>
      <p:sp>
        <p:nvSpPr>
          <p:cNvPr id="15" name="Text 13"/>
          <p:cNvSpPr/>
          <p:nvPr/>
        </p:nvSpPr>
        <p:spPr>
          <a:xfrm>
            <a:off x="9610725" y="3473053"/>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Da crédito instantáneo en el punto de pago físico o virtual, sin tarjeta de crédito tradicional.</a:t>
            </a:r>
            <a:endParaRPr lang="en-US" sz="2175" dirty="0"/>
          </a:p>
        </p:txBody>
      </p:sp>
      <p:sp>
        <p:nvSpPr>
          <p:cNvPr id="16" name="Shape 14"/>
          <p:cNvSpPr/>
          <p:nvPr/>
        </p:nvSpPr>
        <p:spPr>
          <a:xfrm>
            <a:off x="1047750" y="4722614"/>
            <a:ext cx="7943850" cy="1649611"/>
          </a:xfrm>
          <a:prstGeom prst="rect">
            <a:avLst/>
          </a:prstGeom>
          <a:solidFill>
            <a:srgbClr val="E8E4DC"/>
          </a:solidFill>
          <a:ln/>
        </p:spPr>
      </p:sp>
      <p:sp>
        <p:nvSpPr>
          <p:cNvPr id="17" name="Shape 15"/>
          <p:cNvSpPr/>
          <p:nvPr/>
        </p:nvSpPr>
        <p:spPr>
          <a:xfrm>
            <a:off x="1047750" y="4722614"/>
            <a:ext cx="47625" cy="1649611"/>
          </a:xfrm>
          <a:prstGeom prst="rect">
            <a:avLst/>
          </a:prstGeom>
          <a:solidFill>
            <a:srgbClr val="3D6B9E"/>
          </a:solidFill>
          <a:ln/>
        </p:spPr>
      </p:sp>
      <p:sp>
        <p:nvSpPr>
          <p:cNvPr id="18" name="Text 16"/>
          <p:cNvSpPr/>
          <p:nvPr/>
        </p:nvSpPr>
        <p:spPr>
          <a:xfrm>
            <a:off x="1362075" y="4951214"/>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Principal producto</a:t>
            </a:r>
            <a:endParaRPr lang="en-US" sz="1800" dirty="0"/>
          </a:p>
        </p:txBody>
      </p:sp>
      <p:sp>
        <p:nvSpPr>
          <p:cNvPr id="19" name="Text 17"/>
          <p:cNvSpPr/>
          <p:nvPr/>
        </p:nvSpPr>
        <p:spPr>
          <a:xfrm>
            <a:off x="1362075" y="5370314"/>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Crédito Addi / AddiPay: financiamiento de 1 a 24 cuotas en comercios aliados.</a:t>
            </a:r>
            <a:endParaRPr lang="en-US" sz="2175" dirty="0"/>
          </a:p>
        </p:txBody>
      </p:sp>
      <p:sp>
        <p:nvSpPr>
          <p:cNvPr id="20" name="Shape 18"/>
          <p:cNvSpPr/>
          <p:nvPr/>
        </p:nvSpPr>
        <p:spPr>
          <a:xfrm>
            <a:off x="9296400" y="4722614"/>
            <a:ext cx="7943850" cy="1649611"/>
          </a:xfrm>
          <a:prstGeom prst="rect">
            <a:avLst/>
          </a:prstGeom>
          <a:solidFill>
            <a:srgbClr val="E8E4DC"/>
          </a:solidFill>
          <a:ln/>
        </p:spPr>
      </p:sp>
      <p:sp>
        <p:nvSpPr>
          <p:cNvPr id="21" name="Shape 19"/>
          <p:cNvSpPr/>
          <p:nvPr/>
        </p:nvSpPr>
        <p:spPr>
          <a:xfrm>
            <a:off x="9296400" y="4722614"/>
            <a:ext cx="47625" cy="1649611"/>
          </a:xfrm>
          <a:prstGeom prst="rect">
            <a:avLst/>
          </a:prstGeom>
          <a:solidFill>
            <a:srgbClr val="3D6B9E"/>
          </a:solidFill>
          <a:ln/>
        </p:spPr>
      </p:sp>
      <p:sp>
        <p:nvSpPr>
          <p:cNvPr id="22" name="Text 20"/>
          <p:cNvSpPr/>
          <p:nvPr/>
        </p:nvSpPr>
        <p:spPr>
          <a:xfrm>
            <a:off x="9610725" y="4951214"/>
            <a:ext cx="8099108" cy="342900"/>
          </a:xfrm>
          <a:prstGeom prst="rect">
            <a:avLst/>
          </a:prstGeom>
          <a:noFill/>
          <a:ln/>
        </p:spPr>
        <p:txBody>
          <a:bodyPr wrap="square" lIns="25400" tIns="25400" rIns="25400" bIns="25400" rtlCol="0" anchor="t">
            <a:normAutofit/>
          </a:bodyPr>
          <a:lstStyle/>
          <a:p>
            <a:pPr algn="l" indent="0" marL="0">
              <a:buNone/>
            </a:pPr>
            <a:r>
              <a:rPr lang="en-US" sz="1800" dirty="0">
                <a:solidFill>
                  <a:srgbClr val="4A4E55"/>
                </a:solidFill>
                <a:latin typeface="Courier New" pitchFamily="34" charset="0"/>
                <a:ea typeface="Courier New" pitchFamily="34" charset="-122"/>
                <a:cs typeface="Courier New" pitchFamily="34" charset="-120"/>
              </a:rPr>
              <a:t>Ciudades / países</a:t>
            </a:r>
            <a:endParaRPr lang="en-US" sz="1800" dirty="0"/>
          </a:p>
        </p:txBody>
      </p:sp>
      <p:sp>
        <p:nvSpPr>
          <p:cNvPr id="23" name="Text 21"/>
          <p:cNvSpPr/>
          <p:nvPr/>
        </p:nvSpPr>
        <p:spPr>
          <a:xfrm>
            <a:off x="9610725" y="5370314"/>
            <a:ext cx="7583710"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17191D"/>
                </a:solidFill>
                <a:latin typeface="Arial" pitchFamily="34" charset="0"/>
                <a:ea typeface="Arial" pitchFamily="34" charset="-122"/>
                <a:cs typeface="Arial" pitchFamily="34" charset="-120"/>
              </a:rPr>
              <a:t>Colombia y Brasil. Originación anual superior a $1 billón COP.</a:t>
            </a:r>
            <a:endParaRPr lang="en-US" sz="2175" dirty="0"/>
          </a:p>
        </p:txBody>
      </p:sp>
      <p:sp>
        <p:nvSpPr>
          <p:cNvPr id="24" name="Shape 22"/>
          <p:cNvSpPr/>
          <p:nvPr/>
        </p:nvSpPr>
        <p:spPr>
          <a:xfrm>
            <a:off x="1047750" y="6753225"/>
            <a:ext cx="7943850" cy="2217241"/>
          </a:xfrm>
          <a:prstGeom prst="rect">
            <a:avLst/>
          </a:prstGeom>
          <a:solidFill>
            <a:srgbClr val="DFE4EA"/>
          </a:solidFill>
          <a:ln/>
        </p:spPr>
      </p:sp>
      <p:sp>
        <p:nvSpPr>
          <p:cNvPr id="25" name="Shape 23"/>
          <p:cNvSpPr/>
          <p:nvPr/>
        </p:nvSpPr>
        <p:spPr>
          <a:xfrm>
            <a:off x="1047750" y="6753225"/>
            <a:ext cx="7943850" cy="47625"/>
          </a:xfrm>
          <a:prstGeom prst="rect">
            <a:avLst/>
          </a:prstGeom>
          <a:solidFill>
            <a:srgbClr val="3D6B9E"/>
          </a:solidFill>
          <a:ln/>
        </p:spPr>
      </p:sp>
      <p:sp>
        <p:nvSpPr>
          <p:cNvPr id="26" name="Text 24"/>
          <p:cNvSpPr/>
          <p:nvPr/>
        </p:nvSpPr>
        <p:spPr>
          <a:xfrm>
            <a:off x="1371600" y="7086600"/>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2B527C"/>
                </a:solidFill>
                <a:latin typeface="Courier New" pitchFamily="34" charset="0"/>
                <a:ea typeface="Courier New" pitchFamily="34" charset="-122"/>
                <a:cs typeface="Courier New" pitchFamily="34" charset="-120"/>
              </a:rPr>
              <a:t>En qué nos parecemos</a:t>
            </a:r>
            <a:endParaRPr lang="en-US" sz="1800" dirty="0"/>
          </a:p>
        </p:txBody>
      </p:sp>
      <p:sp>
        <p:nvSpPr>
          <p:cNvPr id="27" name="Text 25"/>
          <p:cNvSpPr/>
          <p:nvPr/>
        </p:nvSpPr>
        <p:spPr>
          <a:xfrm>
            <a:off x="1371600" y="7524750"/>
            <a:ext cx="7515035" cy="811411"/>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2C2F35"/>
                </a:solidFill>
                <a:latin typeface="Arial" pitchFamily="34" charset="0"/>
                <a:ea typeface="Arial" pitchFamily="34" charset="-122"/>
                <a:cs typeface="Arial" pitchFamily="34" charset="-120"/>
              </a:rPr>
              <a:t>Ambos aprobamos con pocos datos de entrada y en minutos, con algoritmos de decisión rápida.</a:t>
            </a:r>
            <a:endParaRPr lang="en-US" sz="2175" dirty="0"/>
          </a:p>
        </p:txBody>
      </p:sp>
      <p:sp>
        <p:nvSpPr>
          <p:cNvPr id="28" name="Shape 26"/>
          <p:cNvSpPr/>
          <p:nvPr/>
        </p:nvSpPr>
        <p:spPr>
          <a:xfrm>
            <a:off x="9296400" y="6753225"/>
            <a:ext cx="7943850" cy="2217241"/>
          </a:xfrm>
          <a:prstGeom prst="rect">
            <a:avLst/>
          </a:prstGeom>
          <a:solidFill>
            <a:srgbClr val="8A3B25"/>
          </a:solidFill>
          <a:ln/>
        </p:spPr>
      </p:sp>
      <p:sp>
        <p:nvSpPr>
          <p:cNvPr id="29" name="Shape 27"/>
          <p:cNvSpPr/>
          <p:nvPr/>
        </p:nvSpPr>
        <p:spPr>
          <a:xfrm>
            <a:off x="9296400" y="6753225"/>
            <a:ext cx="7943850" cy="47625"/>
          </a:xfrm>
          <a:prstGeom prst="rect">
            <a:avLst/>
          </a:prstGeom>
          <a:solidFill>
            <a:srgbClr val="E2A684"/>
          </a:solidFill>
          <a:ln/>
        </p:spPr>
      </p:sp>
      <p:sp>
        <p:nvSpPr>
          <p:cNvPr id="30" name="Text 28"/>
          <p:cNvSpPr/>
          <p:nvPr/>
        </p:nvSpPr>
        <p:spPr>
          <a:xfrm>
            <a:off x="9620250" y="7086600"/>
            <a:ext cx="8025765" cy="342900"/>
          </a:xfrm>
          <a:prstGeom prst="rect">
            <a:avLst/>
          </a:prstGeom>
          <a:noFill/>
          <a:ln/>
        </p:spPr>
        <p:txBody>
          <a:bodyPr wrap="square" lIns="25400" tIns="25400" rIns="25400" bIns="25400" rtlCol="0" anchor="t">
            <a:normAutofit/>
          </a:bodyPr>
          <a:lstStyle/>
          <a:p>
            <a:pPr algn="l" indent="0" marL="0">
              <a:buNone/>
            </a:pPr>
            <a:r>
              <a:rPr lang="en-US" sz="1800" dirty="0">
                <a:solidFill>
                  <a:srgbClr val="F4CDB4"/>
                </a:solidFill>
                <a:latin typeface="Courier New" pitchFamily="34" charset="0"/>
                <a:ea typeface="Courier New" pitchFamily="34" charset="-122"/>
                <a:cs typeface="Courier New" pitchFamily="34" charset="-120"/>
              </a:rPr>
              <a:t>En qué nos diferenciamos</a:t>
            </a:r>
            <a:endParaRPr lang="en-US" sz="1800" dirty="0"/>
          </a:p>
        </p:txBody>
      </p:sp>
      <p:sp>
        <p:nvSpPr>
          <p:cNvPr id="31" name="Text 29"/>
          <p:cNvSpPr/>
          <p:nvPr/>
        </p:nvSpPr>
        <p:spPr>
          <a:xfrm>
            <a:off x="9620250" y="7524750"/>
            <a:ext cx="7515035" cy="1198066"/>
          </a:xfrm>
          <a:prstGeom prst="rect">
            <a:avLst/>
          </a:prstGeom>
          <a:noFill/>
          <a:ln/>
        </p:spPr>
        <p:txBody>
          <a:bodyPr wrap="square" lIns="25400" tIns="25400" rIns="25400" bIns="25400" rtlCol="0" anchor="t">
            <a:normAutofit/>
          </a:bodyPr>
          <a:lstStyle/>
          <a:p>
            <a:pPr algn="l" indent="0" marL="0">
              <a:lnSpc>
                <a:spcPct val="123030"/>
              </a:lnSpc>
              <a:buNone/>
            </a:pPr>
            <a:r>
              <a:rPr lang="en-US" sz="2175" dirty="0">
                <a:solidFill>
                  <a:srgbClr val="FDF6F1"/>
                </a:solidFill>
                <a:latin typeface="Arial" pitchFamily="34" charset="0"/>
                <a:ea typeface="Arial" pitchFamily="34" charset="-122"/>
                <a:cs typeface="Arial" pitchFamily="34" charset="-120"/>
              </a:rPr>
              <a:t>Addi financia consumo minorista de montos bajos. Nosotros evaluamos la actividad generadora de ingresos para crédito productivo estructurado.</a:t>
            </a:r>
            <a:endParaRPr lang="en-US" sz="217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1047750" y="952500"/>
            <a:ext cx="10079355" cy="361950"/>
          </a:xfrm>
          <a:prstGeom prst="rect">
            <a:avLst/>
          </a:prstGeom>
          <a:noFill/>
          <a:ln/>
        </p:spPr>
        <p:txBody>
          <a:bodyPr wrap="square" lIns="25400" tIns="25400" rIns="25400" bIns="25400" rtlCol="0" anchor="t">
            <a:normAutofit/>
          </a:bodyPr>
          <a:lstStyle/>
          <a:p>
            <a:pPr algn="l" indent="0" marL="0">
              <a:buNone/>
            </a:pPr>
            <a:r>
              <a:rPr lang="en-US" sz="1950" spc="312" kern="0" dirty="0">
                <a:solidFill>
                  <a:srgbClr val="7FA3CA"/>
                </a:solidFill>
                <a:latin typeface="Courier New" pitchFamily="34" charset="0"/>
                <a:ea typeface="Courier New" pitchFamily="34" charset="-122"/>
                <a:cs typeface="Courier New" pitchFamily="34" charset="-120"/>
              </a:rPr>
              <a:t>CIERRE</a:t>
            </a:r>
            <a:endParaRPr lang="en-US" sz="1950" dirty="0"/>
          </a:p>
        </p:txBody>
      </p:sp>
      <p:sp>
        <p:nvSpPr>
          <p:cNvPr id="3" name="Text 1"/>
          <p:cNvSpPr/>
          <p:nvPr/>
        </p:nvSpPr>
        <p:spPr>
          <a:xfrm>
            <a:off x="1047750" y="2273201"/>
            <a:ext cx="9437942" cy="1379041"/>
          </a:xfrm>
          <a:prstGeom prst="rect">
            <a:avLst/>
          </a:prstGeom>
          <a:noFill/>
          <a:ln/>
        </p:spPr>
        <p:txBody>
          <a:bodyPr wrap="square" lIns="25400" tIns="25400" rIns="25400" bIns="25400" rtlCol="0" anchor="t">
            <a:normAutofit/>
          </a:bodyPr>
          <a:lstStyle/>
          <a:p>
            <a:pPr algn="l" indent="0" marL="0">
              <a:lnSpc>
                <a:spcPct val="95135"/>
              </a:lnSpc>
              <a:buNone/>
            </a:pPr>
            <a:r>
              <a:rPr lang="en-US" sz="4800" b="1" dirty="0">
                <a:solidFill>
                  <a:srgbClr val="F5F3EF"/>
                </a:solidFill>
                <a:latin typeface="Arial" pitchFamily="34" charset="0"/>
                <a:ea typeface="Arial" pitchFamily="34" charset="-122"/>
                <a:cs typeface="Arial" pitchFamily="34" charset="-120"/>
              </a:rPr>
              <a:t>Volvamos a la solicitud de 40 segundos</a:t>
            </a:r>
            <a:endParaRPr lang="en-US" sz="4800" dirty="0"/>
          </a:p>
        </p:txBody>
      </p:sp>
      <p:sp>
        <p:nvSpPr>
          <p:cNvPr id="4" name="Text 2"/>
          <p:cNvSpPr/>
          <p:nvPr/>
        </p:nvSpPr>
        <p:spPr>
          <a:xfrm>
            <a:off x="1047750" y="3937992"/>
            <a:ext cx="8829675" cy="1363712"/>
          </a:xfrm>
          <a:prstGeom prst="rect">
            <a:avLst/>
          </a:prstGeom>
          <a:noFill/>
          <a:ln/>
        </p:spPr>
        <p:txBody>
          <a:bodyPr wrap="square" lIns="25400" tIns="25400" rIns="25400" bIns="25400" rtlCol="0" anchor="t">
            <a:normAutofit/>
          </a:bodyPr>
          <a:lstStyle/>
          <a:p>
            <a:pPr algn="l" indent="0" marL="0">
              <a:lnSpc>
                <a:spcPct val="125405"/>
              </a:lnSpc>
              <a:buNone/>
            </a:pPr>
            <a:r>
              <a:rPr lang="en-US" sz="2400" dirty="0">
                <a:solidFill>
                  <a:srgbClr val="C9CDD4"/>
                </a:solidFill>
                <a:latin typeface="Arial" pitchFamily="34" charset="0"/>
                <a:ea typeface="Arial" pitchFamily="34" charset="-122"/>
                <a:cs typeface="Arial" pitchFamily="34" charset="-120"/>
              </a:rPr>
              <a:t>Los mismos 14 meses de datos, leídos con inferencia causal y explicabilidad, producen una decisión que un comité puede defender ante la Superintendencia.</a:t>
            </a:r>
            <a:endParaRPr lang="en-US" sz="2400" dirty="0"/>
          </a:p>
        </p:txBody>
      </p:sp>
      <p:sp>
        <p:nvSpPr>
          <p:cNvPr id="5" name="Shape 3"/>
          <p:cNvSpPr/>
          <p:nvPr/>
        </p:nvSpPr>
        <p:spPr>
          <a:xfrm>
            <a:off x="1047750" y="5587454"/>
            <a:ext cx="4371975" cy="28575"/>
          </a:xfrm>
          <a:prstGeom prst="rect">
            <a:avLst/>
          </a:prstGeom>
          <a:solidFill>
            <a:srgbClr val="2C3340"/>
          </a:solidFill>
          <a:ln/>
        </p:spPr>
      </p:sp>
      <p:sp>
        <p:nvSpPr>
          <p:cNvPr id="6" name="Text 4"/>
          <p:cNvSpPr/>
          <p:nvPr/>
        </p:nvSpPr>
        <p:spPr>
          <a:xfrm>
            <a:off x="1047750" y="5806529"/>
            <a:ext cx="4503134"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C9CDD4"/>
                </a:solidFill>
                <a:latin typeface="Arial" pitchFamily="34" charset="0"/>
                <a:ea typeface="Arial" pitchFamily="34" charset="-122"/>
                <a:cs typeface="Arial" pitchFamily="34" charset="-120"/>
              </a:rPr>
              <a:t>Cumple los cuatro criterios de relevancia del problema.</a:t>
            </a:r>
            <a:endParaRPr lang="en-US" sz="2100" dirty="0"/>
          </a:p>
        </p:txBody>
      </p:sp>
      <p:sp>
        <p:nvSpPr>
          <p:cNvPr id="7" name="Shape 5"/>
          <p:cNvSpPr/>
          <p:nvPr/>
        </p:nvSpPr>
        <p:spPr>
          <a:xfrm>
            <a:off x="5838825" y="5587454"/>
            <a:ext cx="4371975" cy="28575"/>
          </a:xfrm>
          <a:prstGeom prst="rect">
            <a:avLst/>
          </a:prstGeom>
          <a:solidFill>
            <a:srgbClr val="2C3340"/>
          </a:solidFill>
          <a:ln/>
        </p:spPr>
      </p:sp>
      <p:sp>
        <p:nvSpPr>
          <p:cNvPr id="8" name="Text 6"/>
          <p:cNvSpPr/>
          <p:nvPr/>
        </p:nvSpPr>
        <p:spPr>
          <a:xfrm>
            <a:off x="5838825" y="5806529"/>
            <a:ext cx="4503134"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C9CDD4"/>
                </a:solidFill>
                <a:latin typeface="Arial" pitchFamily="34" charset="0"/>
                <a:ea typeface="Arial" pitchFamily="34" charset="-122"/>
                <a:cs typeface="Arial" pitchFamily="34" charset="-120"/>
              </a:rPr>
              <a:t>El diagnóstico exige una solución algorítmica y auditable a la vez.</a:t>
            </a:r>
            <a:endParaRPr lang="en-US" sz="2100" dirty="0"/>
          </a:p>
        </p:txBody>
      </p:sp>
      <p:sp>
        <p:nvSpPr>
          <p:cNvPr id="9" name="Shape 7"/>
          <p:cNvSpPr/>
          <p:nvPr/>
        </p:nvSpPr>
        <p:spPr>
          <a:xfrm>
            <a:off x="1047750" y="6876901"/>
            <a:ext cx="4371975" cy="28575"/>
          </a:xfrm>
          <a:prstGeom prst="rect">
            <a:avLst/>
          </a:prstGeom>
          <a:solidFill>
            <a:srgbClr val="2C3340"/>
          </a:solidFill>
          <a:ln/>
        </p:spPr>
      </p:sp>
      <p:sp>
        <p:nvSpPr>
          <p:cNvPr id="10" name="Text 8"/>
          <p:cNvSpPr/>
          <p:nvPr/>
        </p:nvSpPr>
        <p:spPr>
          <a:xfrm>
            <a:off x="1047750" y="7095976"/>
            <a:ext cx="4503134"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C9CDD4"/>
                </a:solidFill>
                <a:latin typeface="Arial" pitchFamily="34" charset="0"/>
                <a:ea typeface="Arial" pitchFamily="34" charset="-122"/>
                <a:cs typeface="Arial" pitchFamily="34" charset="-120"/>
              </a:rPr>
              <a:t>Rivalidad media-alta en los bordes, nula en el núcleo.</a:t>
            </a:r>
            <a:endParaRPr lang="en-US" sz="2100" dirty="0"/>
          </a:p>
        </p:txBody>
      </p:sp>
      <p:sp>
        <p:nvSpPr>
          <p:cNvPr id="11" name="Shape 9"/>
          <p:cNvSpPr/>
          <p:nvPr/>
        </p:nvSpPr>
        <p:spPr>
          <a:xfrm>
            <a:off x="5838825" y="6876901"/>
            <a:ext cx="4371975" cy="28575"/>
          </a:xfrm>
          <a:prstGeom prst="rect">
            <a:avLst/>
          </a:prstGeom>
          <a:solidFill>
            <a:srgbClr val="2C3340"/>
          </a:solidFill>
          <a:ln/>
        </p:spPr>
      </p:sp>
      <p:sp>
        <p:nvSpPr>
          <p:cNvPr id="12" name="Text 10"/>
          <p:cNvSpPr/>
          <p:nvPr/>
        </p:nvSpPr>
        <p:spPr>
          <a:xfrm>
            <a:off x="5838825" y="7095976"/>
            <a:ext cx="4503134" cy="784622"/>
          </a:xfrm>
          <a:prstGeom prst="rect">
            <a:avLst/>
          </a:prstGeom>
          <a:noFill/>
          <a:ln/>
        </p:spPr>
        <p:txBody>
          <a:bodyPr wrap="square" lIns="25400" tIns="25400" rIns="25400" bIns="25400" rtlCol="0" anchor="t">
            <a:normAutofit/>
          </a:bodyPr>
          <a:lstStyle/>
          <a:p>
            <a:pPr algn="l" indent="0" marL="0">
              <a:lnSpc>
                <a:spcPct val="122500"/>
              </a:lnSpc>
              <a:buNone/>
            </a:pPr>
            <a:r>
              <a:rPr lang="en-US" sz="2100" dirty="0">
                <a:solidFill>
                  <a:srgbClr val="C9CDD4"/>
                </a:solidFill>
                <a:latin typeface="Arial" pitchFamily="34" charset="0"/>
                <a:ea typeface="Arial" pitchFamily="34" charset="-122"/>
                <a:cs typeface="Arial" pitchFamily="34" charset="-120"/>
              </a:rPr>
              <a:t>Siguiente paso: validación con expertos y matriz de experimentos.</a:t>
            </a:r>
            <a:endParaRPr lang="en-US" sz="2100" dirty="0"/>
          </a:p>
        </p:txBody>
      </p:sp>
      <p:sp>
        <p:nvSpPr>
          <p:cNvPr id="13" name="Shape 11"/>
          <p:cNvSpPr/>
          <p:nvPr/>
        </p:nvSpPr>
        <p:spPr>
          <a:xfrm>
            <a:off x="1047750" y="8839200"/>
            <a:ext cx="9163050" cy="19050"/>
          </a:xfrm>
          <a:prstGeom prst="rect">
            <a:avLst/>
          </a:prstGeom>
          <a:solidFill>
            <a:srgbClr val="2C3340"/>
          </a:solidFill>
          <a:ln/>
        </p:spPr>
      </p:sp>
      <p:sp>
        <p:nvSpPr>
          <p:cNvPr id="14" name="Text 12"/>
          <p:cNvSpPr/>
          <p:nvPr/>
        </p:nvSpPr>
        <p:spPr>
          <a:xfrm>
            <a:off x="1047750" y="9124950"/>
            <a:ext cx="9437942" cy="342900"/>
          </a:xfrm>
          <a:prstGeom prst="rect">
            <a:avLst/>
          </a:prstGeom>
          <a:noFill/>
          <a:ln/>
        </p:spPr>
        <p:txBody>
          <a:bodyPr wrap="square" lIns="25400" tIns="25400" rIns="25400" bIns="25400" rtlCol="0" anchor="t">
            <a:normAutofit/>
          </a:bodyPr>
          <a:lstStyle/>
          <a:p>
            <a:pPr algn="l" indent="0" marL="0">
              <a:buNone/>
            </a:pPr>
            <a:r>
              <a:rPr lang="en-US" sz="1800" dirty="0">
                <a:solidFill>
                  <a:srgbClr val="7C828C"/>
                </a:solidFill>
                <a:latin typeface="Courier New" pitchFamily="34" charset="0"/>
                <a:ea typeface="Courier New" pitchFamily="34" charset="-122"/>
                <a:cs typeface="Courier New" pitchFamily="34" charset="-120"/>
              </a:rPr>
              <a:t>Grupo 5 · StatCredit AI · Universidad Externado de Colombia</a:t>
            </a:r>
            <a:endParaRPr lang="en-US" sz="1800" dirty="0"/>
          </a:p>
        </p:txBody>
      </p:sp>
      <p:sp>
        <p:nvSpPr>
          <p:cNvPr id="15" name="Shape 13"/>
          <p:cNvSpPr/>
          <p:nvPr/>
        </p:nvSpPr>
        <p:spPr>
          <a:xfrm>
            <a:off x="10972800" y="0"/>
            <a:ext cx="7315200" cy="10287000"/>
          </a:xfrm>
          <a:prstGeom prst="rect">
            <a:avLst/>
          </a:prstGeom>
          <a:solidFill>
            <a:srgbClr val="7F7F7F">
              <a:alpha val="8000"/>
            </a:srgbClr>
          </a:solidFill>
          <a:ln/>
        </p:spPr>
      </p:sp>
      <p:pic>
        <p:nvPicPr>
          <p:cNvPr id="16" name="Image 0" descr="preencoded.png">    </p:cNvPr>
          <p:cNvPicPr>
            <a:picLocks noChangeAspect="1"/>
          </p:cNvPicPr>
          <p:nvPr/>
        </p:nvPicPr>
        <p:blipFill>
          <a:blip r:embed="rId1"/>
          <a:srcRect l="0" r="0" t="3125" b="3125"/>
          <a:stretch/>
        </p:blipFill>
        <p:spPr>
          <a:xfrm>
            <a:off x="10972800" y="0"/>
            <a:ext cx="7315200" cy="10287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2026-09-18T07:06:23Z</dcterms:created>
  <dcterms:modified xsi:type="dcterms:W3CDTF">2026-09-18T07:06:23Z</dcterms:modified>
</cp:coreProperties>
</file>